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0" r:id="rId3"/>
    <p:sldId id="271" r:id="rId4"/>
    <p:sldId id="257" r:id="rId5"/>
    <p:sldId id="272" r:id="rId6"/>
    <p:sldId id="258" r:id="rId7"/>
    <p:sldId id="259" r:id="rId8"/>
    <p:sldId id="260" r:id="rId9"/>
    <p:sldId id="261" r:id="rId10"/>
    <p:sldId id="262" r:id="rId11"/>
    <p:sldId id="273" r:id="rId12"/>
    <p:sldId id="263" r:id="rId13"/>
    <p:sldId id="264" r:id="rId14"/>
    <p:sldId id="268" r:id="rId15"/>
    <p:sldId id="269" r:id="rId16"/>
    <p:sldId id="274" r:id="rId17"/>
    <p:sldId id="265" r:id="rId18"/>
    <p:sldId id="266" r:id="rId19"/>
    <p:sldId id="267" r:id="rId20"/>
  </p:sldIdLst>
  <p:sldSz cx="12192000" cy="6858000"/>
  <p:notesSz cx="6858000" cy="12192000"/>
  <p:embeddedFontLst>
    <p:embeddedFont>
      <p:font typeface="MiSans" panose="02010600030101010101" charset="-122"/>
      <p:regular r:id="rId22"/>
    </p:embeddedFont>
    <p:embeddedFont>
      <p:font typeface="Liter" panose="02010600030101010101" charset="0"/>
      <p:regular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8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本项目围绕图书馆借阅管理场景展开，采用前后端分离架构，实现了图书管理、借阅归还、预约排队、公告通知、评论收藏、罚款管理和统计分析等核心功能。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C099-73B0-A8B8-BA96-ED9ACDE3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B18BC4-9618-C749-C59D-2AEF83B520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E0DEF-E0C5-2E57-8FB4-738990BF7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78D46-9538-528B-D405-7EB279BD7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822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6E559-2D88-F985-9E66-033477C0D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3B95EC-4C9F-71FD-6238-BA4062D99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77E8E-F6D8-8AB2-019E-A5304187D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1323F-360C-C53A-8BBC-F694199E1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6E50-A01F-4504-5528-18825AFB8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074182-BF2B-4736-6C23-2D833F91E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EFBF8F-2BA9-2A08-773D-6E5689508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D5EDC-D76A-C8A1-0319-983BBF96A2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01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6429F-D793-254C-F45B-77F398284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17BF5-E3EC-CF51-DC4A-38049A629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A3381A-DCA7-CB57-CFA0-3454FEE7E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981B4-08BE-9C55-7CB2-521A5B5B0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749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8FC1A-1964-D46F-27AC-102278D8E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34F6B-6265-AA7E-B65B-A5FEA8BDDB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0B2D4-91E1-69B8-9F14-7998F7905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B99E0-D7C2-4332-25F1-EBE36E29A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889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B3DB4-4439-BFD3-F962-C258C2B0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EF401-F073-5E8F-E2A9-AC15284170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C3334-1984-E0CE-C796-58120F9FF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66398-CBDC-0E2A-C7FE-F055A76BDB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33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A4F2A-E7A7-22E2-7D3A-33B6182C8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BB51D-1826-9DFD-8D16-5D125C491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F56EA-C797-AF63-9132-144CE511A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4C3C5-011E-0BD1-650F-69AF92349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31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10b2508a8e14e0e5416896642eca4cb92067dad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501" r="1450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85000"/>
                </a:srgbClr>
              </a:gs>
              <a:gs pos="100000">
                <a:srgbClr val="16A085">
                  <a:alpha val="7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Shape 1"/>
          <p:cNvSpPr/>
          <p:nvPr/>
        </p:nvSpPr>
        <p:spPr>
          <a:xfrm>
            <a:off x="384810" y="1586865"/>
            <a:ext cx="1588770" cy="388620"/>
          </a:xfrm>
          <a:prstGeom prst="roundRect">
            <a:avLst>
              <a:gd name="adj" fmla="val 19608"/>
            </a:avLst>
          </a:prstGeom>
          <a:solidFill>
            <a:srgbClr val="16A085">
              <a:alpha val="20000"/>
            </a:srgbClr>
          </a:solidFill>
          <a:ln w="1016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674495"/>
            <a:ext cx="1356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本科毕业设计答辩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207895"/>
            <a:ext cx="7905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智慧图书馆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789045"/>
            <a:ext cx="779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的设计与实现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398645"/>
            <a:ext cx="1219200" cy="38100"/>
          </a:xfrm>
          <a:prstGeom prst="roundRect">
            <a:avLst>
              <a:gd name="adj" fmla="val 0"/>
            </a:avLst>
          </a:prstGeom>
          <a:solidFill>
            <a:srgbClr val="E67E22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741545"/>
            <a:ext cx="773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kern="0" spc="45" dirty="0">
                <a:solidFill>
                  <a:srgbClr val="ECF0F1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Library Management System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035528" y="42767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97187" y="83046"/>
                  <a:pt x="115193" y="65040"/>
                  <a:pt x="115193" y="42863"/>
                </a:cubicBezTo>
                <a:cubicBezTo>
                  <a:pt x="115193" y="20685"/>
                  <a:pt x="97187" y="2679"/>
                  <a:pt x="75009" y="2679"/>
                </a:cubicBezTo>
                <a:cubicBezTo>
                  <a:pt x="52831" y="2679"/>
                  <a:pt x="34826" y="20685"/>
                  <a:pt x="34826" y="42863"/>
                </a:cubicBezTo>
                <a:cubicBezTo>
                  <a:pt x="34826" y="65040"/>
                  <a:pt x="52831" y="83046"/>
                  <a:pt x="75009" y="83046"/>
                </a:cubicBezTo>
                <a:close/>
                <a:moveTo>
                  <a:pt x="65064" y="101798"/>
                </a:moveTo>
                <a:cubicBezTo>
                  <a:pt x="32080" y="101798"/>
                  <a:pt x="5358" y="128521"/>
                  <a:pt x="5358" y="161505"/>
                </a:cubicBezTo>
                <a:cubicBezTo>
                  <a:pt x="5358" y="166996"/>
                  <a:pt x="9811" y="171450"/>
                  <a:pt x="15303" y="171450"/>
                </a:cubicBezTo>
                <a:lnTo>
                  <a:pt x="134715" y="171450"/>
                </a:lnTo>
                <a:cubicBezTo>
                  <a:pt x="140207" y="171450"/>
                  <a:pt x="144661" y="166996"/>
                  <a:pt x="144661" y="161505"/>
                </a:cubicBezTo>
                <a:cubicBezTo>
                  <a:pt x="144661" y="128521"/>
                  <a:pt x="117939" y="101798"/>
                  <a:pt x="84955" y="101798"/>
                </a:cubicBezTo>
                <a:lnTo>
                  <a:pt x="65064" y="101798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1" name="Text 8"/>
          <p:cNvSpPr/>
          <p:nvPr/>
        </p:nvSpPr>
        <p:spPr>
          <a:xfrm>
            <a:off x="8329613" y="4251960"/>
            <a:ext cx="109930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答辩人</a:t>
            </a:r>
            <a:r>
              <a:rPr lang="zh-CN" altLang="en-US" sz="1350" dirty="0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969812" y="4251960"/>
            <a:ext cx="7071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曾海军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014097" y="469582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0" y="32147"/>
                </a:moveTo>
                <a:cubicBezTo>
                  <a:pt x="0" y="20326"/>
                  <a:pt x="9611" y="10716"/>
                  <a:pt x="21431" y="10716"/>
                </a:cubicBezTo>
                <a:lnTo>
                  <a:pt x="171450" y="10716"/>
                </a:lnTo>
                <a:cubicBezTo>
                  <a:pt x="183271" y="10716"/>
                  <a:pt x="192881" y="20326"/>
                  <a:pt x="192881" y="32147"/>
                </a:cubicBezTo>
                <a:lnTo>
                  <a:pt x="0" y="32147"/>
                </a:lnTo>
                <a:close/>
                <a:moveTo>
                  <a:pt x="0" y="48220"/>
                </a:moveTo>
                <a:lnTo>
                  <a:pt x="192881" y="48220"/>
                </a:lnTo>
                <a:lnTo>
                  <a:pt x="192881" y="139303"/>
                </a:lnTo>
                <a:cubicBezTo>
                  <a:pt x="192881" y="151124"/>
                  <a:pt x="183271" y="160734"/>
                  <a:pt x="171450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8220"/>
                </a:lnTo>
                <a:close/>
                <a:moveTo>
                  <a:pt x="82812" y="139303"/>
                </a:moveTo>
                <a:cubicBezTo>
                  <a:pt x="89576" y="139303"/>
                  <a:pt x="94632" y="132807"/>
                  <a:pt x="90313" y="127583"/>
                </a:cubicBezTo>
                <a:cubicBezTo>
                  <a:pt x="85390" y="121656"/>
                  <a:pt x="77956" y="117872"/>
                  <a:pt x="69652" y="117872"/>
                </a:cubicBezTo>
                <a:lnTo>
                  <a:pt x="48220" y="117872"/>
                </a:lnTo>
                <a:cubicBezTo>
                  <a:pt x="39916" y="117872"/>
                  <a:pt x="32482" y="121656"/>
                  <a:pt x="27559" y="127583"/>
                </a:cubicBezTo>
                <a:cubicBezTo>
                  <a:pt x="23240" y="132807"/>
                  <a:pt x="28296" y="139303"/>
                  <a:pt x="35060" y="139303"/>
                </a:cubicBezTo>
                <a:lnTo>
                  <a:pt x="82778" y="139303"/>
                </a:lnTo>
                <a:close/>
                <a:moveTo>
                  <a:pt x="58936" y="104477"/>
                </a:moveTo>
                <a:cubicBezTo>
                  <a:pt x="69286" y="104477"/>
                  <a:pt x="77688" y="96075"/>
                  <a:pt x="77688" y="85725"/>
                </a:cubicBezTo>
                <a:cubicBezTo>
                  <a:pt x="77688" y="75375"/>
                  <a:pt x="69286" y="66973"/>
                  <a:pt x="58936" y="66973"/>
                </a:cubicBezTo>
                <a:cubicBezTo>
                  <a:pt x="48586" y="66973"/>
                  <a:pt x="40184" y="75375"/>
                  <a:pt x="40184" y="85725"/>
                </a:cubicBezTo>
                <a:cubicBezTo>
                  <a:pt x="40184" y="96075"/>
                  <a:pt x="48586" y="104477"/>
                  <a:pt x="58936" y="104477"/>
                </a:cubicBezTo>
                <a:close/>
                <a:moveTo>
                  <a:pt x="120551" y="69652"/>
                </a:moveTo>
                <a:cubicBezTo>
                  <a:pt x="116097" y="69652"/>
                  <a:pt x="112514" y="73235"/>
                  <a:pt x="112514" y="77688"/>
                </a:cubicBezTo>
                <a:cubicBezTo>
                  <a:pt x="112514" y="82142"/>
                  <a:pt x="116097" y="85725"/>
                  <a:pt x="120551" y="85725"/>
                </a:cubicBezTo>
                <a:lnTo>
                  <a:pt x="158055" y="85725"/>
                </a:lnTo>
                <a:cubicBezTo>
                  <a:pt x="162509" y="85725"/>
                  <a:pt x="166092" y="82142"/>
                  <a:pt x="166092" y="77688"/>
                </a:cubicBezTo>
                <a:cubicBezTo>
                  <a:pt x="166092" y="73235"/>
                  <a:pt x="162509" y="69652"/>
                  <a:pt x="158055" y="69652"/>
                </a:cubicBezTo>
                <a:lnTo>
                  <a:pt x="120551" y="69652"/>
                </a:lnTo>
                <a:close/>
                <a:moveTo>
                  <a:pt x="120551" y="101798"/>
                </a:moveTo>
                <a:cubicBezTo>
                  <a:pt x="116097" y="101798"/>
                  <a:pt x="112514" y="105381"/>
                  <a:pt x="112514" y="109835"/>
                </a:cubicBezTo>
                <a:cubicBezTo>
                  <a:pt x="112514" y="114289"/>
                  <a:pt x="116097" y="117872"/>
                  <a:pt x="120551" y="117872"/>
                </a:cubicBezTo>
                <a:lnTo>
                  <a:pt x="158055" y="117872"/>
                </a:lnTo>
                <a:cubicBezTo>
                  <a:pt x="162509" y="117872"/>
                  <a:pt x="166092" y="114289"/>
                  <a:pt x="166092" y="109835"/>
                </a:cubicBezTo>
                <a:cubicBezTo>
                  <a:pt x="166092" y="105381"/>
                  <a:pt x="162509" y="101798"/>
                  <a:pt x="158055" y="101798"/>
                </a:cubicBezTo>
                <a:lnTo>
                  <a:pt x="120551" y="101798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4" name="Text 11"/>
          <p:cNvSpPr/>
          <p:nvPr/>
        </p:nvSpPr>
        <p:spPr>
          <a:xfrm>
            <a:off x="8329613" y="4671060"/>
            <a:ext cx="64019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学号</a:t>
            </a:r>
            <a:r>
              <a:rPr lang="zh-CN" altLang="en-US" sz="1350" dirty="0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798361" y="4671060"/>
            <a:ext cx="165732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2022051614021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03381" y="5114925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2863" y="32147"/>
                </a:moveTo>
                <a:cubicBezTo>
                  <a:pt x="42863" y="20326"/>
                  <a:pt x="52473" y="10716"/>
                  <a:pt x="64294" y="10716"/>
                </a:cubicBezTo>
                <a:lnTo>
                  <a:pt x="182166" y="10716"/>
                </a:lnTo>
                <a:cubicBezTo>
                  <a:pt x="193986" y="10716"/>
                  <a:pt x="203597" y="20326"/>
                  <a:pt x="203597" y="32147"/>
                </a:cubicBezTo>
                <a:lnTo>
                  <a:pt x="203597" y="112514"/>
                </a:lnTo>
                <a:lnTo>
                  <a:pt x="171450" y="112514"/>
                </a:lnTo>
                <a:lnTo>
                  <a:pt x="171450" y="107156"/>
                </a:lnTo>
                <a:cubicBezTo>
                  <a:pt x="171450" y="101229"/>
                  <a:pt x="166661" y="96441"/>
                  <a:pt x="160734" y="96441"/>
                </a:cubicBezTo>
                <a:lnTo>
                  <a:pt x="139303" y="96441"/>
                </a:lnTo>
                <a:cubicBezTo>
                  <a:pt x="133376" y="96441"/>
                  <a:pt x="128588" y="101229"/>
                  <a:pt x="128588" y="107156"/>
                </a:cubicBezTo>
                <a:lnTo>
                  <a:pt x="128588" y="112514"/>
                </a:lnTo>
                <a:lnTo>
                  <a:pt x="85357" y="112514"/>
                </a:lnTo>
                <a:cubicBezTo>
                  <a:pt x="89007" y="106219"/>
                  <a:pt x="91083" y="98885"/>
                  <a:pt x="91083" y="91083"/>
                </a:cubicBezTo>
                <a:cubicBezTo>
                  <a:pt x="91083" y="67408"/>
                  <a:pt x="71895" y="48220"/>
                  <a:pt x="48220" y="48220"/>
                </a:cubicBezTo>
                <a:cubicBezTo>
                  <a:pt x="46412" y="48220"/>
                  <a:pt x="44604" y="48321"/>
                  <a:pt x="42863" y="48555"/>
                </a:cubicBezTo>
                <a:lnTo>
                  <a:pt x="42863" y="32147"/>
                </a:lnTo>
                <a:close/>
                <a:moveTo>
                  <a:pt x="111509" y="150019"/>
                </a:moveTo>
                <a:cubicBezTo>
                  <a:pt x="109802" y="141915"/>
                  <a:pt x="106051" y="134582"/>
                  <a:pt x="100760" y="128588"/>
                </a:cubicBezTo>
                <a:lnTo>
                  <a:pt x="203597" y="128588"/>
                </a:lnTo>
                <a:cubicBezTo>
                  <a:pt x="203597" y="140408"/>
                  <a:pt x="193986" y="150019"/>
                  <a:pt x="182166" y="150019"/>
                </a:cubicBezTo>
                <a:lnTo>
                  <a:pt x="111509" y="150019"/>
                </a:lnTo>
                <a:close/>
                <a:moveTo>
                  <a:pt x="21431" y="91083"/>
                </a:moveTo>
                <a:cubicBezTo>
                  <a:pt x="21431" y="76298"/>
                  <a:pt x="33435" y="64294"/>
                  <a:pt x="48220" y="64294"/>
                </a:cubicBezTo>
                <a:cubicBezTo>
                  <a:pt x="63006" y="64294"/>
                  <a:pt x="75009" y="76298"/>
                  <a:pt x="75009" y="91083"/>
                </a:cubicBezTo>
                <a:cubicBezTo>
                  <a:pt x="75009" y="105868"/>
                  <a:pt x="63006" y="117872"/>
                  <a:pt x="48220" y="117872"/>
                </a:cubicBezTo>
                <a:cubicBezTo>
                  <a:pt x="33435" y="117872"/>
                  <a:pt x="21431" y="105868"/>
                  <a:pt x="21431" y="91083"/>
                </a:cubicBezTo>
                <a:close/>
                <a:moveTo>
                  <a:pt x="0" y="160734"/>
                </a:moveTo>
                <a:cubicBezTo>
                  <a:pt x="0" y="142987"/>
                  <a:pt x="14399" y="128588"/>
                  <a:pt x="32147" y="128588"/>
                </a:cubicBezTo>
                <a:lnTo>
                  <a:pt x="64294" y="128588"/>
                </a:lnTo>
                <a:cubicBezTo>
                  <a:pt x="82042" y="128588"/>
                  <a:pt x="96441" y="142987"/>
                  <a:pt x="96441" y="160734"/>
                </a:cubicBezTo>
                <a:cubicBezTo>
                  <a:pt x="96441" y="166661"/>
                  <a:pt x="91652" y="171450"/>
                  <a:pt x="85725" y="171450"/>
                </a:cubicBezTo>
                <a:lnTo>
                  <a:pt x="10716" y="171450"/>
                </a:lnTo>
                <a:cubicBezTo>
                  <a:pt x="4789" y="171450"/>
                  <a:pt x="0" y="166661"/>
                  <a:pt x="0" y="160734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7" name="Text 14"/>
          <p:cNvSpPr/>
          <p:nvPr/>
        </p:nvSpPr>
        <p:spPr>
          <a:xfrm>
            <a:off x="8329613" y="5090160"/>
            <a:ext cx="101618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指导教师</a:t>
            </a:r>
            <a:r>
              <a:rPr lang="zh-CN" altLang="en-US" sz="1350" dirty="0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1262" y="5090160"/>
            <a:ext cx="70711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024812" y="55340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91049" y="6764"/>
                </a:moveTo>
                <a:cubicBezTo>
                  <a:pt x="87768" y="4889"/>
                  <a:pt x="83716" y="4889"/>
                  <a:pt x="80401" y="6764"/>
                </a:cubicBezTo>
                <a:lnTo>
                  <a:pt x="5391" y="49627"/>
                </a:lnTo>
                <a:cubicBezTo>
                  <a:pt x="1172" y="52038"/>
                  <a:pt x="-904" y="56994"/>
                  <a:pt x="335" y="61682"/>
                </a:cubicBezTo>
                <a:cubicBezTo>
                  <a:pt x="1574" y="66370"/>
                  <a:pt x="5860" y="69652"/>
                  <a:pt x="10716" y="69652"/>
                </a:cubicBezTo>
                <a:lnTo>
                  <a:pt x="21431" y="69652"/>
                </a:lnTo>
                <a:lnTo>
                  <a:pt x="21431" y="139303"/>
                </a:lnTo>
                <a:lnTo>
                  <a:pt x="21431" y="139303"/>
                </a:lnTo>
                <a:lnTo>
                  <a:pt x="4286" y="152162"/>
                </a:lnTo>
                <a:cubicBezTo>
                  <a:pt x="1574" y="154171"/>
                  <a:pt x="0" y="157352"/>
                  <a:pt x="0" y="160734"/>
                </a:cubicBezTo>
                <a:cubicBezTo>
                  <a:pt x="0" y="166661"/>
                  <a:pt x="4789" y="171450"/>
                  <a:pt x="10716" y="171450"/>
                </a:cubicBezTo>
                <a:lnTo>
                  <a:pt x="160734" y="171450"/>
                </a:lnTo>
                <a:cubicBezTo>
                  <a:pt x="166661" y="171450"/>
                  <a:pt x="171450" y="166661"/>
                  <a:pt x="171450" y="160734"/>
                </a:cubicBezTo>
                <a:cubicBezTo>
                  <a:pt x="171450" y="157352"/>
                  <a:pt x="169876" y="154171"/>
                  <a:pt x="167164" y="152162"/>
                </a:cubicBezTo>
                <a:lnTo>
                  <a:pt x="150019" y="139303"/>
                </a:lnTo>
                <a:lnTo>
                  <a:pt x="150019" y="69652"/>
                </a:lnTo>
                <a:lnTo>
                  <a:pt x="160734" y="69652"/>
                </a:lnTo>
                <a:cubicBezTo>
                  <a:pt x="165590" y="69652"/>
                  <a:pt x="169843" y="66370"/>
                  <a:pt x="171082" y="61682"/>
                </a:cubicBezTo>
                <a:cubicBezTo>
                  <a:pt x="172321" y="56994"/>
                  <a:pt x="170244" y="52038"/>
                  <a:pt x="166025" y="49627"/>
                </a:cubicBezTo>
                <a:lnTo>
                  <a:pt x="91016" y="6764"/>
                </a:lnTo>
                <a:close/>
                <a:moveTo>
                  <a:pt x="133945" y="69652"/>
                </a:moveTo>
                <a:lnTo>
                  <a:pt x="133945" y="139303"/>
                </a:lnTo>
                <a:lnTo>
                  <a:pt x="112514" y="139303"/>
                </a:lnTo>
                <a:lnTo>
                  <a:pt x="112514" y="69652"/>
                </a:lnTo>
                <a:lnTo>
                  <a:pt x="133945" y="69652"/>
                </a:lnTo>
                <a:close/>
                <a:moveTo>
                  <a:pt x="96441" y="69652"/>
                </a:moveTo>
                <a:lnTo>
                  <a:pt x="96441" y="139303"/>
                </a:lnTo>
                <a:lnTo>
                  <a:pt x="75009" y="139303"/>
                </a:lnTo>
                <a:lnTo>
                  <a:pt x="75009" y="69652"/>
                </a:lnTo>
                <a:lnTo>
                  <a:pt x="96441" y="69652"/>
                </a:lnTo>
                <a:close/>
                <a:moveTo>
                  <a:pt x="58936" y="69652"/>
                </a:moveTo>
                <a:lnTo>
                  <a:pt x="58936" y="139303"/>
                </a:lnTo>
                <a:lnTo>
                  <a:pt x="37505" y="139303"/>
                </a:lnTo>
                <a:lnTo>
                  <a:pt x="37505" y="69652"/>
                </a:lnTo>
                <a:lnTo>
                  <a:pt x="58936" y="69652"/>
                </a:lnTo>
                <a:close/>
                <a:moveTo>
                  <a:pt x="85725" y="32147"/>
                </a:moveTo>
                <a:cubicBezTo>
                  <a:pt x="91639" y="32147"/>
                  <a:pt x="96441" y="36948"/>
                  <a:pt x="96441" y="42863"/>
                </a:cubicBezTo>
                <a:cubicBezTo>
                  <a:pt x="96441" y="48777"/>
                  <a:pt x="91639" y="53578"/>
                  <a:pt x="85725" y="53578"/>
                </a:cubicBezTo>
                <a:cubicBezTo>
                  <a:pt x="79811" y="53578"/>
                  <a:pt x="75009" y="48777"/>
                  <a:pt x="75009" y="42863"/>
                </a:cubicBezTo>
                <a:cubicBezTo>
                  <a:pt x="75009" y="36948"/>
                  <a:pt x="79811" y="32147"/>
                  <a:pt x="85725" y="32147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0" name="Text 17"/>
          <p:cNvSpPr/>
          <p:nvPr/>
        </p:nvSpPr>
        <p:spPr>
          <a:xfrm>
            <a:off x="8329613" y="5509260"/>
            <a:ext cx="86483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学院</a:t>
            </a:r>
            <a:r>
              <a:rPr lang="zh-CN" altLang="en-US" sz="1350" dirty="0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798362" y="5509260"/>
            <a:ext cx="186543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计算机</a:t>
            </a:r>
            <a:r>
              <a:rPr lang="zh-CN" altLang="en-US" sz="1350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信息与科学</a:t>
            </a:r>
            <a:r>
              <a:rPr lang="en-US" sz="1350" dirty="0" err="1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学院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35528" y="59531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36935" y="0"/>
                  <a:pt x="32147" y="4789"/>
                  <a:pt x="32147" y="10716"/>
                </a:cubicBezTo>
                <a:lnTo>
                  <a:pt x="32147" y="21431"/>
                </a:lnTo>
                <a:lnTo>
                  <a:pt x="21431" y="21431"/>
                </a:lnTo>
                <a:cubicBezTo>
                  <a:pt x="9611" y="21431"/>
                  <a:pt x="0" y="31042"/>
                  <a:pt x="0" y="42863"/>
                </a:cubicBezTo>
                <a:lnTo>
                  <a:pt x="0" y="58936"/>
                </a:lnTo>
                <a:lnTo>
                  <a:pt x="150019" y="58936"/>
                </a:lnTo>
                <a:lnTo>
                  <a:pt x="150019" y="42863"/>
                </a:lnTo>
                <a:cubicBezTo>
                  <a:pt x="150019" y="31042"/>
                  <a:pt x="140408" y="21431"/>
                  <a:pt x="128588" y="21431"/>
                </a:cubicBezTo>
                <a:lnTo>
                  <a:pt x="117872" y="21431"/>
                </a:lnTo>
                <a:lnTo>
                  <a:pt x="117872" y="10716"/>
                </a:lnTo>
                <a:cubicBezTo>
                  <a:pt x="117872" y="4789"/>
                  <a:pt x="113083" y="0"/>
                  <a:pt x="107156" y="0"/>
                </a:cubicBezTo>
                <a:cubicBezTo>
                  <a:pt x="101229" y="0"/>
                  <a:pt x="96441" y="4789"/>
                  <a:pt x="96441" y="10716"/>
                </a:cubicBezTo>
                <a:lnTo>
                  <a:pt x="96441" y="21431"/>
                </a:lnTo>
                <a:lnTo>
                  <a:pt x="53578" y="21431"/>
                </a:lnTo>
                <a:lnTo>
                  <a:pt x="53578" y="10716"/>
                </a:lnTo>
                <a:cubicBezTo>
                  <a:pt x="53578" y="4789"/>
                  <a:pt x="48790" y="0"/>
                  <a:pt x="42863" y="0"/>
                </a:cubicBezTo>
                <a:close/>
                <a:moveTo>
                  <a:pt x="0" y="75009"/>
                </a:move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75009"/>
                </a:lnTo>
                <a:lnTo>
                  <a:pt x="0" y="75009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3" name="Text 20"/>
          <p:cNvSpPr/>
          <p:nvPr/>
        </p:nvSpPr>
        <p:spPr>
          <a:xfrm>
            <a:off x="8329613" y="5928360"/>
            <a:ext cx="124951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 err="1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答辩时间</a:t>
            </a:r>
            <a:r>
              <a:rPr lang="zh-CN" altLang="en-US" sz="1350" dirty="0">
                <a:solidFill>
                  <a:srgbClr val="ECF0F1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141262" y="5928360"/>
            <a:ext cx="93237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2026年4月</a:t>
            </a:r>
            <a:endParaRPr lang="en-US" sz="16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9B78FB7F-0C51-88C1-FB99-A17341695AB3}"/>
              </a:ext>
            </a:extLst>
          </p:cNvPr>
          <p:cNvSpPr/>
          <p:nvPr/>
        </p:nvSpPr>
        <p:spPr>
          <a:xfrm>
            <a:off x="9101138" y="5071176"/>
            <a:ext cx="165732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350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范永胜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9D3FEC-BD57-5E96-7839-F909FBAD4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utoShape 2">
            <a:extLst>
              <a:ext uri="{FF2B5EF4-FFF2-40B4-BE49-F238E27FC236}">
                <a16:creationId xmlns:a16="http://schemas.microsoft.com/office/drawing/2014/main" id="{197A05EF-5D2B-B262-231F-623A3B38AA42}"/>
              </a:ext>
            </a:extLst>
          </p:cNvPr>
          <p:cNvSpPr/>
          <p:nvPr/>
        </p:nvSpPr>
        <p:spPr>
          <a:xfrm>
            <a:off x="508000" y="2286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目 录</a:t>
            </a:r>
            <a:endParaRPr lang="en-US" sz="1100"/>
          </a:p>
        </p:txBody>
      </p:sp>
      <p:sp>
        <p:nvSpPr>
          <p:cNvPr id="33" name="AutoShape 3">
            <a:extLst>
              <a:ext uri="{FF2B5EF4-FFF2-40B4-BE49-F238E27FC236}">
                <a16:creationId xmlns:a16="http://schemas.microsoft.com/office/drawing/2014/main" id="{C26FB524-6D56-123D-5EA9-65053E6ACBB1}"/>
              </a:ext>
            </a:extLst>
          </p:cNvPr>
          <p:cNvSpPr/>
          <p:nvPr/>
        </p:nvSpPr>
        <p:spPr>
          <a:xfrm>
            <a:off x="508000" y="3556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34" name="AutoShape 4">
            <a:extLst>
              <a:ext uri="{FF2B5EF4-FFF2-40B4-BE49-F238E27FC236}">
                <a16:creationId xmlns:a16="http://schemas.microsoft.com/office/drawing/2014/main" id="{2EDA8859-3951-DED4-7CC7-09A2EE835EFC}"/>
              </a:ext>
            </a:extLst>
          </p:cNvPr>
          <p:cNvSpPr/>
          <p:nvPr/>
        </p:nvSpPr>
        <p:spPr>
          <a:xfrm>
            <a:off x="3302000" y="1016000"/>
            <a:ext cx="4191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5" name="AutoShape 5">
            <a:extLst>
              <a:ext uri="{FF2B5EF4-FFF2-40B4-BE49-F238E27FC236}">
                <a16:creationId xmlns:a16="http://schemas.microsoft.com/office/drawing/2014/main" id="{36D567E1-2154-14F8-8678-A41635E97942}"/>
              </a:ext>
            </a:extLst>
          </p:cNvPr>
          <p:cNvSpPr/>
          <p:nvPr/>
        </p:nvSpPr>
        <p:spPr>
          <a:xfrm>
            <a:off x="3302000" y="1016000"/>
            <a:ext cx="101600" cy="2413000"/>
          </a:xfrm>
          <a:prstGeom prst="roundRect">
            <a:avLst>
              <a:gd name="adj" fmla="val 150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6" name="AutoShape 6">
            <a:extLst>
              <a:ext uri="{FF2B5EF4-FFF2-40B4-BE49-F238E27FC236}">
                <a16:creationId xmlns:a16="http://schemas.microsoft.com/office/drawing/2014/main" id="{B524D85B-9FE1-FB3A-3A17-33F042A73ACE}"/>
              </a:ext>
            </a:extLst>
          </p:cNvPr>
          <p:cNvSpPr/>
          <p:nvPr/>
        </p:nvSpPr>
        <p:spPr>
          <a:xfrm>
            <a:off x="3683000" y="1397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37" name="AutoShape 7">
            <a:extLst>
              <a:ext uri="{FF2B5EF4-FFF2-40B4-BE49-F238E27FC236}">
                <a16:creationId xmlns:a16="http://schemas.microsoft.com/office/drawing/2014/main" id="{84757EFF-61A0-BFA1-A5AF-94F4BFEDB27F}"/>
              </a:ext>
            </a:extLst>
          </p:cNvPr>
          <p:cNvSpPr/>
          <p:nvPr/>
        </p:nvSpPr>
        <p:spPr>
          <a:xfrm>
            <a:off x="4953000" y="1587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项目概述与背景</a:t>
            </a:r>
            <a:endParaRPr lang="en-US" sz="1100"/>
          </a:p>
        </p:txBody>
      </p:sp>
      <p:cxnSp>
        <p:nvCxnSpPr>
          <p:cNvPr id="38" name="Connector 8">
            <a:extLst>
              <a:ext uri="{FF2B5EF4-FFF2-40B4-BE49-F238E27FC236}">
                <a16:creationId xmlns:a16="http://schemas.microsoft.com/office/drawing/2014/main" id="{187B9771-BB9E-A75E-5AA2-511C6E50AD52}"/>
              </a:ext>
            </a:extLst>
          </p:cNvPr>
          <p:cNvCxnSpPr/>
          <p:nvPr/>
        </p:nvCxnSpPr>
        <p:spPr>
          <a:xfrm rot="-20221">
            <a:off x="4953019" y="221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" name="AutoShape 9">
            <a:extLst>
              <a:ext uri="{FF2B5EF4-FFF2-40B4-BE49-F238E27FC236}">
                <a16:creationId xmlns:a16="http://schemas.microsoft.com/office/drawing/2014/main" id="{D7A464C1-3FD4-F0A4-B45D-DAD41611CE66}"/>
              </a:ext>
            </a:extLst>
          </p:cNvPr>
          <p:cNvSpPr/>
          <p:nvPr/>
        </p:nvSpPr>
        <p:spPr>
          <a:xfrm>
            <a:off x="4953000" y="2413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项目背景与研究意义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课题来源与目标设定</a:t>
            </a:r>
            <a:endParaRPr lang="en-US" sz="1100"/>
          </a:p>
        </p:txBody>
      </p:sp>
      <p:sp>
        <p:nvSpPr>
          <p:cNvPr id="40" name="AutoShape 10">
            <a:extLst>
              <a:ext uri="{FF2B5EF4-FFF2-40B4-BE49-F238E27FC236}">
                <a16:creationId xmlns:a16="http://schemas.microsoft.com/office/drawing/2014/main" id="{8D886A76-9886-1149-01E7-FB503A836B76}"/>
              </a:ext>
            </a:extLst>
          </p:cNvPr>
          <p:cNvSpPr/>
          <p:nvPr/>
        </p:nvSpPr>
        <p:spPr>
          <a:xfrm>
            <a:off x="7747000" y="1016000"/>
            <a:ext cx="4191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1" name="AutoShape 11">
            <a:extLst>
              <a:ext uri="{FF2B5EF4-FFF2-40B4-BE49-F238E27FC236}">
                <a16:creationId xmlns:a16="http://schemas.microsoft.com/office/drawing/2014/main" id="{5F41F131-8ECB-37F4-768B-F06575ECB1AC}"/>
              </a:ext>
            </a:extLst>
          </p:cNvPr>
          <p:cNvSpPr/>
          <p:nvPr/>
        </p:nvSpPr>
        <p:spPr>
          <a:xfrm>
            <a:off x="7747000" y="1016000"/>
            <a:ext cx="101600" cy="2413000"/>
          </a:xfrm>
          <a:prstGeom prst="roundRect">
            <a:avLst>
              <a:gd name="adj" fmla="val 150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12">
            <a:extLst>
              <a:ext uri="{FF2B5EF4-FFF2-40B4-BE49-F238E27FC236}">
                <a16:creationId xmlns:a16="http://schemas.microsoft.com/office/drawing/2014/main" id="{8CA85C8F-2B50-D19A-64B6-9DDBC36803DD}"/>
              </a:ext>
            </a:extLst>
          </p:cNvPr>
          <p:cNvSpPr/>
          <p:nvPr/>
        </p:nvSpPr>
        <p:spPr>
          <a:xfrm>
            <a:off x="8128000" y="1397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43" name="AutoShape 13">
            <a:extLst>
              <a:ext uri="{FF2B5EF4-FFF2-40B4-BE49-F238E27FC236}">
                <a16:creationId xmlns:a16="http://schemas.microsoft.com/office/drawing/2014/main" id="{2E44B32C-6AE2-DA6A-A103-39BCBEC7FBAF}"/>
              </a:ext>
            </a:extLst>
          </p:cNvPr>
          <p:cNvSpPr/>
          <p:nvPr/>
        </p:nvSpPr>
        <p:spPr>
          <a:xfrm>
            <a:off x="9398000" y="1587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系统设计与技术选型</a:t>
            </a:r>
            <a:endParaRPr lang="en-US" sz="1100"/>
          </a:p>
        </p:txBody>
      </p:sp>
      <p:cxnSp>
        <p:nvCxnSpPr>
          <p:cNvPr id="44" name="Connector 14">
            <a:extLst>
              <a:ext uri="{FF2B5EF4-FFF2-40B4-BE49-F238E27FC236}">
                <a16:creationId xmlns:a16="http://schemas.microsoft.com/office/drawing/2014/main" id="{3754485F-194C-2B76-D94C-B82096701276}"/>
              </a:ext>
            </a:extLst>
          </p:cNvPr>
          <p:cNvCxnSpPr/>
          <p:nvPr/>
        </p:nvCxnSpPr>
        <p:spPr>
          <a:xfrm rot="-20221">
            <a:off x="9398019" y="2216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" name="AutoShape 15">
            <a:extLst>
              <a:ext uri="{FF2B5EF4-FFF2-40B4-BE49-F238E27FC236}">
                <a16:creationId xmlns:a16="http://schemas.microsoft.com/office/drawing/2014/main" id="{FC5EF5B4-9D3F-D38B-66A1-3CF5AA281388}"/>
              </a:ext>
            </a:extLst>
          </p:cNvPr>
          <p:cNvSpPr/>
          <p:nvPr/>
        </p:nvSpPr>
        <p:spPr>
          <a:xfrm>
            <a:off x="9398000" y="2413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用户需求分析与拆解</a:t>
            </a:r>
            <a:b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系统架构设计与技术栈</a:t>
            </a:r>
            <a:endParaRPr lang="en-US" sz="1100"/>
          </a:p>
        </p:txBody>
      </p:sp>
      <p:sp>
        <p:nvSpPr>
          <p:cNvPr id="46" name="AutoShape 16">
            <a:extLst>
              <a:ext uri="{FF2B5EF4-FFF2-40B4-BE49-F238E27FC236}">
                <a16:creationId xmlns:a16="http://schemas.microsoft.com/office/drawing/2014/main" id="{31F50928-46FF-BC50-DFE6-ABA907DD78CF}"/>
              </a:ext>
            </a:extLst>
          </p:cNvPr>
          <p:cNvSpPr/>
          <p:nvPr/>
        </p:nvSpPr>
        <p:spPr>
          <a:xfrm>
            <a:off x="3302000" y="3683000"/>
            <a:ext cx="4191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7" name="AutoShape 17">
            <a:extLst>
              <a:ext uri="{FF2B5EF4-FFF2-40B4-BE49-F238E27FC236}">
                <a16:creationId xmlns:a16="http://schemas.microsoft.com/office/drawing/2014/main" id="{2F7D03F0-0AFC-3053-BB76-5D8914C7E400}"/>
              </a:ext>
            </a:extLst>
          </p:cNvPr>
          <p:cNvSpPr/>
          <p:nvPr/>
        </p:nvSpPr>
        <p:spPr>
          <a:xfrm>
            <a:off x="3302000" y="3683000"/>
            <a:ext cx="101600" cy="2413000"/>
          </a:xfrm>
          <a:prstGeom prst="roundRect">
            <a:avLst>
              <a:gd name="adj" fmla="val 150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8" name="AutoShape 18">
            <a:extLst>
              <a:ext uri="{FF2B5EF4-FFF2-40B4-BE49-F238E27FC236}">
                <a16:creationId xmlns:a16="http://schemas.microsoft.com/office/drawing/2014/main" id="{6BFCC853-5B01-47A1-365F-537BF5191EBA}"/>
              </a:ext>
            </a:extLst>
          </p:cNvPr>
          <p:cNvSpPr/>
          <p:nvPr/>
        </p:nvSpPr>
        <p:spPr>
          <a:xfrm>
            <a:off x="3683000" y="4064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49" name="AutoShape 19">
            <a:extLst>
              <a:ext uri="{FF2B5EF4-FFF2-40B4-BE49-F238E27FC236}">
                <a16:creationId xmlns:a16="http://schemas.microsoft.com/office/drawing/2014/main" id="{DEDA7C4D-DFAD-2CCF-66D4-E1302A167D50}"/>
              </a:ext>
            </a:extLst>
          </p:cNvPr>
          <p:cNvSpPr/>
          <p:nvPr/>
        </p:nvSpPr>
        <p:spPr>
          <a:xfrm>
            <a:off x="4953000" y="4254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核心功能实现</a:t>
            </a:r>
            <a:endParaRPr lang="en-US" sz="1100"/>
          </a:p>
        </p:txBody>
      </p:sp>
      <p:cxnSp>
        <p:nvCxnSpPr>
          <p:cNvPr id="50" name="Connector 20">
            <a:extLst>
              <a:ext uri="{FF2B5EF4-FFF2-40B4-BE49-F238E27FC236}">
                <a16:creationId xmlns:a16="http://schemas.microsoft.com/office/drawing/2014/main" id="{54450EF0-B520-D0E8-FA6B-7423F347FE5D}"/>
              </a:ext>
            </a:extLst>
          </p:cNvPr>
          <p:cNvCxnSpPr/>
          <p:nvPr/>
        </p:nvCxnSpPr>
        <p:spPr>
          <a:xfrm rot="-20221">
            <a:off x="4953019" y="4883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" name="AutoShape 21">
            <a:extLst>
              <a:ext uri="{FF2B5EF4-FFF2-40B4-BE49-F238E27FC236}">
                <a16:creationId xmlns:a16="http://schemas.microsoft.com/office/drawing/2014/main" id="{F0DA5EBD-2ED5-ED10-81B1-4FC9AC059ADD}"/>
              </a:ext>
            </a:extLst>
          </p:cNvPr>
          <p:cNvSpPr/>
          <p:nvPr/>
        </p:nvSpPr>
        <p:spPr>
          <a:xfrm>
            <a:off x="4953000" y="508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核心功能模块开发流程</a:t>
            </a:r>
            <a:b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数据库表结构</a:t>
            </a:r>
            <a:endParaRPr lang="en-US" sz="1100" dirty="0"/>
          </a:p>
        </p:txBody>
      </p:sp>
      <p:sp>
        <p:nvSpPr>
          <p:cNvPr id="52" name="AutoShape 22">
            <a:extLst>
              <a:ext uri="{FF2B5EF4-FFF2-40B4-BE49-F238E27FC236}">
                <a16:creationId xmlns:a16="http://schemas.microsoft.com/office/drawing/2014/main" id="{65C8860A-6DD6-86DA-D0C6-F640CD05468F}"/>
              </a:ext>
            </a:extLst>
          </p:cNvPr>
          <p:cNvSpPr/>
          <p:nvPr/>
        </p:nvSpPr>
        <p:spPr>
          <a:xfrm>
            <a:off x="7747000" y="3683000"/>
            <a:ext cx="4191000" cy="2413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3" name="AutoShape 23">
            <a:extLst>
              <a:ext uri="{FF2B5EF4-FFF2-40B4-BE49-F238E27FC236}">
                <a16:creationId xmlns:a16="http://schemas.microsoft.com/office/drawing/2014/main" id="{67FA5E65-7DD8-B415-738A-B8C87A940EA1}"/>
              </a:ext>
            </a:extLst>
          </p:cNvPr>
          <p:cNvSpPr/>
          <p:nvPr/>
        </p:nvSpPr>
        <p:spPr>
          <a:xfrm>
            <a:off x="7747000" y="3683000"/>
            <a:ext cx="101600" cy="2413000"/>
          </a:xfrm>
          <a:prstGeom prst="roundRect">
            <a:avLst>
              <a:gd name="adj" fmla="val 15000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4" name="AutoShape 24">
            <a:extLst>
              <a:ext uri="{FF2B5EF4-FFF2-40B4-BE49-F238E27FC236}">
                <a16:creationId xmlns:a16="http://schemas.microsoft.com/office/drawing/2014/main" id="{A053B736-C096-313C-7326-6D82CDAE94F1}"/>
              </a:ext>
            </a:extLst>
          </p:cNvPr>
          <p:cNvSpPr/>
          <p:nvPr/>
        </p:nvSpPr>
        <p:spPr>
          <a:xfrm>
            <a:off x="8128000" y="4064000"/>
            <a:ext cx="101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 dirty="0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55" name="AutoShape 25">
            <a:extLst>
              <a:ext uri="{FF2B5EF4-FFF2-40B4-BE49-F238E27FC236}">
                <a16:creationId xmlns:a16="http://schemas.microsoft.com/office/drawing/2014/main" id="{5F9EC03B-8ADF-3D61-2BA4-FFDC3A4B3C2E}"/>
              </a:ext>
            </a:extLst>
          </p:cNvPr>
          <p:cNvSpPr/>
          <p:nvPr/>
        </p:nvSpPr>
        <p:spPr>
          <a:xfrm>
            <a:off x="9398000" y="42545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测试、总结与展望</a:t>
            </a:r>
            <a:endParaRPr lang="en-US" sz="1100" dirty="0"/>
          </a:p>
        </p:txBody>
      </p:sp>
      <p:cxnSp>
        <p:nvCxnSpPr>
          <p:cNvPr id="56" name="Connector 26">
            <a:extLst>
              <a:ext uri="{FF2B5EF4-FFF2-40B4-BE49-F238E27FC236}">
                <a16:creationId xmlns:a16="http://schemas.microsoft.com/office/drawing/2014/main" id="{795ECA63-A48B-DCE3-C8E7-B4ACC7725C10}"/>
              </a:ext>
            </a:extLst>
          </p:cNvPr>
          <p:cNvCxnSpPr/>
          <p:nvPr/>
        </p:nvCxnSpPr>
        <p:spPr>
          <a:xfrm rot="-20221">
            <a:off x="9398019" y="48831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" name="AutoShape 27">
            <a:extLst>
              <a:ext uri="{FF2B5EF4-FFF2-40B4-BE49-F238E27FC236}">
                <a16:creationId xmlns:a16="http://schemas.microsoft.com/office/drawing/2014/main" id="{D71E8FCD-5865-C4BE-1B17-2556A0D000ED}"/>
              </a:ext>
            </a:extLst>
          </p:cNvPr>
          <p:cNvSpPr/>
          <p:nvPr/>
        </p:nvSpPr>
        <p:spPr>
          <a:xfrm>
            <a:off x="9398000" y="5080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系统功能与性能测试结果</a:t>
            </a:r>
            <a:br>
              <a:rPr lang="en-US" sz="12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项目亮点总结与未来规划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1035157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77CB9-E98D-038A-56BD-4830060C9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6FF7E4A1-BF74-6E90-741E-6A1A65F34219}"/>
              </a:ext>
            </a:extLst>
          </p:cNvPr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1C47850-DF30-AF9F-5A79-0023FA79D5DE}"/>
              </a:ext>
            </a:extLst>
          </p:cNvPr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项目概述与背景</a:t>
            </a:r>
            <a:endParaRPr lang="en-US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6374629-BD24-B378-37D0-CE914E9C8285}"/>
              </a:ext>
            </a:extLst>
          </p:cNvPr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PROJECT OVERVIEW &amp; BACKGROUND</a:t>
            </a:r>
            <a:endParaRPr lang="en-US" sz="1100" dirty="0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5D83DFB5-9257-3DFB-FEAD-65ADED886384}"/>
              </a:ext>
            </a:extLst>
          </p:cNvPr>
          <p:cNvSpPr/>
          <p:nvPr/>
        </p:nvSpPr>
        <p:spPr>
          <a:xfrm>
            <a:off x="5588000" y="5588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358463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257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项目背景与研究意义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BACKGROUND &amp; SIGNIFICANCE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09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76250" y="1504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876300" y="144780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传统图书馆管理痛点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0050" y="194310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742950"/>
                </a:lnTo>
                <a:cubicBezTo>
                  <a:pt x="5600700" y="806034"/>
                  <a:pt x="5549484" y="857250"/>
                  <a:pt x="5486400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0050" y="194310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0" name="Shape 8"/>
          <p:cNvSpPr/>
          <p:nvPr/>
        </p:nvSpPr>
        <p:spPr>
          <a:xfrm>
            <a:off x="571500" y="21336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6152" y="21717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2095500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人工操作效率低下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2400300"/>
            <a:ext cx="4343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借阅登记、归还处理、库存维护依赖人工操作，流程繁琐且耗时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291465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742950"/>
                </a:lnTo>
                <a:cubicBezTo>
                  <a:pt x="5600700" y="806034"/>
                  <a:pt x="5549484" y="857250"/>
                  <a:pt x="5486400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0050" y="291465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31051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3293" y="314325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3067050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数据管理易出错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337185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纸质记录或简单表格方式容易出错，且不利于数据统计与分析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388620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742950"/>
                </a:lnTo>
                <a:cubicBezTo>
                  <a:pt x="5600700" y="806034"/>
                  <a:pt x="5549484" y="857250"/>
                  <a:pt x="5486400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0050" y="388620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2" name="Shape 20"/>
          <p:cNvSpPr/>
          <p:nvPr/>
        </p:nvSpPr>
        <p:spPr>
          <a:xfrm>
            <a:off x="571500" y="407670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31269" y="411480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0600" y="4038600"/>
            <a:ext cx="3743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读者体验较差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" y="4343400"/>
            <a:ext cx="3733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图书查询、预约、续借、消息提醒等方面用户体验不佳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00050" y="4857750"/>
            <a:ext cx="5600700" cy="857250"/>
          </a:xfrm>
          <a:custGeom>
            <a:avLst/>
            <a:gdLst/>
            <a:ahLst/>
            <a:cxnLst/>
            <a:rect l="l" t="t" r="r" b="b"/>
            <a:pathLst>
              <a:path w="5600700" h="857250">
                <a:moveTo>
                  <a:pt x="38100" y="0"/>
                </a:moveTo>
                <a:lnTo>
                  <a:pt x="5486400" y="0"/>
                </a:lnTo>
                <a:cubicBezTo>
                  <a:pt x="5549484" y="0"/>
                  <a:pt x="5600700" y="51216"/>
                  <a:pt x="5600700" y="114300"/>
                </a:cubicBezTo>
                <a:lnTo>
                  <a:pt x="5600700" y="742950"/>
                </a:lnTo>
                <a:cubicBezTo>
                  <a:pt x="5600700" y="806034"/>
                  <a:pt x="5549484" y="857250"/>
                  <a:pt x="5486400" y="857250"/>
                </a:cubicBez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00050" y="4857750"/>
            <a:ext cx="38100" cy="857250"/>
          </a:xfrm>
          <a:custGeom>
            <a:avLst/>
            <a:gdLst/>
            <a:ahLst/>
            <a:cxnLst/>
            <a:rect l="l" t="t" r="r" b="b"/>
            <a:pathLst>
              <a:path w="38100" h="857250">
                <a:moveTo>
                  <a:pt x="38100" y="0"/>
                </a:moveTo>
                <a:lnTo>
                  <a:pt x="38100" y="0"/>
                </a:lnTo>
                <a:lnTo>
                  <a:pt x="38100" y="857250"/>
                </a:lnTo>
                <a:lnTo>
                  <a:pt x="38100" y="857250"/>
                </a:lnTo>
                <a:cubicBezTo>
                  <a:pt x="17072" y="857250"/>
                  <a:pt x="0" y="840178"/>
                  <a:pt x="0" y="819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8" name="Shape 26"/>
          <p:cNvSpPr/>
          <p:nvPr/>
        </p:nvSpPr>
        <p:spPr>
          <a:xfrm>
            <a:off x="571500" y="5048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1388" y="5086350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5010150"/>
            <a:ext cx="4200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缺乏数据分析能力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531495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管理员缺乏直观的借阅趋势、库存变化和用户活跃度分析工具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1250" y="14097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310313" y="15049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4" name="Text 32"/>
          <p:cNvSpPr/>
          <p:nvPr/>
        </p:nvSpPr>
        <p:spPr>
          <a:xfrm>
            <a:off x="6686550" y="14478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系统开发意义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060" y="1946910"/>
            <a:ext cx="5608320" cy="864870"/>
          </a:xfrm>
          <a:prstGeom prst="roundRect">
            <a:avLst>
              <a:gd name="adj" fmla="val 13216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1270" y="210312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37" name="Shape 35"/>
          <p:cNvSpPr/>
          <p:nvPr/>
        </p:nvSpPr>
        <p:spPr>
          <a:xfrm>
            <a:off x="6484620" y="22364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922770" y="2103120"/>
            <a:ext cx="4657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提高业务处理效率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22770" y="2407920"/>
            <a:ext cx="4648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自动化处理借阅、归还、预约等业务流程，显著提升图书馆运营效率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5060" y="2933700"/>
            <a:ext cx="5608320" cy="864870"/>
          </a:xfrm>
          <a:prstGeom prst="roundRect">
            <a:avLst>
              <a:gd name="adj" fmla="val 13216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1270" y="308991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42" name="Shape 40"/>
          <p:cNvSpPr/>
          <p:nvPr/>
        </p:nvSpPr>
        <p:spPr>
          <a:xfrm>
            <a:off x="6484620" y="32232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35719"/>
                </a:moveTo>
                <a:lnTo>
                  <a:pt x="47625" y="29766"/>
                </a:lnTo>
                <a:cubicBezTo>
                  <a:pt x="47625" y="13320"/>
                  <a:pt x="79623" y="0"/>
                  <a:pt x="119063" y="0"/>
                </a:cubicBezTo>
                <a:cubicBezTo>
                  <a:pt x="158502" y="0"/>
                  <a:pt x="190500" y="13320"/>
                  <a:pt x="190500" y="29766"/>
                </a:cubicBezTo>
                <a:lnTo>
                  <a:pt x="190500" y="35719"/>
                </a:lnTo>
                <a:cubicBezTo>
                  <a:pt x="190500" y="47104"/>
                  <a:pt x="175133" y="57001"/>
                  <a:pt x="152549" y="62024"/>
                </a:cubicBezTo>
                <a:cubicBezTo>
                  <a:pt x="151656" y="60982"/>
                  <a:pt x="150726" y="59978"/>
                  <a:pt x="149796" y="59048"/>
                </a:cubicBezTo>
                <a:cubicBezTo>
                  <a:pt x="144028" y="53355"/>
                  <a:pt x="136587" y="49039"/>
                  <a:pt x="128811" y="45839"/>
                </a:cubicBezTo>
                <a:cubicBezTo>
                  <a:pt x="113221" y="39328"/>
                  <a:pt x="92906" y="35756"/>
                  <a:pt x="71438" y="35756"/>
                </a:cubicBezTo>
                <a:cubicBezTo>
                  <a:pt x="63289" y="35756"/>
                  <a:pt x="55327" y="36277"/>
                  <a:pt x="47699" y="37281"/>
                </a:cubicBezTo>
                <a:cubicBezTo>
                  <a:pt x="47625" y="36798"/>
                  <a:pt x="47625" y="36277"/>
                  <a:pt x="47625" y="35756"/>
                </a:cubicBezTo>
                <a:close/>
                <a:moveTo>
                  <a:pt x="160734" y="131341"/>
                </a:moveTo>
                <a:lnTo>
                  <a:pt x="160734" y="114151"/>
                </a:lnTo>
                <a:cubicBezTo>
                  <a:pt x="166353" y="112700"/>
                  <a:pt x="171636" y="110989"/>
                  <a:pt x="176436" y="108979"/>
                </a:cubicBezTo>
                <a:cubicBezTo>
                  <a:pt x="181347" y="106933"/>
                  <a:pt x="186147" y="104440"/>
                  <a:pt x="190500" y="101426"/>
                </a:cubicBezTo>
                <a:lnTo>
                  <a:pt x="190500" y="107156"/>
                </a:lnTo>
                <a:cubicBezTo>
                  <a:pt x="190500" y="117128"/>
                  <a:pt x="178780" y="125946"/>
                  <a:pt x="160734" y="131341"/>
                </a:cubicBezTo>
                <a:close/>
                <a:moveTo>
                  <a:pt x="160734" y="95622"/>
                </a:moveTo>
                <a:lnTo>
                  <a:pt x="160734" y="83344"/>
                </a:lnTo>
                <a:cubicBezTo>
                  <a:pt x="160734" y="81669"/>
                  <a:pt x="160586" y="80070"/>
                  <a:pt x="160362" y="78507"/>
                </a:cubicBezTo>
                <a:cubicBezTo>
                  <a:pt x="166129" y="77056"/>
                  <a:pt x="171524" y="75307"/>
                  <a:pt x="176436" y="73223"/>
                </a:cubicBezTo>
                <a:cubicBezTo>
                  <a:pt x="181347" y="71140"/>
                  <a:pt x="186147" y="68684"/>
                  <a:pt x="190500" y="65670"/>
                </a:cubicBezTo>
                <a:lnTo>
                  <a:pt x="190500" y="71400"/>
                </a:lnTo>
                <a:cubicBezTo>
                  <a:pt x="190500" y="81372"/>
                  <a:pt x="178780" y="90190"/>
                  <a:pt x="160734" y="95585"/>
                </a:cubicBezTo>
                <a:close/>
                <a:moveTo>
                  <a:pt x="0" y="89297"/>
                </a:moveTo>
                <a:lnTo>
                  <a:pt x="0" y="83344"/>
                </a:lnTo>
                <a:cubicBezTo>
                  <a:pt x="0" y="66898"/>
                  <a:pt x="31998" y="53578"/>
                  <a:pt x="71438" y="53578"/>
                </a:cubicBezTo>
                <a:cubicBezTo>
                  <a:pt x="110877" y="53578"/>
                  <a:pt x="142875" y="66898"/>
                  <a:pt x="142875" y="83344"/>
                </a:cubicBezTo>
                <a:lnTo>
                  <a:pt x="142875" y="89297"/>
                </a:lnTo>
                <a:cubicBezTo>
                  <a:pt x="142875" y="105742"/>
                  <a:pt x="110877" y="119063"/>
                  <a:pt x="71438" y="119063"/>
                </a:cubicBezTo>
                <a:cubicBezTo>
                  <a:pt x="31998" y="119063"/>
                  <a:pt x="0" y="105742"/>
                  <a:pt x="0" y="89297"/>
                </a:cubicBezTo>
                <a:close/>
                <a:moveTo>
                  <a:pt x="142875" y="125016"/>
                </a:moveTo>
                <a:cubicBezTo>
                  <a:pt x="142875" y="141461"/>
                  <a:pt x="110877" y="154781"/>
                  <a:pt x="71438" y="154781"/>
                </a:cubicBezTo>
                <a:cubicBezTo>
                  <a:pt x="31998" y="154781"/>
                  <a:pt x="0" y="141461"/>
                  <a:pt x="0" y="125016"/>
                </a:cubicBezTo>
                <a:lnTo>
                  <a:pt x="0" y="119286"/>
                </a:lnTo>
                <a:cubicBezTo>
                  <a:pt x="4316" y="122300"/>
                  <a:pt x="9116" y="124755"/>
                  <a:pt x="14064" y="126839"/>
                </a:cubicBezTo>
                <a:cubicBezTo>
                  <a:pt x="29654" y="133350"/>
                  <a:pt x="49969" y="136922"/>
                  <a:pt x="71438" y="136922"/>
                </a:cubicBezTo>
                <a:cubicBezTo>
                  <a:pt x="92906" y="136922"/>
                  <a:pt x="113221" y="133313"/>
                  <a:pt x="128811" y="126839"/>
                </a:cubicBezTo>
                <a:cubicBezTo>
                  <a:pt x="133722" y="124792"/>
                  <a:pt x="138522" y="122300"/>
                  <a:pt x="142875" y="119286"/>
                </a:cubicBezTo>
                <a:lnTo>
                  <a:pt x="142875" y="125016"/>
                </a:lnTo>
                <a:close/>
                <a:moveTo>
                  <a:pt x="142875" y="155004"/>
                </a:moveTo>
                <a:lnTo>
                  <a:pt x="142875" y="160734"/>
                </a:lnTo>
                <a:cubicBezTo>
                  <a:pt x="142875" y="177180"/>
                  <a:pt x="110877" y="190500"/>
                  <a:pt x="71438" y="190500"/>
                </a:cubicBezTo>
                <a:cubicBezTo>
                  <a:pt x="31998" y="190500"/>
                  <a:pt x="0" y="177180"/>
                  <a:pt x="0" y="160734"/>
                </a:cubicBezTo>
                <a:lnTo>
                  <a:pt x="0" y="155004"/>
                </a:lnTo>
                <a:cubicBezTo>
                  <a:pt x="4316" y="158018"/>
                  <a:pt x="9116" y="160474"/>
                  <a:pt x="14064" y="162558"/>
                </a:cubicBezTo>
                <a:cubicBezTo>
                  <a:pt x="29654" y="169069"/>
                  <a:pt x="49969" y="172641"/>
                  <a:pt x="71438" y="172641"/>
                </a:cubicBezTo>
                <a:cubicBezTo>
                  <a:pt x="92906" y="172641"/>
                  <a:pt x="113221" y="169032"/>
                  <a:pt x="128811" y="162558"/>
                </a:cubicBezTo>
                <a:cubicBezTo>
                  <a:pt x="133722" y="160511"/>
                  <a:pt x="138522" y="158018"/>
                  <a:pt x="142875" y="1550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22770" y="308991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降低管理成本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22770" y="3394710"/>
            <a:ext cx="3276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减少人工操作环节，降低人力成本和管理出错率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060" y="3920491"/>
            <a:ext cx="5608320" cy="864870"/>
          </a:xfrm>
          <a:prstGeom prst="roundRect">
            <a:avLst>
              <a:gd name="adj" fmla="val 13216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1270" y="40767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47" name="Shape 45"/>
          <p:cNvSpPr/>
          <p:nvPr/>
        </p:nvSpPr>
        <p:spPr>
          <a:xfrm>
            <a:off x="6484620" y="42100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1540" y="119769"/>
                </a:moveTo>
                <a:cubicBezTo>
                  <a:pt x="69131" y="130187"/>
                  <a:pt x="81409" y="136922"/>
                  <a:pt x="95250" y="136922"/>
                </a:cubicBezTo>
                <a:cubicBezTo>
                  <a:pt x="109091" y="136922"/>
                  <a:pt x="121369" y="130187"/>
                  <a:pt x="128960" y="119769"/>
                </a:cubicBezTo>
                <a:cubicBezTo>
                  <a:pt x="131862" y="115788"/>
                  <a:pt x="137443" y="114895"/>
                  <a:pt x="141424" y="117797"/>
                </a:cubicBezTo>
                <a:cubicBezTo>
                  <a:pt x="145405" y="120700"/>
                  <a:pt x="146298" y="126281"/>
                  <a:pt x="143396" y="130262"/>
                </a:cubicBezTo>
                <a:cubicBezTo>
                  <a:pt x="132569" y="145107"/>
                  <a:pt x="115044" y="154781"/>
                  <a:pt x="95250" y="154781"/>
                </a:cubicBezTo>
                <a:cubicBezTo>
                  <a:pt x="75456" y="154781"/>
                  <a:pt x="57931" y="145107"/>
                  <a:pt x="47104" y="130262"/>
                </a:cubicBezTo>
                <a:cubicBezTo>
                  <a:pt x="44202" y="126281"/>
                  <a:pt x="45095" y="120700"/>
                  <a:pt x="49076" y="117797"/>
                </a:cubicBezTo>
                <a:cubicBezTo>
                  <a:pt x="53057" y="114895"/>
                  <a:pt x="58638" y="115788"/>
                  <a:pt x="61540" y="119769"/>
                </a:cubicBezTo>
                <a:close/>
                <a:moveTo>
                  <a:pt x="53578" y="77391"/>
                </a:moveTo>
                <a:cubicBezTo>
                  <a:pt x="53578" y="70819"/>
                  <a:pt x="58913" y="65484"/>
                  <a:pt x="65484" y="65484"/>
                </a:cubicBezTo>
                <a:cubicBezTo>
                  <a:pt x="72056" y="65484"/>
                  <a:pt x="77391" y="70819"/>
                  <a:pt x="77391" y="77391"/>
                </a:cubicBezTo>
                <a:cubicBezTo>
                  <a:pt x="77391" y="83962"/>
                  <a:pt x="72056" y="89297"/>
                  <a:pt x="65484" y="89297"/>
                </a:cubicBezTo>
                <a:cubicBezTo>
                  <a:pt x="58913" y="89297"/>
                  <a:pt x="53578" y="83962"/>
                  <a:pt x="53578" y="77391"/>
                </a:cubicBezTo>
                <a:close/>
                <a:moveTo>
                  <a:pt x="125016" y="65484"/>
                </a:moveTo>
                <a:cubicBezTo>
                  <a:pt x="131587" y="65484"/>
                  <a:pt x="136922" y="70819"/>
                  <a:pt x="136922" y="77391"/>
                </a:cubicBezTo>
                <a:cubicBezTo>
                  <a:pt x="136922" y="83962"/>
                  <a:pt x="131587" y="89297"/>
                  <a:pt x="125016" y="89297"/>
                </a:cubicBezTo>
                <a:cubicBezTo>
                  <a:pt x="118444" y="89297"/>
                  <a:pt x="113109" y="83962"/>
                  <a:pt x="113109" y="77391"/>
                </a:cubicBezTo>
                <a:cubicBezTo>
                  <a:pt x="113109" y="70819"/>
                  <a:pt x="118444" y="65484"/>
                  <a:pt x="125016" y="654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922770" y="4076700"/>
            <a:ext cx="3438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优化读者体验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22770" y="4381500"/>
            <a:ext cx="3429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提供便捷的图书查询、预约、续借和消息通知服务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95060" y="4907280"/>
            <a:ext cx="5608320" cy="864870"/>
          </a:xfrm>
          <a:prstGeom prst="roundRect">
            <a:avLst>
              <a:gd name="adj" fmla="val 13216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51270" y="506349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52" name="Shape 50"/>
          <p:cNvSpPr/>
          <p:nvPr/>
        </p:nvSpPr>
        <p:spPr>
          <a:xfrm>
            <a:off x="6484620" y="519684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922770" y="506349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推动信息化规范化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22770" y="5368290"/>
            <a:ext cx="3276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实现图书馆管理的信息化、数据化和规范化转型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A5523-0EC2-8CD6-57FF-0796BAC17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F7B556E-3E2F-5E7D-CB37-315BF868BEEF}"/>
              </a:ext>
            </a:extLst>
          </p:cNvPr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E504310-9E08-83EE-0DF3-9A2938EBA691}"/>
              </a:ext>
            </a:extLst>
          </p:cNvPr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系统设计与技术选型</a:t>
            </a:r>
            <a:endParaRPr lang="en-US" altLang="zh-CN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F58A9B14-EBEB-7B87-9466-CE1B2FF6238C}"/>
              </a:ext>
            </a:extLst>
          </p:cNvPr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000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SYSTEM DESIGN &amp; TECHNOLOGY STACK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289886354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129" y="373129"/>
            <a:ext cx="74626" cy="373129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59694" y="373129"/>
            <a:ext cx="3526072" cy="373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需求分析与可行性分析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9694" y="820884"/>
            <a:ext cx="11343131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 &amp; FEASIBILITY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3129" y="1156701"/>
            <a:ext cx="11445741" cy="3003691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blurRad="27985" dist="932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5068" y="1268640"/>
            <a:ext cx="373129" cy="373129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597007" y="1380578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39004" y="10582"/>
                </a:moveTo>
                <a:cubicBezTo>
                  <a:pt x="42181" y="12797"/>
                  <a:pt x="42939" y="17170"/>
                  <a:pt x="40724" y="20318"/>
                </a:cubicBezTo>
                <a:lnTo>
                  <a:pt x="24399" y="43639"/>
                </a:lnTo>
                <a:cubicBezTo>
                  <a:pt x="23204" y="45329"/>
                  <a:pt x="21338" y="46408"/>
                  <a:pt x="19269" y="46583"/>
                </a:cubicBezTo>
                <a:cubicBezTo>
                  <a:pt x="17199" y="46758"/>
                  <a:pt x="15158" y="46058"/>
                  <a:pt x="13701" y="44601"/>
                </a:cubicBezTo>
                <a:lnTo>
                  <a:pt x="2041" y="32940"/>
                </a:lnTo>
                <a:cubicBezTo>
                  <a:pt x="-670" y="30200"/>
                  <a:pt x="-670" y="25769"/>
                  <a:pt x="2041" y="23029"/>
                </a:cubicBezTo>
                <a:cubicBezTo>
                  <a:pt x="4752" y="20289"/>
                  <a:pt x="9212" y="20318"/>
                  <a:pt x="11952" y="23029"/>
                </a:cubicBezTo>
                <a:lnTo>
                  <a:pt x="17724" y="28801"/>
                </a:lnTo>
                <a:lnTo>
                  <a:pt x="29267" y="12302"/>
                </a:lnTo>
                <a:cubicBezTo>
                  <a:pt x="31483" y="9124"/>
                  <a:pt x="35855" y="8366"/>
                  <a:pt x="39004" y="10582"/>
                </a:cubicBezTo>
                <a:close/>
                <a:moveTo>
                  <a:pt x="39004" y="57223"/>
                </a:moveTo>
                <a:cubicBezTo>
                  <a:pt x="42181" y="59438"/>
                  <a:pt x="42939" y="63811"/>
                  <a:pt x="40724" y="66959"/>
                </a:cubicBezTo>
                <a:lnTo>
                  <a:pt x="24399" y="90280"/>
                </a:lnTo>
                <a:cubicBezTo>
                  <a:pt x="23204" y="91971"/>
                  <a:pt x="21338" y="93049"/>
                  <a:pt x="19269" y="93224"/>
                </a:cubicBezTo>
                <a:cubicBezTo>
                  <a:pt x="17199" y="93399"/>
                  <a:pt x="15158" y="92699"/>
                  <a:pt x="13701" y="91242"/>
                </a:cubicBezTo>
                <a:lnTo>
                  <a:pt x="2041" y="79581"/>
                </a:lnTo>
                <a:cubicBezTo>
                  <a:pt x="-700" y="76841"/>
                  <a:pt x="-700" y="72410"/>
                  <a:pt x="2041" y="69699"/>
                </a:cubicBezTo>
                <a:cubicBezTo>
                  <a:pt x="4781" y="66988"/>
                  <a:pt x="9212" y="66959"/>
                  <a:pt x="11923" y="69699"/>
                </a:cubicBezTo>
                <a:lnTo>
                  <a:pt x="17694" y="75471"/>
                </a:lnTo>
                <a:lnTo>
                  <a:pt x="29238" y="58972"/>
                </a:lnTo>
                <a:cubicBezTo>
                  <a:pt x="31454" y="55794"/>
                  <a:pt x="35826" y="55037"/>
                  <a:pt x="38975" y="57252"/>
                </a:cubicBezTo>
                <a:close/>
                <a:moveTo>
                  <a:pt x="65298" y="27985"/>
                </a:moveTo>
                <a:cubicBezTo>
                  <a:pt x="65298" y="22825"/>
                  <a:pt x="69466" y="18656"/>
                  <a:pt x="74626" y="18656"/>
                </a:cubicBezTo>
                <a:lnTo>
                  <a:pt x="139923" y="18656"/>
                </a:lnTo>
                <a:cubicBezTo>
                  <a:pt x="145083" y="18656"/>
                  <a:pt x="149252" y="22825"/>
                  <a:pt x="149252" y="27985"/>
                </a:cubicBezTo>
                <a:cubicBezTo>
                  <a:pt x="149252" y="33144"/>
                  <a:pt x="145083" y="37313"/>
                  <a:pt x="139923" y="37313"/>
                </a:cubicBezTo>
                <a:lnTo>
                  <a:pt x="74626" y="37313"/>
                </a:lnTo>
                <a:cubicBezTo>
                  <a:pt x="69466" y="37313"/>
                  <a:pt x="65298" y="33144"/>
                  <a:pt x="65298" y="27985"/>
                </a:cubicBezTo>
                <a:close/>
                <a:moveTo>
                  <a:pt x="65298" y="74626"/>
                </a:moveTo>
                <a:cubicBezTo>
                  <a:pt x="65298" y="69466"/>
                  <a:pt x="69466" y="65298"/>
                  <a:pt x="74626" y="65298"/>
                </a:cubicBezTo>
                <a:lnTo>
                  <a:pt x="139923" y="65298"/>
                </a:lnTo>
                <a:cubicBezTo>
                  <a:pt x="145083" y="65298"/>
                  <a:pt x="149252" y="69466"/>
                  <a:pt x="149252" y="74626"/>
                </a:cubicBezTo>
                <a:cubicBezTo>
                  <a:pt x="149252" y="79786"/>
                  <a:pt x="145083" y="83954"/>
                  <a:pt x="139923" y="83954"/>
                </a:cubicBezTo>
                <a:lnTo>
                  <a:pt x="74626" y="83954"/>
                </a:lnTo>
                <a:cubicBezTo>
                  <a:pt x="69466" y="83954"/>
                  <a:pt x="65298" y="79786"/>
                  <a:pt x="65298" y="74626"/>
                </a:cubicBezTo>
                <a:close/>
                <a:moveTo>
                  <a:pt x="46641" y="121267"/>
                </a:moveTo>
                <a:cubicBezTo>
                  <a:pt x="46641" y="116107"/>
                  <a:pt x="50810" y="111939"/>
                  <a:pt x="55969" y="111939"/>
                </a:cubicBezTo>
                <a:lnTo>
                  <a:pt x="139923" y="111939"/>
                </a:lnTo>
                <a:cubicBezTo>
                  <a:pt x="145083" y="111939"/>
                  <a:pt x="149252" y="116107"/>
                  <a:pt x="149252" y="121267"/>
                </a:cubicBezTo>
                <a:cubicBezTo>
                  <a:pt x="149252" y="126427"/>
                  <a:pt x="145083" y="130595"/>
                  <a:pt x="139923" y="130595"/>
                </a:cubicBezTo>
                <a:lnTo>
                  <a:pt x="55969" y="130595"/>
                </a:lnTo>
                <a:cubicBezTo>
                  <a:pt x="50810" y="130595"/>
                  <a:pt x="46641" y="126427"/>
                  <a:pt x="46641" y="121267"/>
                </a:cubicBezTo>
                <a:close/>
                <a:moveTo>
                  <a:pt x="18656" y="109607"/>
                </a:moveTo>
                <a:cubicBezTo>
                  <a:pt x="25092" y="109607"/>
                  <a:pt x="30317" y="114832"/>
                  <a:pt x="30317" y="121267"/>
                </a:cubicBezTo>
                <a:cubicBezTo>
                  <a:pt x="30317" y="127703"/>
                  <a:pt x="25092" y="132927"/>
                  <a:pt x="18656" y="132927"/>
                </a:cubicBezTo>
                <a:cubicBezTo>
                  <a:pt x="12221" y="132927"/>
                  <a:pt x="6996" y="127703"/>
                  <a:pt x="6996" y="121267"/>
                </a:cubicBezTo>
                <a:cubicBezTo>
                  <a:pt x="6996" y="114832"/>
                  <a:pt x="12221" y="109607"/>
                  <a:pt x="18656" y="10960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0136" y="1305953"/>
            <a:ext cx="1007449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需求分析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799" y="1720126"/>
            <a:ext cx="3654802" cy="2320864"/>
          </a:xfrm>
          <a:prstGeom prst="roundRect">
            <a:avLst>
              <a:gd name="adj" fmla="val 3215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54" y="1891766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65298" y="72294"/>
                </a:moveTo>
                <a:cubicBezTo>
                  <a:pt x="84604" y="72294"/>
                  <a:pt x="100279" y="56619"/>
                  <a:pt x="100279" y="37313"/>
                </a:cubicBezTo>
                <a:cubicBezTo>
                  <a:pt x="100279" y="18006"/>
                  <a:pt x="84604" y="2332"/>
                  <a:pt x="65298" y="2332"/>
                </a:cubicBezTo>
                <a:cubicBezTo>
                  <a:pt x="45991" y="2332"/>
                  <a:pt x="30317" y="18006"/>
                  <a:pt x="30317" y="37313"/>
                </a:cubicBezTo>
                <a:cubicBezTo>
                  <a:pt x="30317" y="56619"/>
                  <a:pt x="45991" y="72294"/>
                  <a:pt x="65298" y="72294"/>
                </a:cubicBezTo>
                <a:close/>
                <a:moveTo>
                  <a:pt x="56640" y="88618"/>
                </a:moveTo>
                <a:cubicBezTo>
                  <a:pt x="27926" y="88618"/>
                  <a:pt x="4664" y="111880"/>
                  <a:pt x="4664" y="140594"/>
                </a:cubicBezTo>
                <a:cubicBezTo>
                  <a:pt x="4664" y="145375"/>
                  <a:pt x="8541" y="149252"/>
                  <a:pt x="13322" y="149252"/>
                </a:cubicBezTo>
                <a:lnTo>
                  <a:pt x="117273" y="149252"/>
                </a:lnTo>
                <a:cubicBezTo>
                  <a:pt x="122054" y="149252"/>
                  <a:pt x="125931" y="145375"/>
                  <a:pt x="125931" y="140594"/>
                </a:cubicBezTo>
                <a:cubicBezTo>
                  <a:pt x="125931" y="111880"/>
                  <a:pt x="102669" y="88618"/>
                  <a:pt x="73955" y="88618"/>
                </a:cubicBezTo>
                <a:lnTo>
                  <a:pt x="56640" y="88618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865660" y="1835797"/>
            <a:ext cx="92349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用户端功能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4470" y="2246239"/>
            <a:ext cx="74626" cy="7462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753721" y="2171613"/>
            <a:ext cx="67163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注册登录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4470" y="2507429"/>
            <a:ext cx="74626" cy="7462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15" name="Text 13"/>
          <p:cNvSpPr/>
          <p:nvPr/>
        </p:nvSpPr>
        <p:spPr>
          <a:xfrm>
            <a:off x="753721" y="2432804"/>
            <a:ext cx="1417891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图书检索与分类浏览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4470" y="2768620"/>
            <a:ext cx="74626" cy="7462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17" name="Text 15"/>
          <p:cNvSpPr/>
          <p:nvPr/>
        </p:nvSpPr>
        <p:spPr>
          <a:xfrm>
            <a:off x="753721" y="2693994"/>
            <a:ext cx="126864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借书、还书、续借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4470" y="3029810"/>
            <a:ext cx="74626" cy="7462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19" name="Text 17"/>
          <p:cNvSpPr/>
          <p:nvPr/>
        </p:nvSpPr>
        <p:spPr>
          <a:xfrm>
            <a:off x="753721" y="2955185"/>
            <a:ext cx="111938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图书预约与排队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4470" y="3291001"/>
            <a:ext cx="74626" cy="74626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21" name="Text 19"/>
          <p:cNvSpPr/>
          <p:nvPr/>
        </p:nvSpPr>
        <p:spPr>
          <a:xfrm>
            <a:off x="753721" y="3216375"/>
            <a:ext cx="126864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评论、收藏、通知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65684" y="1720126"/>
            <a:ext cx="3654802" cy="2320864"/>
          </a:xfrm>
          <a:prstGeom prst="roundRect">
            <a:avLst>
              <a:gd name="adj" fmla="val 3215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90682" y="1891766"/>
            <a:ext cx="167908" cy="149252"/>
          </a:xfrm>
          <a:custGeom>
            <a:avLst/>
            <a:gdLst/>
            <a:ahLst/>
            <a:cxnLst/>
            <a:rect l="l" t="t" r="r" b="b"/>
            <a:pathLst>
              <a:path w="167908" h="149252">
                <a:moveTo>
                  <a:pt x="65298" y="72294"/>
                </a:moveTo>
                <a:cubicBezTo>
                  <a:pt x="84604" y="72294"/>
                  <a:pt x="100279" y="56619"/>
                  <a:pt x="100279" y="37313"/>
                </a:cubicBezTo>
                <a:cubicBezTo>
                  <a:pt x="100279" y="18006"/>
                  <a:pt x="84604" y="2332"/>
                  <a:pt x="65298" y="2332"/>
                </a:cubicBezTo>
                <a:cubicBezTo>
                  <a:pt x="45991" y="2332"/>
                  <a:pt x="30317" y="18006"/>
                  <a:pt x="30317" y="37313"/>
                </a:cubicBezTo>
                <a:cubicBezTo>
                  <a:pt x="30317" y="56619"/>
                  <a:pt x="45991" y="72294"/>
                  <a:pt x="65298" y="72294"/>
                </a:cubicBezTo>
                <a:close/>
                <a:moveTo>
                  <a:pt x="56640" y="88618"/>
                </a:moveTo>
                <a:cubicBezTo>
                  <a:pt x="27926" y="88618"/>
                  <a:pt x="4664" y="111880"/>
                  <a:pt x="4664" y="140594"/>
                </a:cubicBezTo>
                <a:cubicBezTo>
                  <a:pt x="4664" y="145375"/>
                  <a:pt x="8541" y="149252"/>
                  <a:pt x="13322" y="149252"/>
                </a:cubicBezTo>
                <a:lnTo>
                  <a:pt x="86636" y="149252"/>
                </a:lnTo>
                <a:cubicBezTo>
                  <a:pt x="76083" y="136834"/>
                  <a:pt x="69962" y="120830"/>
                  <a:pt x="69962" y="103893"/>
                </a:cubicBezTo>
                <a:lnTo>
                  <a:pt x="69962" y="94827"/>
                </a:lnTo>
                <a:cubicBezTo>
                  <a:pt x="69962" y="92699"/>
                  <a:pt x="70253" y="90600"/>
                  <a:pt x="70807" y="88618"/>
                </a:cubicBezTo>
                <a:lnTo>
                  <a:pt x="56640" y="88618"/>
                </a:lnTo>
                <a:close/>
                <a:moveTo>
                  <a:pt x="129808" y="142401"/>
                </a:moveTo>
                <a:lnTo>
                  <a:pt x="125931" y="144238"/>
                </a:lnTo>
                <a:lnTo>
                  <a:pt x="125931" y="89405"/>
                </a:lnTo>
                <a:lnTo>
                  <a:pt x="153916" y="98734"/>
                </a:lnTo>
                <a:lnTo>
                  <a:pt x="153916" y="104447"/>
                </a:lnTo>
                <a:cubicBezTo>
                  <a:pt x="153916" y="120713"/>
                  <a:pt x="144529" y="135493"/>
                  <a:pt x="129808" y="142430"/>
                </a:cubicBezTo>
                <a:close/>
                <a:moveTo>
                  <a:pt x="122987" y="75646"/>
                </a:moveTo>
                <a:lnTo>
                  <a:pt x="90338" y="86519"/>
                </a:lnTo>
                <a:cubicBezTo>
                  <a:pt x="86519" y="87802"/>
                  <a:pt x="83954" y="91358"/>
                  <a:pt x="83954" y="95381"/>
                </a:cubicBezTo>
                <a:lnTo>
                  <a:pt x="83954" y="104447"/>
                </a:lnTo>
                <a:cubicBezTo>
                  <a:pt x="83954" y="126135"/>
                  <a:pt x="96489" y="145870"/>
                  <a:pt x="116078" y="155082"/>
                </a:cubicBezTo>
                <a:lnTo>
                  <a:pt x="121471" y="157618"/>
                </a:lnTo>
                <a:cubicBezTo>
                  <a:pt x="122870" y="158259"/>
                  <a:pt x="124386" y="158609"/>
                  <a:pt x="125902" y="158609"/>
                </a:cubicBezTo>
                <a:cubicBezTo>
                  <a:pt x="127418" y="158609"/>
                  <a:pt x="128963" y="158259"/>
                  <a:pt x="130333" y="157618"/>
                </a:cubicBezTo>
                <a:lnTo>
                  <a:pt x="135726" y="155082"/>
                </a:lnTo>
                <a:cubicBezTo>
                  <a:pt x="155373" y="145841"/>
                  <a:pt x="167908" y="126106"/>
                  <a:pt x="167908" y="104418"/>
                </a:cubicBezTo>
                <a:lnTo>
                  <a:pt x="167908" y="95352"/>
                </a:lnTo>
                <a:cubicBezTo>
                  <a:pt x="167908" y="91329"/>
                  <a:pt x="165343" y="87773"/>
                  <a:pt x="161524" y="86490"/>
                </a:cubicBezTo>
                <a:lnTo>
                  <a:pt x="128875" y="75617"/>
                </a:lnTo>
                <a:cubicBezTo>
                  <a:pt x="126951" y="74976"/>
                  <a:pt x="124882" y="74976"/>
                  <a:pt x="122987" y="7561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4642545" y="1835797"/>
            <a:ext cx="92349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管理端功能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1354" y="2246239"/>
            <a:ext cx="74626" cy="74626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30606" y="2171613"/>
            <a:ext cx="970136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图书信息管理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1354" y="2507429"/>
            <a:ext cx="74626" cy="74626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4530606" y="2432804"/>
            <a:ext cx="111938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分类与用户管理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1354" y="2768620"/>
            <a:ext cx="74626" cy="74626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4530606" y="2693994"/>
            <a:ext cx="970136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借阅记录管理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81354" y="3029810"/>
            <a:ext cx="74626" cy="74626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4530606" y="2955185"/>
            <a:ext cx="671633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公告发布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81354" y="3291001"/>
            <a:ext cx="74626" cy="74626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4530606" y="3216375"/>
            <a:ext cx="1119388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罚款与统计分析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81354" y="3552191"/>
            <a:ext cx="74626" cy="74626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6" name="Text 34"/>
          <p:cNvSpPr/>
          <p:nvPr/>
        </p:nvSpPr>
        <p:spPr>
          <a:xfrm>
            <a:off x="4530606" y="3477566"/>
            <a:ext cx="970136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操作日志查看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042569" y="1720126"/>
            <a:ext cx="3654802" cy="2320864"/>
          </a:xfrm>
          <a:prstGeom prst="roundRect">
            <a:avLst>
              <a:gd name="adj" fmla="val 3215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76896" y="1891766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74626" y="0"/>
                </a:moveTo>
                <a:cubicBezTo>
                  <a:pt x="75967" y="0"/>
                  <a:pt x="77308" y="292"/>
                  <a:pt x="78532" y="845"/>
                </a:cubicBezTo>
                <a:lnTo>
                  <a:pt x="133452" y="24137"/>
                </a:lnTo>
                <a:cubicBezTo>
                  <a:pt x="139865" y="26848"/>
                  <a:pt x="144646" y="33174"/>
                  <a:pt x="144617" y="40811"/>
                </a:cubicBezTo>
                <a:cubicBezTo>
                  <a:pt x="144471" y="69729"/>
                  <a:pt x="132578" y="122637"/>
                  <a:pt x="82351" y="146686"/>
                </a:cubicBezTo>
                <a:cubicBezTo>
                  <a:pt x="77483" y="149019"/>
                  <a:pt x="71827" y="149019"/>
                  <a:pt x="66959" y="146686"/>
                </a:cubicBezTo>
                <a:cubicBezTo>
                  <a:pt x="16703" y="122637"/>
                  <a:pt x="4839" y="69729"/>
                  <a:pt x="4693" y="40811"/>
                </a:cubicBezTo>
                <a:cubicBezTo>
                  <a:pt x="4664" y="33174"/>
                  <a:pt x="9445" y="26848"/>
                  <a:pt x="15858" y="24137"/>
                </a:cubicBezTo>
                <a:lnTo>
                  <a:pt x="70749" y="845"/>
                </a:lnTo>
                <a:cubicBezTo>
                  <a:pt x="71973" y="292"/>
                  <a:pt x="73285" y="0"/>
                  <a:pt x="74626" y="0"/>
                </a:cubicBezTo>
                <a:close/>
                <a:moveTo>
                  <a:pt x="74626" y="19473"/>
                </a:moveTo>
                <a:lnTo>
                  <a:pt x="74626" y="129692"/>
                </a:lnTo>
                <a:cubicBezTo>
                  <a:pt x="114854" y="110219"/>
                  <a:pt x="125669" y="67076"/>
                  <a:pt x="125931" y="41248"/>
                </a:cubicBezTo>
                <a:lnTo>
                  <a:pt x="74626" y="19502"/>
                </a:lnTo>
                <a:lnTo>
                  <a:pt x="74626" y="1950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9" name="Text 37"/>
          <p:cNvSpPr/>
          <p:nvPr/>
        </p:nvSpPr>
        <p:spPr>
          <a:xfrm>
            <a:off x="8419430" y="1835797"/>
            <a:ext cx="92349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非功能需求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93220" y="2208926"/>
            <a:ext cx="97946" cy="130595"/>
          </a:xfrm>
          <a:custGeom>
            <a:avLst/>
            <a:gdLst/>
            <a:ahLst/>
            <a:cxnLst/>
            <a:rect l="l" t="t" r="r" b="b"/>
            <a:pathLst>
              <a:path w="97946" h="130595">
                <a:moveTo>
                  <a:pt x="32649" y="24487"/>
                </a:moveTo>
                <a:lnTo>
                  <a:pt x="32649" y="40811"/>
                </a:lnTo>
                <a:lnTo>
                  <a:pt x="65298" y="40811"/>
                </a:lnTo>
                <a:lnTo>
                  <a:pt x="65298" y="24487"/>
                </a:lnTo>
                <a:cubicBezTo>
                  <a:pt x="65298" y="15483"/>
                  <a:pt x="57977" y="8162"/>
                  <a:pt x="48973" y="8162"/>
                </a:cubicBezTo>
                <a:cubicBezTo>
                  <a:pt x="39969" y="8162"/>
                  <a:pt x="32649" y="15483"/>
                  <a:pt x="32649" y="24487"/>
                </a:cubicBezTo>
                <a:close/>
                <a:moveTo>
                  <a:pt x="16324" y="40811"/>
                </a:moveTo>
                <a:lnTo>
                  <a:pt x="16324" y="24487"/>
                </a:lnTo>
                <a:cubicBezTo>
                  <a:pt x="16324" y="6453"/>
                  <a:pt x="30940" y="-8162"/>
                  <a:pt x="48973" y="-8162"/>
                </a:cubicBezTo>
                <a:cubicBezTo>
                  <a:pt x="67007" y="-8162"/>
                  <a:pt x="81622" y="6453"/>
                  <a:pt x="81622" y="24487"/>
                </a:cubicBezTo>
                <a:lnTo>
                  <a:pt x="81622" y="40811"/>
                </a:lnTo>
                <a:cubicBezTo>
                  <a:pt x="90626" y="40811"/>
                  <a:pt x="97946" y="48131"/>
                  <a:pt x="97946" y="57135"/>
                </a:cubicBezTo>
                <a:lnTo>
                  <a:pt x="97946" y="114271"/>
                </a:lnTo>
                <a:cubicBezTo>
                  <a:pt x="97946" y="123275"/>
                  <a:pt x="90626" y="130595"/>
                  <a:pt x="81622" y="130595"/>
                </a:cubicBezTo>
                <a:lnTo>
                  <a:pt x="16324" y="130595"/>
                </a:lnTo>
                <a:cubicBezTo>
                  <a:pt x="7320" y="130595"/>
                  <a:pt x="0" y="123275"/>
                  <a:pt x="0" y="114271"/>
                </a:cubicBezTo>
                <a:lnTo>
                  <a:pt x="0" y="57135"/>
                </a:lnTo>
                <a:cubicBezTo>
                  <a:pt x="0" y="48131"/>
                  <a:pt x="7320" y="40811"/>
                  <a:pt x="16324" y="4081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8396109" y="2171613"/>
            <a:ext cx="177236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安全性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96109" y="2395491"/>
            <a:ext cx="1763036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JWT认证授权与角色访问控制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168733" y="2656681"/>
            <a:ext cx="146920" cy="130595"/>
          </a:xfrm>
          <a:custGeom>
            <a:avLst/>
            <a:gdLst/>
            <a:ahLst/>
            <a:cxnLst/>
            <a:rect l="l" t="t" r="r" b="b"/>
            <a:pathLst>
              <a:path w="146920" h="130595">
                <a:moveTo>
                  <a:pt x="129932" y="25150"/>
                </a:moveTo>
                <a:cubicBezTo>
                  <a:pt x="131871" y="23211"/>
                  <a:pt x="135110" y="23696"/>
                  <a:pt x="136079" y="26247"/>
                </a:cubicBezTo>
                <a:cubicBezTo>
                  <a:pt x="137814" y="30761"/>
                  <a:pt x="138757" y="35684"/>
                  <a:pt x="138757" y="40811"/>
                </a:cubicBezTo>
                <a:cubicBezTo>
                  <a:pt x="138757" y="63359"/>
                  <a:pt x="120495" y="81622"/>
                  <a:pt x="97946" y="81622"/>
                </a:cubicBezTo>
                <a:cubicBezTo>
                  <a:pt x="93483" y="81622"/>
                  <a:pt x="89172" y="80908"/>
                  <a:pt x="85142" y="79581"/>
                </a:cubicBezTo>
                <a:lnTo>
                  <a:pt x="37470" y="127254"/>
                </a:lnTo>
                <a:cubicBezTo>
                  <a:pt x="30302" y="134421"/>
                  <a:pt x="18671" y="134421"/>
                  <a:pt x="11504" y="127254"/>
                </a:cubicBezTo>
                <a:cubicBezTo>
                  <a:pt x="4336" y="120086"/>
                  <a:pt x="4336" y="108455"/>
                  <a:pt x="11504" y="101288"/>
                </a:cubicBezTo>
                <a:lnTo>
                  <a:pt x="59176" y="53615"/>
                </a:lnTo>
                <a:cubicBezTo>
                  <a:pt x="57850" y="49585"/>
                  <a:pt x="57135" y="45300"/>
                  <a:pt x="57135" y="40811"/>
                </a:cubicBezTo>
                <a:cubicBezTo>
                  <a:pt x="57135" y="18263"/>
                  <a:pt x="75398" y="0"/>
                  <a:pt x="97946" y="0"/>
                </a:cubicBezTo>
                <a:cubicBezTo>
                  <a:pt x="103073" y="0"/>
                  <a:pt x="107996" y="944"/>
                  <a:pt x="112511" y="2678"/>
                </a:cubicBezTo>
                <a:cubicBezTo>
                  <a:pt x="115062" y="3647"/>
                  <a:pt x="115521" y="6887"/>
                  <a:pt x="113608" y="8825"/>
                </a:cubicBezTo>
                <a:lnTo>
                  <a:pt x="90983" y="31450"/>
                </a:lnTo>
                <a:cubicBezTo>
                  <a:pt x="90218" y="32215"/>
                  <a:pt x="89784" y="33261"/>
                  <a:pt x="89784" y="34332"/>
                </a:cubicBezTo>
                <a:lnTo>
                  <a:pt x="89784" y="44892"/>
                </a:lnTo>
                <a:cubicBezTo>
                  <a:pt x="89784" y="47137"/>
                  <a:pt x="91621" y="48973"/>
                  <a:pt x="93865" y="48973"/>
                </a:cubicBezTo>
                <a:lnTo>
                  <a:pt x="104425" y="48973"/>
                </a:lnTo>
                <a:cubicBezTo>
                  <a:pt x="105496" y="48973"/>
                  <a:pt x="106542" y="48540"/>
                  <a:pt x="107307" y="47774"/>
                </a:cubicBezTo>
                <a:lnTo>
                  <a:pt x="129932" y="25150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8396109" y="2619368"/>
            <a:ext cx="151117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可维护性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96109" y="2843246"/>
            <a:ext cx="1501845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分层架构，模块职责清晰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85058" y="3104436"/>
            <a:ext cx="114271" cy="130595"/>
          </a:xfrm>
          <a:custGeom>
            <a:avLst/>
            <a:gdLst/>
            <a:ahLst/>
            <a:cxnLst/>
            <a:rect l="l" t="t" r="r" b="b"/>
            <a:pathLst>
              <a:path w="114271" h="130595">
                <a:moveTo>
                  <a:pt x="42852" y="8162"/>
                </a:moveTo>
                <a:lnTo>
                  <a:pt x="6122" y="8162"/>
                </a:lnTo>
                <a:cubicBezTo>
                  <a:pt x="2729" y="8162"/>
                  <a:pt x="0" y="10891"/>
                  <a:pt x="0" y="14284"/>
                </a:cubicBezTo>
                <a:lnTo>
                  <a:pt x="0" y="51014"/>
                </a:lnTo>
                <a:cubicBezTo>
                  <a:pt x="0" y="53488"/>
                  <a:pt x="1479" y="55733"/>
                  <a:pt x="3775" y="56676"/>
                </a:cubicBezTo>
                <a:cubicBezTo>
                  <a:pt x="6071" y="57620"/>
                  <a:pt x="8698" y="57084"/>
                  <a:pt x="10458" y="55350"/>
                </a:cubicBezTo>
                <a:lnTo>
                  <a:pt x="20661" y="45147"/>
                </a:lnTo>
                <a:lnTo>
                  <a:pt x="40811" y="65298"/>
                </a:lnTo>
                <a:lnTo>
                  <a:pt x="20661" y="85448"/>
                </a:lnTo>
                <a:lnTo>
                  <a:pt x="10458" y="75245"/>
                </a:lnTo>
                <a:cubicBezTo>
                  <a:pt x="8698" y="73485"/>
                  <a:pt x="6071" y="72975"/>
                  <a:pt x="3775" y="73919"/>
                </a:cubicBezTo>
                <a:cubicBezTo>
                  <a:pt x="1479" y="74863"/>
                  <a:pt x="0" y="77107"/>
                  <a:pt x="0" y="79581"/>
                </a:cubicBezTo>
                <a:lnTo>
                  <a:pt x="0" y="116311"/>
                </a:lnTo>
                <a:cubicBezTo>
                  <a:pt x="0" y="119704"/>
                  <a:pt x="2729" y="122433"/>
                  <a:pt x="6122" y="122433"/>
                </a:cubicBezTo>
                <a:lnTo>
                  <a:pt x="42852" y="122433"/>
                </a:lnTo>
                <a:cubicBezTo>
                  <a:pt x="45326" y="122433"/>
                  <a:pt x="47570" y="120954"/>
                  <a:pt x="48514" y="118658"/>
                </a:cubicBezTo>
                <a:cubicBezTo>
                  <a:pt x="49458" y="116362"/>
                  <a:pt x="48948" y="113735"/>
                  <a:pt x="47188" y="111975"/>
                </a:cubicBezTo>
                <a:lnTo>
                  <a:pt x="36985" y="101772"/>
                </a:lnTo>
                <a:lnTo>
                  <a:pt x="57135" y="81622"/>
                </a:lnTo>
                <a:lnTo>
                  <a:pt x="77286" y="101772"/>
                </a:lnTo>
                <a:lnTo>
                  <a:pt x="67083" y="111975"/>
                </a:lnTo>
                <a:cubicBezTo>
                  <a:pt x="65323" y="113735"/>
                  <a:pt x="64813" y="116362"/>
                  <a:pt x="65757" y="118658"/>
                </a:cubicBezTo>
                <a:cubicBezTo>
                  <a:pt x="66701" y="120954"/>
                  <a:pt x="68945" y="122433"/>
                  <a:pt x="71419" y="122433"/>
                </a:cubicBezTo>
                <a:lnTo>
                  <a:pt x="108149" y="122433"/>
                </a:lnTo>
                <a:cubicBezTo>
                  <a:pt x="111542" y="122433"/>
                  <a:pt x="114271" y="119704"/>
                  <a:pt x="114271" y="116311"/>
                </a:cubicBezTo>
                <a:lnTo>
                  <a:pt x="114271" y="79581"/>
                </a:lnTo>
                <a:cubicBezTo>
                  <a:pt x="114271" y="77107"/>
                  <a:pt x="112791" y="74863"/>
                  <a:pt x="110496" y="73919"/>
                </a:cubicBezTo>
                <a:cubicBezTo>
                  <a:pt x="108200" y="72975"/>
                  <a:pt x="105573" y="73485"/>
                  <a:pt x="103813" y="75245"/>
                </a:cubicBezTo>
                <a:lnTo>
                  <a:pt x="93610" y="85448"/>
                </a:lnTo>
                <a:lnTo>
                  <a:pt x="73460" y="65298"/>
                </a:lnTo>
                <a:lnTo>
                  <a:pt x="93610" y="45147"/>
                </a:lnTo>
                <a:lnTo>
                  <a:pt x="103813" y="55350"/>
                </a:lnTo>
                <a:cubicBezTo>
                  <a:pt x="105573" y="57110"/>
                  <a:pt x="108200" y="57620"/>
                  <a:pt x="110496" y="56676"/>
                </a:cubicBezTo>
                <a:cubicBezTo>
                  <a:pt x="112791" y="55733"/>
                  <a:pt x="114271" y="53488"/>
                  <a:pt x="114271" y="51014"/>
                </a:cubicBezTo>
                <a:lnTo>
                  <a:pt x="114271" y="14284"/>
                </a:lnTo>
                <a:cubicBezTo>
                  <a:pt x="114271" y="10891"/>
                  <a:pt x="111542" y="8162"/>
                  <a:pt x="108149" y="8162"/>
                </a:cubicBezTo>
                <a:lnTo>
                  <a:pt x="71419" y="8162"/>
                </a:lnTo>
                <a:cubicBezTo>
                  <a:pt x="68945" y="8162"/>
                  <a:pt x="66701" y="9642"/>
                  <a:pt x="65757" y="11937"/>
                </a:cubicBezTo>
                <a:cubicBezTo>
                  <a:pt x="64813" y="14233"/>
                  <a:pt x="65349" y="16860"/>
                  <a:pt x="67083" y="18620"/>
                </a:cubicBezTo>
                <a:lnTo>
                  <a:pt x="77286" y="28823"/>
                </a:lnTo>
                <a:lnTo>
                  <a:pt x="57135" y="48973"/>
                </a:lnTo>
                <a:lnTo>
                  <a:pt x="36985" y="28823"/>
                </a:lnTo>
                <a:lnTo>
                  <a:pt x="47188" y="18620"/>
                </a:lnTo>
                <a:cubicBezTo>
                  <a:pt x="48948" y="16860"/>
                  <a:pt x="49458" y="14233"/>
                  <a:pt x="48514" y="11937"/>
                </a:cubicBezTo>
                <a:cubicBezTo>
                  <a:pt x="47570" y="9642"/>
                  <a:pt x="45326" y="8162"/>
                  <a:pt x="42852" y="8162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8396109" y="3067123"/>
            <a:ext cx="177236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96109" y="3291001"/>
            <a:ext cx="1763036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支持预约、通知、导出等扩展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85058" y="3552191"/>
            <a:ext cx="114271" cy="130595"/>
          </a:xfrm>
          <a:custGeom>
            <a:avLst/>
            <a:gdLst/>
            <a:ahLst/>
            <a:cxnLst/>
            <a:rect l="l" t="t" r="r" b="b"/>
            <a:pathLst>
              <a:path w="114271" h="130595">
                <a:moveTo>
                  <a:pt x="32649" y="10203"/>
                </a:moveTo>
                <a:cubicBezTo>
                  <a:pt x="32649" y="4566"/>
                  <a:pt x="37215" y="0"/>
                  <a:pt x="42852" y="0"/>
                </a:cubicBezTo>
                <a:cubicBezTo>
                  <a:pt x="48489" y="0"/>
                  <a:pt x="53054" y="4566"/>
                  <a:pt x="53054" y="10203"/>
                </a:cubicBezTo>
                <a:lnTo>
                  <a:pt x="53054" y="48004"/>
                </a:lnTo>
                <a:cubicBezTo>
                  <a:pt x="55222" y="46065"/>
                  <a:pt x="58079" y="44892"/>
                  <a:pt x="61217" y="44892"/>
                </a:cubicBezTo>
                <a:cubicBezTo>
                  <a:pt x="66471" y="44892"/>
                  <a:pt x="70960" y="48208"/>
                  <a:pt x="72695" y="52850"/>
                </a:cubicBezTo>
                <a:cubicBezTo>
                  <a:pt x="74939" y="50478"/>
                  <a:pt x="78102" y="48973"/>
                  <a:pt x="81622" y="48973"/>
                </a:cubicBezTo>
                <a:cubicBezTo>
                  <a:pt x="88075" y="48973"/>
                  <a:pt x="93355" y="53947"/>
                  <a:pt x="93840" y="60273"/>
                </a:cubicBezTo>
                <a:cubicBezTo>
                  <a:pt x="96008" y="58309"/>
                  <a:pt x="98890" y="57135"/>
                  <a:pt x="102028" y="57135"/>
                </a:cubicBezTo>
                <a:cubicBezTo>
                  <a:pt x="108787" y="57135"/>
                  <a:pt x="114271" y="62619"/>
                  <a:pt x="114271" y="69379"/>
                </a:cubicBezTo>
                <a:lnTo>
                  <a:pt x="114271" y="97946"/>
                </a:lnTo>
                <a:cubicBezTo>
                  <a:pt x="114271" y="115980"/>
                  <a:pt x="99655" y="130595"/>
                  <a:pt x="81622" y="130595"/>
                </a:cubicBezTo>
                <a:lnTo>
                  <a:pt x="59865" y="130595"/>
                </a:lnTo>
                <a:cubicBezTo>
                  <a:pt x="58589" y="130595"/>
                  <a:pt x="57339" y="130519"/>
                  <a:pt x="56115" y="130340"/>
                </a:cubicBezTo>
                <a:cubicBezTo>
                  <a:pt x="42010" y="128912"/>
                  <a:pt x="29027" y="121668"/>
                  <a:pt x="20406" y="110190"/>
                </a:cubicBezTo>
                <a:lnTo>
                  <a:pt x="2041" y="85703"/>
                </a:lnTo>
                <a:cubicBezTo>
                  <a:pt x="-1352" y="81188"/>
                  <a:pt x="-434" y="74812"/>
                  <a:pt x="4081" y="71419"/>
                </a:cubicBezTo>
                <a:cubicBezTo>
                  <a:pt x="8596" y="68027"/>
                  <a:pt x="14973" y="68945"/>
                  <a:pt x="18365" y="73460"/>
                </a:cubicBezTo>
                <a:lnTo>
                  <a:pt x="32649" y="92513"/>
                </a:lnTo>
                <a:lnTo>
                  <a:pt x="32649" y="10203"/>
                </a:lnTo>
                <a:close/>
                <a:moveTo>
                  <a:pt x="61217" y="77541"/>
                </a:moveTo>
                <a:cubicBezTo>
                  <a:pt x="61217" y="75296"/>
                  <a:pt x="59380" y="73460"/>
                  <a:pt x="57135" y="73460"/>
                </a:cubicBezTo>
                <a:cubicBezTo>
                  <a:pt x="54891" y="73460"/>
                  <a:pt x="53054" y="75296"/>
                  <a:pt x="53054" y="77541"/>
                </a:cubicBezTo>
                <a:lnTo>
                  <a:pt x="53054" y="102028"/>
                </a:lnTo>
                <a:cubicBezTo>
                  <a:pt x="53054" y="104272"/>
                  <a:pt x="54891" y="106109"/>
                  <a:pt x="57135" y="106109"/>
                </a:cubicBezTo>
                <a:cubicBezTo>
                  <a:pt x="59380" y="106109"/>
                  <a:pt x="61217" y="104272"/>
                  <a:pt x="61217" y="102028"/>
                </a:cubicBezTo>
                <a:lnTo>
                  <a:pt x="61217" y="77541"/>
                </a:lnTo>
                <a:close/>
                <a:moveTo>
                  <a:pt x="73460" y="73460"/>
                </a:moveTo>
                <a:cubicBezTo>
                  <a:pt x="71215" y="73460"/>
                  <a:pt x="69379" y="75296"/>
                  <a:pt x="69379" y="77541"/>
                </a:cubicBezTo>
                <a:lnTo>
                  <a:pt x="69379" y="102028"/>
                </a:lnTo>
                <a:cubicBezTo>
                  <a:pt x="69379" y="104272"/>
                  <a:pt x="71215" y="106109"/>
                  <a:pt x="73460" y="106109"/>
                </a:cubicBezTo>
                <a:cubicBezTo>
                  <a:pt x="75704" y="106109"/>
                  <a:pt x="77541" y="104272"/>
                  <a:pt x="77541" y="102028"/>
                </a:cubicBezTo>
                <a:lnTo>
                  <a:pt x="77541" y="77541"/>
                </a:lnTo>
                <a:cubicBezTo>
                  <a:pt x="77541" y="75296"/>
                  <a:pt x="75704" y="73460"/>
                  <a:pt x="73460" y="73460"/>
                </a:cubicBezTo>
                <a:close/>
                <a:moveTo>
                  <a:pt x="93865" y="77541"/>
                </a:moveTo>
                <a:cubicBezTo>
                  <a:pt x="93865" y="75296"/>
                  <a:pt x="92029" y="73460"/>
                  <a:pt x="89784" y="73460"/>
                </a:cubicBezTo>
                <a:cubicBezTo>
                  <a:pt x="87540" y="73460"/>
                  <a:pt x="85703" y="75296"/>
                  <a:pt x="85703" y="77541"/>
                </a:cubicBezTo>
                <a:lnTo>
                  <a:pt x="85703" y="102028"/>
                </a:lnTo>
                <a:cubicBezTo>
                  <a:pt x="85703" y="104272"/>
                  <a:pt x="87540" y="106109"/>
                  <a:pt x="89784" y="106109"/>
                </a:cubicBezTo>
                <a:cubicBezTo>
                  <a:pt x="92029" y="106109"/>
                  <a:pt x="93865" y="104272"/>
                  <a:pt x="93865" y="102028"/>
                </a:cubicBezTo>
                <a:lnTo>
                  <a:pt x="93865" y="77541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0" name="Text 48"/>
          <p:cNvSpPr/>
          <p:nvPr/>
        </p:nvSpPr>
        <p:spPr>
          <a:xfrm>
            <a:off x="8396109" y="3514878"/>
            <a:ext cx="1511174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易用性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96109" y="3738756"/>
            <a:ext cx="1501845" cy="186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管理端与用户端界面分离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73129" y="4231286"/>
            <a:ext cx="11445741" cy="2257432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/>
          <a:effectLst>
            <a:outerShdw blurRad="27985" dist="932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5068" y="4343225"/>
            <a:ext cx="373129" cy="373129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54" name="Shape 52"/>
          <p:cNvSpPr/>
          <p:nvPr/>
        </p:nvSpPr>
        <p:spPr>
          <a:xfrm>
            <a:off x="597007" y="4455164"/>
            <a:ext cx="149252" cy="149252"/>
          </a:xfrm>
          <a:custGeom>
            <a:avLst/>
            <a:gdLst/>
            <a:ahLst/>
            <a:cxnLst/>
            <a:rect l="l" t="t" r="r" b="b"/>
            <a:pathLst>
              <a:path w="149252" h="149252">
                <a:moveTo>
                  <a:pt x="74626" y="149252"/>
                </a:moveTo>
                <a:cubicBezTo>
                  <a:pt x="115813" y="149252"/>
                  <a:pt x="149252" y="115813"/>
                  <a:pt x="149252" y="74626"/>
                </a:cubicBezTo>
                <a:cubicBezTo>
                  <a:pt x="149252" y="33439"/>
                  <a:pt x="115813" y="0"/>
                  <a:pt x="74626" y="0"/>
                </a:cubicBezTo>
                <a:cubicBezTo>
                  <a:pt x="33439" y="0"/>
                  <a:pt x="0" y="33439"/>
                  <a:pt x="0" y="74626"/>
                </a:cubicBezTo>
                <a:cubicBezTo>
                  <a:pt x="0" y="115813"/>
                  <a:pt x="33439" y="149252"/>
                  <a:pt x="74626" y="149252"/>
                </a:cubicBezTo>
                <a:close/>
                <a:moveTo>
                  <a:pt x="99229" y="62004"/>
                </a:moveTo>
                <a:lnTo>
                  <a:pt x="75908" y="99317"/>
                </a:lnTo>
                <a:cubicBezTo>
                  <a:pt x="74684" y="101270"/>
                  <a:pt x="72585" y="102494"/>
                  <a:pt x="70282" y="102611"/>
                </a:cubicBezTo>
                <a:cubicBezTo>
                  <a:pt x="67979" y="102727"/>
                  <a:pt x="65764" y="101678"/>
                  <a:pt x="64394" y="99812"/>
                </a:cubicBezTo>
                <a:lnTo>
                  <a:pt x="50402" y="81156"/>
                </a:lnTo>
                <a:cubicBezTo>
                  <a:pt x="48070" y="78066"/>
                  <a:pt x="48711" y="73693"/>
                  <a:pt x="51801" y="71361"/>
                </a:cubicBezTo>
                <a:cubicBezTo>
                  <a:pt x="54891" y="69029"/>
                  <a:pt x="59263" y="69670"/>
                  <a:pt x="61595" y="72760"/>
                </a:cubicBezTo>
                <a:lnTo>
                  <a:pt x="69466" y="83254"/>
                </a:lnTo>
                <a:lnTo>
                  <a:pt x="87365" y="54599"/>
                </a:lnTo>
                <a:cubicBezTo>
                  <a:pt x="89405" y="51334"/>
                  <a:pt x="93720" y="50314"/>
                  <a:pt x="97014" y="52384"/>
                </a:cubicBezTo>
                <a:cubicBezTo>
                  <a:pt x="100308" y="54454"/>
                  <a:pt x="101299" y="58739"/>
                  <a:pt x="99229" y="620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970136" y="4380538"/>
            <a:ext cx="1231327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可行性分析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488799" y="4794712"/>
            <a:ext cx="3654802" cy="1574606"/>
          </a:xfrm>
          <a:prstGeom prst="roundRect">
            <a:avLst>
              <a:gd name="adj" fmla="val 4739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56292" y="4910383"/>
            <a:ext cx="522381" cy="522381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58" name="Shape 56"/>
          <p:cNvSpPr/>
          <p:nvPr/>
        </p:nvSpPr>
        <p:spPr>
          <a:xfrm>
            <a:off x="2191552" y="5059635"/>
            <a:ext cx="251862" cy="223878"/>
          </a:xfrm>
          <a:custGeom>
            <a:avLst/>
            <a:gdLst/>
            <a:ahLst/>
            <a:cxnLst/>
            <a:rect l="l" t="t" r="r" b="b"/>
            <a:pathLst>
              <a:path w="251862" h="223878">
                <a:moveTo>
                  <a:pt x="157764" y="525"/>
                </a:moveTo>
                <a:cubicBezTo>
                  <a:pt x="150330" y="-1618"/>
                  <a:pt x="142591" y="2711"/>
                  <a:pt x="140448" y="10144"/>
                </a:cubicBezTo>
                <a:lnTo>
                  <a:pt x="84479" y="206037"/>
                </a:lnTo>
                <a:cubicBezTo>
                  <a:pt x="82336" y="213471"/>
                  <a:pt x="86665" y="221210"/>
                  <a:pt x="94099" y="223353"/>
                </a:cubicBezTo>
                <a:cubicBezTo>
                  <a:pt x="101532" y="225495"/>
                  <a:pt x="109271" y="221167"/>
                  <a:pt x="111414" y="213733"/>
                </a:cubicBezTo>
                <a:lnTo>
                  <a:pt x="167383" y="17840"/>
                </a:lnTo>
                <a:cubicBezTo>
                  <a:pt x="169526" y="10407"/>
                  <a:pt x="165197" y="2667"/>
                  <a:pt x="157764" y="525"/>
                </a:cubicBezTo>
                <a:close/>
                <a:moveTo>
                  <a:pt x="186011" y="60036"/>
                </a:moveTo>
                <a:cubicBezTo>
                  <a:pt x="180545" y="65502"/>
                  <a:pt x="180545" y="74378"/>
                  <a:pt x="186011" y="79844"/>
                </a:cubicBezTo>
                <a:lnTo>
                  <a:pt x="218106" y="111939"/>
                </a:lnTo>
                <a:lnTo>
                  <a:pt x="186011" y="144034"/>
                </a:lnTo>
                <a:cubicBezTo>
                  <a:pt x="180545" y="149500"/>
                  <a:pt x="180545" y="158376"/>
                  <a:pt x="186011" y="163842"/>
                </a:cubicBezTo>
                <a:cubicBezTo>
                  <a:pt x="191477" y="169307"/>
                  <a:pt x="200353" y="169307"/>
                  <a:pt x="205819" y="163842"/>
                </a:cubicBezTo>
                <a:lnTo>
                  <a:pt x="247796" y="121865"/>
                </a:lnTo>
                <a:cubicBezTo>
                  <a:pt x="253262" y="116399"/>
                  <a:pt x="253262" y="107522"/>
                  <a:pt x="247796" y="102057"/>
                </a:cubicBezTo>
                <a:lnTo>
                  <a:pt x="205819" y="60080"/>
                </a:lnTo>
                <a:cubicBezTo>
                  <a:pt x="200353" y="54614"/>
                  <a:pt x="191477" y="54614"/>
                  <a:pt x="186011" y="60080"/>
                </a:cubicBezTo>
                <a:close/>
                <a:moveTo>
                  <a:pt x="65895" y="60036"/>
                </a:moveTo>
                <a:cubicBezTo>
                  <a:pt x="60429" y="54570"/>
                  <a:pt x="51553" y="54570"/>
                  <a:pt x="46087" y="60036"/>
                </a:cubicBezTo>
                <a:lnTo>
                  <a:pt x="4110" y="102013"/>
                </a:lnTo>
                <a:cubicBezTo>
                  <a:pt x="-1356" y="107479"/>
                  <a:pt x="-1356" y="116355"/>
                  <a:pt x="4110" y="121821"/>
                </a:cubicBezTo>
                <a:lnTo>
                  <a:pt x="46087" y="163798"/>
                </a:lnTo>
                <a:cubicBezTo>
                  <a:pt x="51553" y="169264"/>
                  <a:pt x="60429" y="169264"/>
                  <a:pt x="65895" y="163798"/>
                </a:cubicBezTo>
                <a:cubicBezTo>
                  <a:pt x="71361" y="158332"/>
                  <a:pt x="71361" y="149456"/>
                  <a:pt x="65895" y="143990"/>
                </a:cubicBezTo>
                <a:lnTo>
                  <a:pt x="33800" y="111939"/>
                </a:lnTo>
                <a:lnTo>
                  <a:pt x="65851" y="79844"/>
                </a:lnTo>
                <a:cubicBezTo>
                  <a:pt x="71317" y="74378"/>
                  <a:pt x="71317" y="65502"/>
                  <a:pt x="65851" y="600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562492" y="5507390"/>
            <a:ext cx="350741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技术可行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67157" y="5805893"/>
            <a:ext cx="3498087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Boot、Vue 3、MySQL等技术成熟稳定，社区生态完善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265684" y="4794712"/>
            <a:ext cx="3654802" cy="1574606"/>
          </a:xfrm>
          <a:prstGeom prst="roundRect">
            <a:avLst>
              <a:gd name="adj" fmla="val 4739"/>
            </a:avLst>
          </a:prstGeom>
          <a:gradFill flip="none" rotWithShape="1">
            <a:gsLst>
              <a:gs pos="0">
                <a:srgbClr val="2C3E50">
                  <a:alpha val="5000"/>
                </a:srgbClr>
              </a:gs>
              <a:gs pos="100000">
                <a:srgbClr val="2C3E50">
                  <a:alpha val="10000"/>
                </a:srgbClr>
              </a:gs>
            </a:gsLst>
            <a:lin ang="2700000" scaled="1"/>
          </a:gra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33177" y="4910383"/>
            <a:ext cx="522381" cy="522381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63" name="Shape 61"/>
          <p:cNvSpPr/>
          <p:nvPr/>
        </p:nvSpPr>
        <p:spPr>
          <a:xfrm>
            <a:off x="6024406" y="5059635"/>
            <a:ext cx="139923" cy="223878"/>
          </a:xfrm>
          <a:custGeom>
            <a:avLst/>
            <a:gdLst/>
            <a:ahLst/>
            <a:cxnLst/>
            <a:rect l="l" t="t" r="r" b="b"/>
            <a:pathLst>
              <a:path w="139923" h="223878">
                <a:moveTo>
                  <a:pt x="59467" y="10494"/>
                </a:moveTo>
                <a:cubicBezTo>
                  <a:pt x="59467" y="4679"/>
                  <a:pt x="64146" y="0"/>
                  <a:pt x="69962" y="0"/>
                </a:cubicBezTo>
                <a:cubicBezTo>
                  <a:pt x="75777" y="0"/>
                  <a:pt x="80456" y="4679"/>
                  <a:pt x="80456" y="10494"/>
                </a:cubicBezTo>
                <a:lnTo>
                  <a:pt x="80456" y="27985"/>
                </a:lnTo>
                <a:lnTo>
                  <a:pt x="104943" y="27985"/>
                </a:lnTo>
                <a:cubicBezTo>
                  <a:pt x="112682" y="27985"/>
                  <a:pt x="118935" y="34238"/>
                  <a:pt x="118935" y="41977"/>
                </a:cubicBezTo>
                <a:cubicBezTo>
                  <a:pt x="118935" y="49717"/>
                  <a:pt x="112682" y="55969"/>
                  <a:pt x="104943" y="55969"/>
                </a:cubicBezTo>
                <a:lnTo>
                  <a:pt x="54701" y="55969"/>
                </a:lnTo>
                <a:cubicBezTo>
                  <a:pt x="43814" y="55969"/>
                  <a:pt x="34981" y="64802"/>
                  <a:pt x="34981" y="75690"/>
                </a:cubicBezTo>
                <a:cubicBezTo>
                  <a:pt x="34981" y="85528"/>
                  <a:pt x="42196" y="93836"/>
                  <a:pt x="51903" y="95235"/>
                </a:cubicBezTo>
                <a:lnTo>
                  <a:pt x="91956" y="100964"/>
                </a:lnTo>
                <a:cubicBezTo>
                  <a:pt x="115481" y="104330"/>
                  <a:pt x="132927" y="124444"/>
                  <a:pt x="132927" y="148188"/>
                </a:cubicBezTo>
                <a:cubicBezTo>
                  <a:pt x="132927" y="174555"/>
                  <a:pt x="111545" y="195893"/>
                  <a:pt x="85222" y="195893"/>
                </a:cubicBezTo>
                <a:lnTo>
                  <a:pt x="80456" y="195893"/>
                </a:lnTo>
                <a:lnTo>
                  <a:pt x="80456" y="213383"/>
                </a:lnTo>
                <a:cubicBezTo>
                  <a:pt x="80456" y="219199"/>
                  <a:pt x="75777" y="223878"/>
                  <a:pt x="69962" y="223878"/>
                </a:cubicBezTo>
                <a:cubicBezTo>
                  <a:pt x="64146" y="223878"/>
                  <a:pt x="59467" y="219199"/>
                  <a:pt x="59467" y="213383"/>
                </a:cubicBezTo>
                <a:lnTo>
                  <a:pt x="59467" y="195893"/>
                </a:lnTo>
                <a:lnTo>
                  <a:pt x="27985" y="195893"/>
                </a:lnTo>
                <a:cubicBezTo>
                  <a:pt x="20245" y="195893"/>
                  <a:pt x="13992" y="189640"/>
                  <a:pt x="13992" y="181901"/>
                </a:cubicBezTo>
                <a:cubicBezTo>
                  <a:pt x="13992" y="174161"/>
                  <a:pt x="20245" y="167908"/>
                  <a:pt x="27985" y="167908"/>
                </a:cubicBezTo>
                <a:lnTo>
                  <a:pt x="85222" y="167908"/>
                </a:lnTo>
                <a:cubicBezTo>
                  <a:pt x="96110" y="167908"/>
                  <a:pt x="104943" y="159076"/>
                  <a:pt x="104943" y="148188"/>
                </a:cubicBezTo>
                <a:cubicBezTo>
                  <a:pt x="104943" y="138349"/>
                  <a:pt x="97728" y="130041"/>
                  <a:pt x="88021" y="128642"/>
                </a:cubicBezTo>
                <a:lnTo>
                  <a:pt x="47968" y="122914"/>
                </a:lnTo>
                <a:cubicBezTo>
                  <a:pt x="24443" y="119591"/>
                  <a:pt x="6996" y="99433"/>
                  <a:pt x="6996" y="75690"/>
                </a:cubicBezTo>
                <a:cubicBezTo>
                  <a:pt x="6996" y="49367"/>
                  <a:pt x="28378" y="27985"/>
                  <a:pt x="54701" y="27985"/>
                </a:cubicBezTo>
                <a:lnTo>
                  <a:pt x="59467" y="27985"/>
                </a:lnTo>
                <a:lnTo>
                  <a:pt x="59467" y="104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339377" y="5507390"/>
            <a:ext cx="350741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经济可行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4344041" y="5805893"/>
            <a:ext cx="349808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框架和工具开源免费，开发与部署成本较低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042569" y="4794712"/>
            <a:ext cx="3654802" cy="1574606"/>
          </a:xfrm>
          <a:prstGeom prst="roundRect">
            <a:avLst>
              <a:gd name="adj" fmla="val 4739"/>
            </a:avLst>
          </a:prstGeom>
          <a:gradFill flip="none" rotWithShape="1">
            <a:gsLst>
              <a:gs pos="0">
                <a:srgbClr val="E67E22">
                  <a:alpha val="5000"/>
                </a:srgbClr>
              </a:gs>
              <a:gs pos="100000">
                <a:srgbClr val="E67E22">
                  <a:alpha val="10000"/>
                </a:srgbClr>
              </a:gs>
            </a:gsLst>
            <a:lin ang="2700000" scaled="1"/>
          </a:gra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610062" y="4910383"/>
            <a:ext cx="522381" cy="522381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68" name="Shape 66"/>
          <p:cNvSpPr/>
          <p:nvPr/>
        </p:nvSpPr>
        <p:spPr>
          <a:xfrm>
            <a:off x="9731329" y="5059635"/>
            <a:ext cx="279847" cy="223878"/>
          </a:xfrm>
          <a:custGeom>
            <a:avLst/>
            <a:gdLst/>
            <a:ahLst/>
            <a:cxnLst/>
            <a:rect l="l" t="t" r="r" b="b"/>
            <a:pathLst>
              <a:path w="279847" h="223878">
                <a:moveTo>
                  <a:pt x="181857" y="92043"/>
                </a:moveTo>
                <a:cubicBezTo>
                  <a:pt x="187191" y="90600"/>
                  <a:pt x="192788" y="93137"/>
                  <a:pt x="195193" y="98078"/>
                </a:cubicBezTo>
                <a:lnTo>
                  <a:pt x="203326" y="114519"/>
                </a:lnTo>
                <a:cubicBezTo>
                  <a:pt x="207830" y="115131"/>
                  <a:pt x="212246" y="116355"/>
                  <a:pt x="216400" y="118060"/>
                </a:cubicBezTo>
                <a:lnTo>
                  <a:pt x="231705" y="107872"/>
                </a:lnTo>
                <a:cubicBezTo>
                  <a:pt x="236296" y="104811"/>
                  <a:pt x="242374" y="105424"/>
                  <a:pt x="246265" y="109315"/>
                </a:cubicBezTo>
                <a:lnTo>
                  <a:pt x="254661" y="117711"/>
                </a:lnTo>
                <a:cubicBezTo>
                  <a:pt x="258552" y="121602"/>
                  <a:pt x="259165" y="127724"/>
                  <a:pt x="256104" y="132271"/>
                </a:cubicBezTo>
                <a:lnTo>
                  <a:pt x="245916" y="147532"/>
                </a:lnTo>
                <a:cubicBezTo>
                  <a:pt x="246746" y="149587"/>
                  <a:pt x="247490" y="151730"/>
                  <a:pt x="248102" y="153960"/>
                </a:cubicBezTo>
                <a:cubicBezTo>
                  <a:pt x="248714" y="156190"/>
                  <a:pt x="249108" y="158376"/>
                  <a:pt x="249414" y="160606"/>
                </a:cubicBezTo>
                <a:lnTo>
                  <a:pt x="265898" y="168739"/>
                </a:lnTo>
                <a:cubicBezTo>
                  <a:pt x="270839" y="171188"/>
                  <a:pt x="273376" y="176785"/>
                  <a:pt x="271933" y="182075"/>
                </a:cubicBezTo>
                <a:lnTo>
                  <a:pt x="268872" y="193532"/>
                </a:lnTo>
                <a:cubicBezTo>
                  <a:pt x="267429" y="198823"/>
                  <a:pt x="262488" y="202408"/>
                  <a:pt x="256978" y="202058"/>
                </a:cubicBezTo>
                <a:lnTo>
                  <a:pt x="238613" y="200878"/>
                </a:lnTo>
                <a:cubicBezTo>
                  <a:pt x="235859" y="204419"/>
                  <a:pt x="232667" y="207699"/>
                  <a:pt x="229037" y="210497"/>
                </a:cubicBezTo>
                <a:lnTo>
                  <a:pt x="230218" y="228819"/>
                </a:lnTo>
                <a:cubicBezTo>
                  <a:pt x="230568" y="234328"/>
                  <a:pt x="226982" y="239313"/>
                  <a:pt x="221691" y="240712"/>
                </a:cubicBezTo>
                <a:lnTo>
                  <a:pt x="210235" y="243773"/>
                </a:lnTo>
                <a:cubicBezTo>
                  <a:pt x="204900" y="245216"/>
                  <a:pt x="199347" y="242680"/>
                  <a:pt x="196899" y="237739"/>
                </a:cubicBezTo>
                <a:lnTo>
                  <a:pt x="188766" y="221298"/>
                </a:lnTo>
                <a:cubicBezTo>
                  <a:pt x="184262" y="220686"/>
                  <a:pt x="179845" y="219461"/>
                  <a:pt x="175691" y="217756"/>
                </a:cubicBezTo>
                <a:lnTo>
                  <a:pt x="160387" y="227944"/>
                </a:lnTo>
                <a:cubicBezTo>
                  <a:pt x="155796" y="231005"/>
                  <a:pt x="149718" y="230393"/>
                  <a:pt x="145827" y="226501"/>
                </a:cubicBezTo>
                <a:lnTo>
                  <a:pt x="137431" y="218106"/>
                </a:lnTo>
                <a:cubicBezTo>
                  <a:pt x="133539" y="214214"/>
                  <a:pt x="132927" y="208136"/>
                  <a:pt x="135988" y="203545"/>
                </a:cubicBezTo>
                <a:lnTo>
                  <a:pt x="146176" y="188241"/>
                </a:lnTo>
                <a:cubicBezTo>
                  <a:pt x="145346" y="186186"/>
                  <a:pt x="144602" y="184043"/>
                  <a:pt x="143990" y="181813"/>
                </a:cubicBezTo>
                <a:cubicBezTo>
                  <a:pt x="143378" y="179583"/>
                  <a:pt x="142984" y="177353"/>
                  <a:pt x="142678" y="175167"/>
                </a:cubicBezTo>
                <a:lnTo>
                  <a:pt x="126193" y="167034"/>
                </a:lnTo>
                <a:cubicBezTo>
                  <a:pt x="121252" y="164585"/>
                  <a:pt x="118760" y="158988"/>
                  <a:pt x="120159" y="153697"/>
                </a:cubicBezTo>
                <a:lnTo>
                  <a:pt x="123220" y="142241"/>
                </a:lnTo>
                <a:cubicBezTo>
                  <a:pt x="124663" y="136950"/>
                  <a:pt x="129604" y="133365"/>
                  <a:pt x="135114" y="133714"/>
                </a:cubicBezTo>
                <a:lnTo>
                  <a:pt x="153435" y="134895"/>
                </a:lnTo>
                <a:cubicBezTo>
                  <a:pt x="156190" y="131353"/>
                  <a:pt x="159382" y="128074"/>
                  <a:pt x="163011" y="125275"/>
                </a:cubicBezTo>
                <a:lnTo>
                  <a:pt x="161830" y="106998"/>
                </a:lnTo>
                <a:cubicBezTo>
                  <a:pt x="161480" y="101488"/>
                  <a:pt x="165066" y="96503"/>
                  <a:pt x="170357" y="95104"/>
                </a:cubicBezTo>
                <a:lnTo>
                  <a:pt x="181813" y="92043"/>
                </a:lnTo>
                <a:close/>
                <a:moveTo>
                  <a:pt x="196068" y="148669"/>
                </a:moveTo>
                <a:cubicBezTo>
                  <a:pt x="185449" y="148681"/>
                  <a:pt x="176838" y="157311"/>
                  <a:pt x="176850" y="167930"/>
                </a:cubicBezTo>
                <a:cubicBezTo>
                  <a:pt x="176862" y="178549"/>
                  <a:pt x="185493" y="187160"/>
                  <a:pt x="196112" y="187148"/>
                </a:cubicBezTo>
                <a:cubicBezTo>
                  <a:pt x="206730" y="187136"/>
                  <a:pt x="215341" y="178505"/>
                  <a:pt x="215329" y="167886"/>
                </a:cubicBezTo>
                <a:cubicBezTo>
                  <a:pt x="215317" y="157268"/>
                  <a:pt x="206686" y="148657"/>
                  <a:pt x="196068" y="148669"/>
                </a:cubicBezTo>
                <a:close/>
                <a:moveTo>
                  <a:pt x="98340" y="-19895"/>
                </a:moveTo>
                <a:lnTo>
                  <a:pt x="109796" y="-16835"/>
                </a:lnTo>
                <a:cubicBezTo>
                  <a:pt x="115087" y="-15392"/>
                  <a:pt x="118673" y="-10407"/>
                  <a:pt x="118323" y="-4941"/>
                </a:cubicBezTo>
                <a:lnTo>
                  <a:pt x="117142" y="13336"/>
                </a:lnTo>
                <a:cubicBezTo>
                  <a:pt x="120771" y="16135"/>
                  <a:pt x="123963" y="19371"/>
                  <a:pt x="126718" y="22956"/>
                </a:cubicBezTo>
                <a:lnTo>
                  <a:pt x="145083" y="21776"/>
                </a:lnTo>
                <a:cubicBezTo>
                  <a:pt x="150549" y="21426"/>
                  <a:pt x="155534" y="25011"/>
                  <a:pt x="156977" y="30302"/>
                </a:cubicBezTo>
                <a:lnTo>
                  <a:pt x="160037" y="41758"/>
                </a:lnTo>
                <a:cubicBezTo>
                  <a:pt x="161437" y="47049"/>
                  <a:pt x="158944" y="52646"/>
                  <a:pt x="154003" y="55095"/>
                </a:cubicBezTo>
                <a:lnTo>
                  <a:pt x="137519" y="63228"/>
                </a:lnTo>
                <a:cubicBezTo>
                  <a:pt x="137212" y="65458"/>
                  <a:pt x="136775" y="67688"/>
                  <a:pt x="136207" y="69874"/>
                </a:cubicBezTo>
                <a:cubicBezTo>
                  <a:pt x="135638" y="72061"/>
                  <a:pt x="134851" y="74247"/>
                  <a:pt x="134020" y="76302"/>
                </a:cubicBezTo>
                <a:lnTo>
                  <a:pt x="144209" y="91606"/>
                </a:lnTo>
                <a:cubicBezTo>
                  <a:pt x="147269" y="96197"/>
                  <a:pt x="146657" y="102275"/>
                  <a:pt x="142766" y="106167"/>
                </a:cubicBezTo>
                <a:lnTo>
                  <a:pt x="134370" y="114562"/>
                </a:lnTo>
                <a:cubicBezTo>
                  <a:pt x="130479" y="118454"/>
                  <a:pt x="124401" y="119066"/>
                  <a:pt x="119809" y="116005"/>
                </a:cubicBezTo>
                <a:lnTo>
                  <a:pt x="104505" y="105817"/>
                </a:lnTo>
                <a:cubicBezTo>
                  <a:pt x="100351" y="107522"/>
                  <a:pt x="95935" y="108747"/>
                  <a:pt x="91431" y="109359"/>
                </a:cubicBezTo>
                <a:lnTo>
                  <a:pt x="83298" y="125800"/>
                </a:lnTo>
                <a:cubicBezTo>
                  <a:pt x="80850" y="130741"/>
                  <a:pt x="75253" y="133233"/>
                  <a:pt x="69962" y="131834"/>
                </a:cubicBezTo>
                <a:lnTo>
                  <a:pt x="58506" y="128773"/>
                </a:lnTo>
                <a:cubicBezTo>
                  <a:pt x="53171" y="127330"/>
                  <a:pt x="49629" y="122346"/>
                  <a:pt x="49979" y="116880"/>
                </a:cubicBezTo>
                <a:lnTo>
                  <a:pt x="51160" y="98559"/>
                </a:lnTo>
                <a:cubicBezTo>
                  <a:pt x="47530" y="95760"/>
                  <a:pt x="44338" y="92524"/>
                  <a:pt x="41584" y="88939"/>
                </a:cubicBezTo>
                <a:lnTo>
                  <a:pt x="23219" y="90119"/>
                </a:lnTo>
                <a:cubicBezTo>
                  <a:pt x="17753" y="90469"/>
                  <a:pt x="12768" y="86884"/>
                  <a:pt x="11325" y="81593"/>
                </a:cubicBezTo>
                <a:lnTo>
                  <a:pt x="8264" y="70137"/>
                </a:lnTo>
                <a:cubicBezTo>
                  <a:pt x="6865" y="64846"/>
                  <a:pt x="9357" y="59249"/>
                  <a:pt x="14298" y="56800"/>
                </a:cubicBezTo>
                <a:lnTo>
                  <a:pt x="30783" y="48667"/>
                </a:lnTo>
                <a:cubicBezTo>
                  <a:pt x="31089" y="46437"/>
                  <a:pt x="31527" y="44251"/>
                  <a:pt x="32095" y="42021"/>
                </a:cubicBezTo>
                <a:cubicBezTo>
                  <a:pt x="32707" y="39791"/>
                  <a:pt x="33407" y="37648"/>
                  <a:pt x="34281" y="35593"/>
                </a:cubicBezTo>
                <a:lnTo>
                  <a:pt x="24093" y="20333"/>
                </a:lnTo>
                <a:cubicBezTo>
                  <a:pt x="21032" y="15741"/>
                  <a:pt x="21644" y="9663"/>
                  <a:pt x="25536" y="5772"/>
                </a:cubicBezTo>
                <a:lnTo>
                  <a:pt x="33931" y="-2624"/>
                </a:lnTo>
                <a:cubicBezTo>
                  <a:pt x="37823" y="-6515"/>
                  <a:pt x="43901" y="-7127"/>
                  <a:pt x="48492" y="-4067"/>
                </a:cubicBezTo>
                <a:lnTo>
                  <a:pt x="63796" y="6122"/>
                </a:lnTo>
                <a:cubicBezTo>
                  <a:pt x="67950" y="4416"/>
                  <a:pt x="72367" y="3192"/>
                  <a:pt x="76870" y="2580"/>
                </a:cubicBezTo>
                <a:lnTo>
                  <a:pt x="85004" y="-13861"/>
                </a:lnTo>
                <a:cubicBezTo>
                  <a:pt x="87452" y="-18802"/>
                  <a:pt x="93005" y="-21295"/>
                  <a:pt x="98340" y="-19895"/>
                </a:cubicBezTo>
                <a:close/>
                <a:moveTo>
                  <a:pt x="84129" y="36730"/>
                </a:moveTo>
                <a:cubicBezTo>
                  <a:pt x="73510" y="36730"/>
                  <a:pt x="64890" y="45351"/>
                  <a:pt x="64890" y="55969"/>
                </a:cubicBezTo>
                <a:cubicBezTo>
                  <a:pt x="64890" y="66588"/>
                  <a:pt x="73510" y="75209"/>
                  <a:pt x="84129" y="75209"/>
                </a:cubicBezTo>
                <a:cubicBezTo>
                  <a:pt x="94748" y="75209"/>
                  <a:pt x="103368" y="66588"/>
                  <a:pt x="103368" y="55969"/>
                </a:cubicBezTo>
                <a:cubicBezTo>
                  <a:pt x="103368" y="45351"/>
                  <a:pt x="94748" y="36730"/>
                  <a:pt x="84129" y="3673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116262" y="5507390"/>
            <a:ext cx="3507415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2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实现可行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120926" y="5805893"/>
            <a:ext cx="349808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5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系统主要业务流程已完成开发与测试验证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850" y="374850"/>
            <a:ext cx="74970" cy="37485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62275" y="374850"/>
            <a:ext cx="2192873" cy="37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系统总体设计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275" y="824670"/>
            <a:ext cx="11339216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4850" y="1237005"/>
            <a:ext cx="2745777" cy="5247902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4790" y="1386945"/>
            <a:ext cx="374850" cy="37485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637245" y="1499400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56228" y="18743"/>
                </a:moveTo>
                <a:cubicBezTo>
                  <a:pt x="56228" y="13559"/>
                  <a:pt x="60415" y="9371"/>
                  <a:pt x="65599" y="9371"/>
                </a:cubicBezTo>
                <a:lnTo>
                  <a:pt x="84341" y="9371"/>
                </a:lnTo>
                <a:cubicBezTo>
                  <a:pt x="89525" y="9371"/>
                  <a:pt x="93713" y="13559"/>
                  <a:pt x="93713" y="18743"/>
                </a:cubicBezTo>
                <a:lnTo>
                  <a:pt x="93713" y="37485"/>
                </a:lnTo>
                <a:cubicBezTo>
                  <a:pt x="93713" y="42668"/>
                  <a:pt x="89525" y="46856"/>
                  <a:pt x="84341" y="46856"/>
                </a:cubicBezTo>
                <a:lnTo>
                  <a:pt x="81998" y="46856"/>
                </a:lnTo>
                <a:lnTo>
                  <a:pt x="81998" y="65599"/>
                </a:lnTo>
                <a:lnTo>
                  <a:pt x="117141" y="65599"/>
                </a:lnTo>
                <a:cubicBezTo>
                  <a:pt x="128796" y="65599"/>
                  <a:pt x="138226" y="75029"/>
                  <a:pt x="138226" y="86684"/>
                </a:cubicBezTo>
                <a:lnTo>
                  <a:pt x="138226" y="103084"/>
                </a:lnTo>
                <a:lnTo>
                  <a:pt x="140569" y="103084"/>
                </a:lnTo>
                <a:cubicBezTo>
                  <a:pt x="145752" y="103084"/>
                  <a:pt x="149940" y="107272"/>
                  <a:pt x="149940" y="112455"/>
                </a:cubicBezTo>
                <a:lnTo>
                  <a:pt x="149940" y="131198"/>
                </a:lnTo>
                <a:cubicBezTo>
                  <a:pt x="149940" y="136381"/>
                  <a:pt x="145752" y="140569"/>
                  <a:pt x="140569" y="140569"/>
                </a:cubicBezTo>
                <a:lnTo>
                  <a:pt x="121826" y="140569"/>
                </a:lnTo>
                <a:cubicBezTo>
                  <a:pt x="116643" y="140569"/>
                  <a:pt x="112455" y="136381"/>
                  <a:pt x="112455" y="131198"/>
                </a:cubicBezTo>
                <a:lnTo>
                  <a:pt x="112455" y="112455"/>
                </a:lnTo>
                <a:cubicBezTo>
                  <a:pt x="112455" y="107272"/>
                  <a:pt x="116643" y="103084"/>
                  <a:pt x="121826" y="103084"/>
                </a:cubicBezTo>
                <a:lnTo>
                  <a:pt x="124169" y="103084"/>
                </a:lnTo>
                <a:lnTo>
                  <a:pt x="124169" y="86684"/>
                </a:lnTo>
                <a:cubicBezTo>
                  <a:pt x="124169" y="82789"/>
                  <a:pt x="121036" y="79656"/>
                  <a:pt x="117141" y="79656"/>
                </a:cubicBezTo>
                <a:lnTo>
                  <a:pt x="81998" y="79656"/>
                </a:lnTo>
                <a:lnTo>
                  <a:pt x="81998" y="103084"/>
                </a:lnTo>
                <a:lnTo>
                  <a:pt x="84341" y="103084"/>
                </a:lnTo>
                <a:cubicBezTo>
                  <a:pt x="89525" y="103084"/>
                  <a:pt x="93713" y="107272"/>
                  <a:pt x="93713" y="112455"/>
                </a:cubicBezTo>
                <a:lnTo>
                  <a:pt x="93713" y="131198"/>
                </a:lnTo>
                <a:cubicBezTo>
                  <a:pt x="93713" y="136381"/>
                  <a:pt x="89525" y="140569"/>
                  <a:pt x="84341" y="140569"/>
                </a:cubicBezTo>
                <a:lnTo>
                  <a:pt x="65599" y="140569"/>
                </a:lnTo>
                <a:cubicBezTo>
                  <a:pt x="60415" y="140569"/>
                  <a:pt x="56228" y="136381"/>
                  <a:pt x="56228" y="131198"/>
                </a:cubicBezTo>
                <a:lnTo>
                  <a:pt x="56228" y="112455"/>
                </a:lnTo>
                <a:cubicBezTo>
                  <a:pt x="56228" y="107272"/>
                  <a:pt x="60415" y="103084"/>
                  <a:pt x="65599" y="103084"/>
                </a:cubicBezTo>
                <a:lnTo>
                  <a:pt x="67942" y="103084"/>
                </a:lnTo>
                <a:lnTo>
                  <a:pt x="67942" y="79656"/>
                </a:lnTo>
                <a:lnTo>
                  <a:pt x="32799" y="79656"/>
                </a:lnTo>
                <a:cubicBezTo>
                  <a:pt x="28904" y="79656"/>
                  <a:pt x="25771" y="82789"/>
                  <a:pt x="25771" y="86684"/>
                </a:cubicBezTo>
                <a:lnTo>
                  <a:pt x="25771" y="103084"/>
                </a:lnTo>
                <a:lnTo>
                  <a:pt x="28114" y="103084"/>
                </a:lnTo>
                <a:cubicBezTo>
                  <a:pt x="33297" y="103084"/>
                  <a:pt x="37485" y="107272"/>
                  <a:pt x="37485" y="112455"/>
                </a:cubicBezTo>
                <a:lnTo>
                  <a:pt x="37485" y="131198"/>
                </a:lnTo>
                <a:cubicBezTo>
                  <a:pt x="37485" y="136381"/>
                  <a:pt x="33297" y="140569"/>
                  <a:pt x="28114" y="140569"/>
                </a:cubicBezTo>
                <a:lnTo>
                  <a:pt x="9371" y="140569"/>
                </a:lnTo>
                <a:cubicBezTo>
                  <a:pt x="4188" y="140569"/>
                  <a:pt x="0" y="136381"/>
                  <a:pt x="0" y="131198"/>
                </a:cubicBezTo>
                <a:lnTo>
                  <a:pt x="0" y="112455"/>
                </a:lnTo>
                <a:cubicBezTo>
                  <a:pt x="0" y="107272"/>
                  <a:pt x="4188" y="103084"/>
                  <a:pt x="9371" y="103084"/>
                </a:cubicBezTo>
                <a:lnTo>
                  <a:pt x="11714" y="103084"/>
                </a:lnTo>
                <a:lnTo>
                  <a:pt x="11714" y="86684"/>
                </a:lnTo>
                <a:cubicBezTo>
                  <a:pt x="11714" y="75029"/>
                  <a:pt x="21144" y="65599"/>
                  <a:pt x="32799" y="65599"/>
                </a:cubicBezTo>
                <a:lnTo>
                  <a:pt x="67942" y="65599"/>
                </a:lnTo>
                <a:lnTo>
                  <a:pt x="67942" y="46856"/>
                </a:lnTo>
                <a:lnTo>
                  <a:pt x="65599" y="46856"/>
                </a:lnTo>
                <a:cubicBezTo>
                  <a:pt x="60415" y="46856"/>
                  <a:pt x="56228" y="42668"/>
                  <a:pt x="56228" y="37485"/>
                </a:cubicBezTo>
                <a:lnTo>
                  <a:pt x="56228" y="18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12095" y="1443173"/>
            <a:ext cx="843413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架构模式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3533" y="1911736"/>
            <a:ext cx="2427154" cy="637245"/>
          </a:xfrm>
          <a:custGeom>
            <a:avLst/>
            <a:gdLst/>
            <a:ahLst/>
            <a:cxnLst/>
            <a:rect l="l" t="t" r="r" b="b"/>
            <a:pathLst>
              <a:path w="2427154" h="637245">
                <a:moveTo>
                  <a:pt x="37465" y="0"/>
                </a:moveTo>
                <a:lnTo>
                  <a:pt x="2352167" y="0"/>
                </a:lnTo>
                <a:cubicBezTo>
                  <a:pt x="2393550" y="0"/>
                  <a:pt x="2427097" y="33547"/>
                  <a:pt x="2427097" y="74930"/>
                </a:cubicBezTo>
                <a:lnTo>
                  <a:pt x="2427097" y="562229"/>
                </a:lnTo>
                <a:cubicBezTo>
                  <a:pt x="2427131" y="582124"/>
                  <a:pt x="2419251" y="601215"/>
                  <a:pt x="2405195" y="615295"/>
                </a:cubicBezTo>
                <a:cubicBezTo>
                  <a:pt x="2391140" y="629374"/>
                  <a:pt x="2372062" y="637286"/>
                  <a:pt x="2352167" y="637286"/>
                </a:cubicBez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16A085">
              <a:alpha val="5098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3533" y="1911736"/>
            <a:ext cx="37485" cy="637245"/>
          </a:xfrm>
          <a:custGeom>
            <a:avLst/>
            <a:gdLst/>
            <a:ahLst/>
            <a:cxnLst/>
            <a:rect l="l" t="t" r="r" b="b"/>
            <a:pathLst>
              <a:path w="37485" h="637245">
                <a:moveTo>
                  <a:pt x="37465" y="0"/>
                </a:moveTo>
                <a:lnTo>
                  <a:pt x="37465" y="0"/>
                </a:lnTo>
                <a:lnTo>
                  <a:pt x="37465" y="637286"/>
                </a:ln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1" name="Shape 9"/>
          <p:cNvSpPr/>
          <p:nvPr/>
        </p:nvSpPr>
        <p:spPr>
          <a:xfrm>
            <a:off x="693473" y="206167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03054" y="81998"/>
                </a:moveTo>
                <a:lnTo>
                  <a:pt x="47149" y="81998"/>
                </a:lnTo>
                <a:cubicBezTo>
                  <a:pt x="47998" y="100887"/>
                  <a:pt x="52186" y="118283"/>
                  <a:pt x="58131" y="131022"/>
                </a:cubicBezTo>
                <a:cubicBezTo>
                  <a:pt x="61470" y="138197"/>
                  <a:pt x="65072" y="143263"/>
                  <a:pt x="68410" y="146367"/>
                </a:cubicBezTo>
                <a:cubicBezTo>
                  <a:pt x="71690" y="149442"/>
                  <a:pt x="73945" y="149940"/>
                  <a:pt x="75116" y="149940"/>
                </a:cubicBezTo>
                <a:cubicBezTo>
                  <a:pt x="76288" y="149940"/>
                  <a:pt x="78543" y="149442"/>
                  <a:pt x="81823" y="146367"/>
                </a:cubicBezTo>
                <a:cubicBezTo>
                  <a:pt x="85161" y="143263"/>
                  <a:pt x="88763" y="138167"/>
                  <a:pt x="92102" y="131022"/>
                </a:cubicBezTo>
                <a:cubicBezTo>
                  <a:pt x="98047" y="118283"/>
                  <a:pt x="102235" y="100887"/>
                  <a:pt x="103084" y="81998"/>
                </a:cubicBezTo>
                <a:close/>
                <a:moveTo>
                  <a:pt x="47120" y="67942"/>
                </a:moveTo>
                <a:lnTo>
                  <a:pt x="103025" y="67942"/>
                </a:lnTo>
                <a:cubicBezTo>
                  <a:pt x="102205" y="49053"/>
                  <a:pt x="98017" y="31657"/>
                  <a:pt x="92073" y="18918"/>
                </a:cubicBezTo>
                <a:cubicBezTo>
                  <a:pt x="88734" y="11773"/>
                  <a:pt x="85132" y="6677"/>
                  <a:pt x="81793" y="3573"/>
                </a:cubicBezTo>
                <a:cubicBezTo>
                  <a:pt x="78514" y="498"/>
                  <a:pt x="76259" y="0"/>
                  <a:pt x="75087" y="0"/>
                </a:cubicBezTo>
                <a:cubicBezTo>
                  <a:pt x="73916" y="0"/>
                  <a:pt x="71661" y="498"/>
                  <a:pt x="68381" y="3573"/>
                </a:cubicBezTo>
                <a:cubicBezTo>
                  <a:pt x="65042" y="6677"/>
                  <a:pt x="61440" y="11773"/>
                  <a:pt x="58102" y="18918"/>
                </a:cubicBezTo>
                <a:cubicBezTo>
                  <a:pt x="52157" y="31657"/>
                  <a:pt x="47969" y="49053"/>
                  <a:pt x="47120" y="67942"/>
                </a:cubicBezTo>
                <a:close/>
                <a:moveTo>
                  <a:pt x="33063" y="67942"/>
                </a:moveTo>
                <a:cubicBezTo>
                  <a:pt x="34088" y="42873"/>
                  <a:pt x="40560" y="19592"/>
                  <a:pt x="50019" y="4305"/>
                </a:cubicBezTo>
                <a:cubicBezTo>
                  <a:pt x="23047" y="13852"/>
                  <a:pt x="3192" y="38422"/>
                  <a:pt x="439" y="67942"/>
                </a:cubicBezTo>
                <a:lnTo>
                  <a:pt x="33063" y="67942"/>
                </a:lnTo>
                <a:close/>
                <a:moveTo>
                  <a:pt x="439" y="81998"/>
                </a:moveTo>
                <a:cubicBezTo>
                  <a:pt x="3192" y="111518"/>
                  <a:pt x="23047" y="136088"/>
                  <a:pt x="50019" y="145635"/>
                </a:cubicBezTo>
                <a:cubicBezTo>
                  <a:pt x="40560" y="130348"/>
                  <a:pt x="34088" y="107067"/>
                  <a:pt x="33063" y="81998"/>
                </a:cubicBezTo>
                <a:lnTo>
                  <a:pt x="439" y="81998"/>
                </a:lnTo>
                <a:close/>
                <a:moveTo>
                  <a:pt x="117111" y="81998"/>
                </a:moveTo>
                <a:cubicBezTo>
                  <a:pt x="116086" y="107067"/>
                  <a:pt x="109614" y="130348"/>
                  <a:pt x="100155" y="145635"/>
                </a:cubicBezTo>
                <a:cubicBezTo>
                  <a:pt x="127127" y="136059"/>
                  <a:pt x="146982" y="111518"/>
                  <a:pt x="149735" y="81998"/>
                </a:cubicBezTo>
                <a:lnTo>
                  <a:pt x="117111" y="81998"/>
                </a:lnTo>
                <a:close/>
                <a:moveTo>
                  <a:pt x="149735" y="67942"/>
                </a:moveTo>
                <a:cubicBezTo>
                  <a:pt x="146982" y="38422"/>
                  <a:pt x="127127" y="13852"/>
                  <a:pt x="100155" y="4305"/>
                </a:cubicBezTo>
                <a:cubicBezTo>
                  <a:pt x="109614" y="19592"/>
                  <a:pt x="116086" y="42873"/>
                  <a:pt x="117111" y="67942"/>
                </a:cubicBezTo>
                <a:lnTo>
                  <a:pt x="149735" y="67942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2" name="Text 10"/>
          <p:cNvSpPr/>
          <p:nvPr/>
        </p:nvSpPr>
        <p:spPr>
          <a:xfrm>
            <a:off x="974610" y="2024191"/>
            <a:ext cx="1171407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B/S 架构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4610" y="2249101"/>
            <a:ext cx="116203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浏览器/服务器模式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3533" y="2661436"/>
            <a:ext cx="2427154" cy="637245"/>
          </a:xfrm>
          <a:custGeom>
            <a:avLst/>
            <a:gdLst/>
            <a:ahLst/>
            <a:cxnLst/>
            <a:rect l="l" t="t" r="r" b="b"/>
            <a:pathLst>
              <a:path w="2427154" h="637245">
                <a:moveTo>
                  <a:pt x="37465" y="0"/>
                </a:moveTo>
                <a:lnTo>
                  <a:pt x="2352167" y="0"/>
                </a:lnTo>
                <a:cubicBezTo>
                  <a:pt x="2393550" y="0"/>
                  <a:pt x="2427097" y="33547"/>
                  <a:pt x="2427097" y="74930"/>
                </a:cubicBezTo>
                <a:lnTo>
                  <a:pt x="2427097" y="562229"/>
                </a:lnTo>
                <a:cubicBezTo>
                  <a:pt x="2427131" y="582124"/>
                  <a:pt x="2419251" y="601215"/>
                  <a:pt x="2405195" y="615295"/>
                </a:cubicBezTo>
                <a:cubicBezTo>
                  <a:pt x="2391140" y="629374"/>
                  <a:pt x="2372062" y="637286"/>
                  <a:pt x="2352167" y="637286"/>
                </a:cubicBez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2C3E50">
              <a:alpha val="5098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43533" y="2661436"/>
            <a:ext cx="37485" cy="637245"/>
          </a:xfrm>
          <a:custGeom>
            <a:avLst/>
            <a:gdLst/>
            <a:ahLst/>
            <a:cxnLst/>
            <a:rect l="l" t="t" r="r" b="b"/>
            <a:pathLst>
              <a:path w="37485" h="637245">
                <a:moveTo>
                  <a:pt x="37465" y="0"/>
                </a:moveTo>
                <a:lnTo>
                  <a:pt x="37465" y="0"/>
                </a:lnTo>
                <a:lnTo>
                  <a:pt x="37465" y="637286"/>
                </a:ln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Shape 14"/>
          <p:cNvSpPr/>
          <p:nvPr/>
        </p:nvSpPr>
        <p:spPr>
          <a:xfrm>
            <a:off x="693473" y="281137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68088" y="1523"/>
                </a:moveTo>
                <a:cubicBezTo>
                  <a:pt x="72451" y="-498"/>
                  <a:pt x="77489" y="-498"/>
                  <a:pt x="81852" y="1523"/>
                </a:cubicBezTo>
                <a:lnTo>
                  <a:pt x="145869" y="31101"/>
                </a:lnTo>
                <a:cubicBezTo>
                  <a:pt x="148359" y="32243"/>
                  <a:pt x="149940" y="34732"/>
                  <a:pt x="149940" y="37485"/>
                </a:cubicBezTo>
                <a:cubicBezTo>
                  <a:pt x="149940" y="40238"/>
                  <a:pt x="148359" y="42727"/>
                  <a:pt x="145869" y="43869"/>
                </a:cubicBezTo>
                <a:lnTo>
                  <a:pt x="81852" y="73447"/>
                </a:lnTo>
                <a:cubicBezTo>
                  <a:pt x="77489" y="75468"/>
                  <a:pt x="72451" y="75468"/>
                  <a:pt x="68088" y="73447"/>
                </a:cubicBezTo>
                <a:lnTo>
                  <a:pt x="4071" y="43869"/>
                </a:lnTo>
                <a:cubicBezTo>
                  <a:pt x="1581" y="42698"/>
                  <a:pt x="0" y="40209"/>
                  <a:pt x="0" y="37485"/>
                </a:cubicBezTo>
                <a:cubicBezTo>
                  <a:pt x="0" y="34761"/>
                  <a:pt x="1581" y="32243"/>
                  <a:pt x="4071" y="31101"/>
                </a:cubicBezTo>
                <a:lnTo>
                  <a:pt x="68088" y="1523"/>
                </a:lnTo>
                <a:close/>
                <a:moveTo>
                  <a:pt x="14086" y="63959"/>
                </a:moveTo>
                <a:lnTo>
                  <a:pt x="62202" y="86186"/>
                </a:lnTo>
                <a:cubicBezTo>
                  <a:pt x="70314" y="89935"/>
                  <a:pt x="79656" y="89935"/>
                  <a:pt x="87768" y="86186"/>
                </a:cubicBezTo>
                <a:lnTo>
                  <a:pt x="135883" y="63959"/>
                </a:lnTo>
                <a:lnTo>
                  <a:pt x="145869" y="68586"/>
                </a:lnTo>
                <a:cubicBezTo>
                  <a:pt x="148359" y="69728"/>
                  <a:pt x="149940" y="72217"/>
                  <a:pt x="149940" y="74970"/>
                </a:cubicBezTo>
                <a:cubicBezTo>
                  <a:pt x="149940" y="77723"/>
                  <a:pt x="148359" y="80212"/>
                  <a:pt x="145869" y="81354"/>
                </a:cubicBezTo>
                <a:lnTo>
                  <a:pt x="81852" y="110932"/>
                </a:lnTo>
                <a:cubicBezTo>
                  <a:pt x="77489" y="112953"/>
                  <a:pt x="72451" y="112953"/>
                  <a:pt x="68088" y="110932"/>
                </a:cubicBezTo>
                <a:lnTo>
                  <a:pt x="4071" y="81354"/>
                </a:lnTo>
                <a:cubicBezTo>
                  <a:pt x="1581" y="80183"/>
                  <a:pt x="0" y="77694"/>
                  <a:pt x="0" y="74970"/>
                </a:cubicBezTo>
                <a:cubicBezTo>
                  <a:pt x="0" y="72247"/>
                  <a:pt x="1581" y="69728"/>
                  <a:pt x="4071" y="68586"/>
                </a:cubicBezTo>
                <a:lnTo>
                  <a:pt x="14057" y="63959"/>
                </a:lnTo>
                <a:close/>
                <a:moveTo>
                  <a:pt x="4071" y="106071"/>
                </a:moveTo>
                <a:lnTo>
                  <a:pt x="14057" y="101444"/>
                </a:lnTo>
                <a:lnTo>
                  <a:pt x="62172" y="123671"/>
                </a:lnTo>
                <a:cubicBezTo>
                  <a:pt x="70284" y="127420"/>
                  <a:pt x="79626" y="127420"/>
                  <a:pt x="87738" y="123671"/>
                </a:cubicBezTo>
                <a:lnTo>
                  <a:pt x="135854" y="101444"/>
                </a:lnTo>
                <a:lnTo>
                  <a:pt x="145840" y="106071"/>
                </a:lnTo>
                <a:cubicBezTo>
                  <a:pt x="148329" y="107213"/>
                  <a:pt x="149911" y="109702"/>
                  <a:pt x="149911" y="112455"/>
                </a:cubicBezTo>
                <a:cubicBezTo>
                  <a:pt x="149911" y="115208"/>
                  <a:pt x="148329" y="117697"/>
                  <a:pt x="145840" y="118839"/>
                </a:cubicBezTo>
                <a:lnTo>
                  <a:pt x="81823" y="148417"/>
                </a:lnTo>
                <a:cubicBezTo>
                  <a:pt x="77459" y="150438"/>
                  <a:pt x="72422" y="150438"/>
                  <a:pt x="68059" y="148417"/>
                </a:cubicBezTo>
                <a:lnTo>
                  <a:pt x="4071" y="118839"/>
                </a:lnTo>
                <a:cubicBezTo>
                  <a:pt x="1581" y="117668"/>
                  <a:pt x="0" y="115179"/>
                  <a:pt x="0" y="112455"/>
                </a:cubicBezTo>
                <a:cubicBezTo>
                  <a:pt x="0" y="109732"/>
                  <a:pt x="1581" y="107213"/>
                  <a:pt x="4071" y="10607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974610" y="2773891"/>
            <a:ext cx="86215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4610" y="2998801"/>
            <a:ext cx="85278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独立开发部署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3533" y="3411136"/>
            <a:ext cx="2427154" cy="637245"/>
          </a:xfrm>
          <a:custGeom>
            <a:avLst/>
            <a:gdLst/>
            <a:ahLst/>
            <a:cxnLst/>
            <a:rect l="l" t="t" r="r" b="b"/>
            <a:pathLst>
              <a:path w="2427154" h="637245">
                <a:moveTo>
                  <a:pt x="37465" y="0"/>
                </a:moveTo>
                <a:lnTo>
                  <a:pt x="2352167" y="0"/>
                </a:lnTo>
                <a:cubicBezTo>
                  <a:pt x="2393550" y="0"/>
                  <a:pt x="2427097" y="33547"/>
                  <a:pt x="2427097" y="74930"/>
                </a:cubicBezTo>
                <a:lnTo>
                  <a:pt x="2427097" y="562229"/>
                </a:lnTo>
                <a:cubicBezTo>
                  <a:pt x="2427131" y="582124"/>
                  <a:pt x="2419251" y="601215"/>
                  <a:pt x="2405195" y="615295"/>
                </a:cubicBezTo>
                <a:cubicBezTo>
                  <a:pt x="2391140" y="629374"/>
                  <a:pt x="2372062" y="637286"/>
                  <a:pt x="2352167" y="637286"/>
                </a:cubicBez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E67E22">
              <a:alpha val="5098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43533" y="3411136"/>
            <a:ext cx="37485" cy="637245"/>
          </a:xfrm>
          <a:custGeom>
            <a:avLst/>
            <a:gdLst/>
            <a:ahLst/>
            <a:cxnLst/>
            <a:rect l="l" t="t" r="r" b="b"/>
            <a:pathLst>
              <a:path w="37485" h="637245">
                <a:moveTo>
                  <a:pt x="37465" y="0"/>
                </a:moveTo>
                <a:lnTo>
                  <a:pt x="37465" y="0"/>
                </a:lnTo>
                <a:lnTo>
                  <a:pt x="37465" y="637286"/>
                </a:ln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93473" y="3561076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18743" y="9371"/>
                </a:moveTo>
                <a:cubicBezTo>
                  <a:pt x="8405" y="9371"/>
                  <a:pt x="0" y="17776"/>
                  <a:pt x="0" y="28114"/>
                </a:cubicBezTo>
                <a:lnTo>
                  <a:pt x="0" y="103084"/>
                </a:lnTo>
                <a:cubicBezTo>
                  <a:pt x="0" y="113421"/>
                  <a:pt x="8405" y="121826"/>
                  <a:pt x="18743" y="121826"/>
                </a:cubicBezTo>
                <a:lnTo>
                  <a:pt x="60913" y="121826"/>
                </a:lnTo>
                <a:lnTo>
                  <a:pt x="56228" y="135883"/>
                </a:lnTo>
                <a:lnTo>
                  <a:pt x="35142" y="135883"/>
                </a:lnTo>
                <a:cubicBezTo>
                  <a:pt x="31247" y="135883"/>
                  <a:pt x="28114" y="139017"/>
                  <a:pt x="28114" y="142912"/>
                </a:cubicBezTo>
                <a:cubicBezTo>
                  <a:pt x="28114" y="146807"/>
                  <a:pt x="31247" y="149940"/>
                  <a:pt x="35142" y="149940"/>
                </a:cubicBezTo>
                <a:lnTo>
                  <a:pt x="114798" y="149940"/>
                </a:lnTo>
                <a:cubicBezTo>
                  <a:pt x="118693" y="149940"/>
                  <a:pt x="121826" y="146807"/>
                  <a:pt x="121826" y="142912"/>
                </a:cubicBezTo>
                <a:cubicBezTo>
                  <a:pt x="121826" y="139017"/>
                  <a:pt x="118693" y="135883"/>
                  <a:pt x="114798" y="135883"/>
                </a:cubicBezTo>
                <a:lnTo>
                  <a:pt x="93713" y="135883"/>
                </a:lnTo>
                <a:lnTo>
                  <a:pt x="89027" y="121826"/>
                </a:lnTo>
                <a:lnTo>
                  <a:pt x="131198" y="121826"/>
                </a:lnTo>
                <a:cubicBezTo>
                  <a:pt x="141535" y="121826"/>
                  <a:pt x="149940" y="113421"/>
                  <a:pt x="149940" y="103084"/>
                </a:cubicBezTo>
                <a:lnTo>
                  <a:pt x="149940" y="28114"/>
                </a:lnTo>
                <a:cubicBezTo>
                  <a:pt x="149940" y="17776"/>
                  <a:pt x="141535" y="9371"/>
                  <a:pt x="131198" y="9371"/>
                </a:cubicBezTo>
                <a:lnTo>
                  <a:pt x="18743" y="9371"/>
                </a:lnTo>
                <a:close/>
                <a:moveTo>
                  <a:pt x="28114" y="28114"/>
                </a:moveTo>
                <a:lnTo>
                  <a:pt x="121826" y="28114"/>
                </a:lnTo>
                <a:cubicBezTo>
                  <a:pt x="127010" y="28114"/>
                  <a:pt x="131198" y="32302"/>
                  <a:pt x="131198" y="37485"/>
                </a:cubicBezTo>
                <a:lnTo>
                  <a:pt x="131198" y="84341"/>
                </a:lnTo>
                <a:cubicBezTo>
                  <a:pt x="131198" y="89525"/>
                  <a:pt x="127010" y="93713"/>
                  <a:pt x="121826" y="93713"/>
                </a:cubicBezTo>
                <a:lnTo>
                  <a:pt x="28114" y="93713"/>
                </a:lnTo>
                <a:cubicBezTo>
                  <a:pt x="22930" y="93713"/>
                  <a:pt x="18743" y="89525"/>
                  <a:pt x="18743" y="84341"/>
                </a:cubicBezTo>
                <a:lnTo>
                  <a:pt x="18743" y="37485"/>
                </a:lnTo>
                <a:cubicBezTo>
                  <a:pt x="18743" y="32302"/>
                  <a:pt x="22930" y="28114"/>
                  <a:pt x="28114" y="28114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974610" y="3523591"/>
            <a:ext cx="93712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双端界面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4610" y="3748501"/>
            <a:ext cx="92775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用户端+管理端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3533" y="4160836"/>
            <a:ext cx="2427154" cy="637245"/>
          </a:xfrm>
          <a:custGeom>
            <a:avLst/>
            <a:gdLst/>
            <a:ahLst/>
            <a:cxnLst/>
            <a:rect l="l" t="t" r="r" b="b"/>
            <a:pathLst>
              <a:path w="2427154" h="637245">
                <a:moveTo>
                  <a:pt x="37465" y="0"/>
                </a:moveTo>
                <a:lnTo>
                  <a:pt x="2352167" y="0"/>
                </a:lnTo>
                <a:cubicBezTo>
                  <a:pt x="2393550" y="0"/>
                  <a:pt x="2427097" y="33547"/>
                  <a:pt x="2427097" y="74930"/>
                </a:cubicBezTo>
                <a:lnTo>
                  <a:pt x="2427097" y="562229"/>
                </a:lnTo>
                <a:cubicBezTo>
                  <a:pt x="2427131" y="582124"/>
                  <a:pt x="2419251" y="601215"/>
                  <a:pt x="2405195" y="615295"/>
                </a:cubicBezTo>
                <a:cubicBezTo>
                  <a:pt x="2391140" y="629374"/>
                  <a:pt x="2372062" y="637286"/>
                  <a:pt x="2352167" y="637286"/>
                </a:cubicBez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16A085">
              <a:alpha val="5098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3533" y="4160836"/>
            <a:ext cx="37485" cy="637245"/>
          </a:xfrm>
          <a:custGeom>
            <a:avLst/>
            <a:gdLst/>
            <a:ahLst/>
            <a:cxnLst/>
            <a:rect l="l" t="t" r="r" b="b"/>
            <a:pathLst>
              <a:path w="37485" h="637245">
                <a:moveTo>
                  <a:pt x="37465" y="0"/>
                </a:moveTo>
                <a:lnTo>
                  <a:pt x="37465" y="0"/>
                </a:lnTo>
                <a:lnTo>
                  <a:pt x="37465" y="637286"/>
                </a:lnTo>
                <a:lnTo>
                  <a:pt x="37465" y="637286"/>
                </a:lnTo>
                <a:cubicBezTo>
                  <a:pt x="16774" y="637286"/>
                  <a:pt x="0" y="620512"/>
                  <a:pt x="0" y="599821"/>
                </a:cubicBezTo>
                <a:lnTo>
                  <a:pt x="0" y="37465"/>
                </a:lnTo>
                <a:cubicBezTo>
                  <a:pt x="0" y="16788"/>
                  <a:pt x="16788" y="0"/>
                  <a:pt x="37465" y="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6" name="Shape 24"/>
          <p:cNvSpPr/>
          <p:nvPr/>
        </p:nvSpPr>
        <p:spPr>
          <a:xfrm>
            <a:off x="702844" y="4310776"/>
            <a:ext cx="131198" cy="149940"/>
          </a:xfrm>
          <a:custGeom>
            <a:avLst/>
            <a:gdLst/>
            <a:ahLst/>
            <a:cxnLst/>
            <a:rect l="l" t="t" r="r" b="b"/>
            <a:pathLst>
              <a:path w="131198" h="149940">
                <a:moveTo>
                  <a:pt x="131198" y="60269"/>
                </a:moveTo>
                <a:cubicBezTo>
                  <a:pt x="126863" y="63139"/>
                  <a:pt x="121885" y="65452"/>
                  <a:pt x="116701" y="67297"/>
                </a:cubicBezTo>
                <a:cubicBezTo>
                  <a:pt x="102937" y="72217"/>
                  <a:pt x="84868" y="74970"/>
                  <a:pt x="65599" y="74970"/>
                </a:cubicBezTo>
                <a:cubicBezTo>
                  <a:pt x="46329" y="74970"/>
                  <a:pt x="28231" y="72188"/>
                  <a:pt x="14496" y="67297"/>
                </a:cubicBezTo>
                <a:cubicBezTo>
                  <a:pt x="9342" y="65452"/>
                  <a:pt x="4334" y="63139"/>
                  <a:pt x="0" y="60269"/>
                </a:cubicBezTo>
                <a:lnTo>
                  <a:pt x="0" y="84341"/>
                </a:lnTo>
                <a:cubicBezTo>
                  <a:pt x="0" y="97285"/>
                  <a:pt x="29373" y="107769"/>
                  <a:pt x="65599" y="107769"/>
                </a:cubicBezTo>
                <a:cubicBezTo>
                  <a:pt x="101825" y="107769"/>
                  <a:pt x="131198" y="97285"/>
                  <a:pt x="131198" y="84341"/>
                </a:cubicBezTo>
                <a:lnTo>
                  <a:pt x="131198" y="60269"/>
                </a:lnTo>
                <a:close/>
                <a:moveTo>
                  <a:pt x="131198" y="37485"/>
                </a:moveTo>
                <a:lnTo>
                  <a:pt x="131198" y="23428"/>
                </a:lnTo>
                <a:cubicBezTo>
                  <a:pt x="131198" y="10484"/>
                  <a:pt x="101825" y="0"/>
                  <a:pt x="65599" y="0"/>
                </a:cubicBezTo>
                <a:cubicBezTo>
                  <a:pt x="29373" y="0"/>
                  <a:pt x="0" y="10484"/>
                  <a:pt x="0" y="23428"/>
                </a:cubicBezTo>
                <a:lnTo>
                  <a:pt x="0" y="37485"/>
                </a:lnTo>
                <a:cubicBezTo>
                  <a:pt x="0" y="50429"/>
                  <a:pt x="29373" y="60913"/>
                  <a:pt x="65599" y="60913"/>
                </a:cubicBezTo>
                <a:cubicBezTo>
                  <a:pt x="101825" y="60913"/>
                  <a:pt x="131198" y="50429"/>
                  <a:pt x="131198" y="37485"/>
                </a:cubicBezTo>
                <a:close/>
                <a:moveTo>
                  <a:pt x="116701" y="114154"/>
                </a:moveTo>
                <a:cubicBezTo>
                  <a:pt x="102967" y="119044"/>
                  <a:pt x="84898" y="121826"/>
                  <a:pt x="65599" y="121826"/>
                </a:cubicBezTo>
                <a:cubicBezTo>
                  <a:pt x="46300" y="121826"/>
                  <a:pt x="28231" y="119044"/>
                  <a:pt x="14496" y="114154"/>
                </a:cubicBezTo>
                <a:cubicBezTo>
                  <a:pt x="9342" y="112309"/>
                  <a:pt x="4334" y="109995"/>
                  <a:pt x="0" y="107125"/>
                </a:cubicBezTo>
                <a:lnTo>
                  <a:pt x="0" y="126512"/>
                </a:lnTo>
                <a:cubicBezTo>
                  <a:pt x="0" y="139456"/>
                  <a:pt x="29373" y="149940"/>
                  <a:pt x="65599" y="149940"/>
                </a:cubicBezTo>
                <a:cubicBezTo>
                  <a:pt x="101825" y="149940"/>
                  <a:pt x="131198" y="139456"/>
                  <a:pt x="131198" y="126512"/>
                </a:cubicBezTo>
                <a:lnTo>
                  <a:pt x="131198" y="107125"/>
                </a:lnTo>
                <a:cubicBezTo>
                  <a:pt x="126863" y="109995"/>
                  <a:pt x="121885" y="112309"/>
                  <a:pt x="116701" y="114154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7" name="Text 25"/>
          <p:cNvSpPr/>
          <p:nvPr/>
        </p:nvSpPr>
        <p:spPr>
          <a:xfrm>
            <a:off x="974610" y="4273291"/>
            <a:ext cx="862155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4610" y="4498201"/>
            <a:ext cx="852784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3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关系型数据库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8539" y="5648993"/>
            <a:ext cx="2444023" cy="682227"/>
          </a:xfrm>
          <a:prstGeom prst="roundRect">
            <a:avLst>
              <a:gd name="adj" fmla="val 10989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2C3E50">
                  <a:alpha val="10000"/>
                </a:srgbClr>
              </a:gs>
            </a:gsLst>
            <a:lin ang="0" scaled="1"/>
          </a:gradFill>
          <a:ln w="1016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3781" y="5795184"/>
            <a:ext cx="149940" cy="149940"/>
          </a:xfrm>
          <a:custGeom>
            <a:avLst/>
            <a:gdLst/>
            <a:ahLst/>
            <a:cxnLst/>
            <a:rect l="l" t="t" r="r" b="b"/>
            <a:pathLst>
              <a:path w="149940" h="149940">
                <a:moveTo>
                  <a:pt x="74970" y="149940"/>
                </a:moveTo>
                <a:cubicBezTo>
                  <a:pt x="116347" y="149940"/>
                  <a:pt x="149940" y="116347"/>
                  <a:pt x="149940" y="74970"/>
                </a:cubicBezTo>
                <a:cubicBezTo>
                  <a:pt x="149940" y="33593"/>
                  <a:pt x="116347" y="0"/>
                  <a:pt x="74970" y="0"/>
                </a:cubicBezTo>
                <a:cubicBezTo>
                  <a:pt x="33593" y="0"/>
                  <a:pt x="0" y="33593"/>
                  <a:pt x="0" y="74970"/>
                </a:cubicBezTo>
                <a:cubicBezTo>
                  <a:pt x="0" y="116347"/>
                  <a:pt x="33593" y="149940"/>
                  <a:pt x="74970" y="149940"/>
                </a:cubicBezTo>
                <a:close/>
                <a:moveTo>
                  <a:pt x="99687" y="62290"/>
                </a:moveTo>
                <a:lnTo>
                  <a:pt x="76259" y="99775"/>
                </a:lnTo>
                <a:cubicBezTo>
                  <a:pt x="75029" y="101737"/>
                  <a:pt x="72920" y="102967"/>
                  <a:pt x="70607" y="103084"/>
                </a:cubicBezTo>
                <a:cubicBezTo>
                  <a:pt x="68293" y="103201"/>
                  <a:pt x="66067" y="102147"/>
                  <a:pt x="64691" y="100272"/>
                </a:cubicBezTo>
                <a:lnTo>
                  <a:pt x="50634" y="81530"/>
                </a:lnTo>
                <a:cubicBezTo>
                  <a:pt x="48291" y="78426"/>
                  <a:pt x="48936" y="74033"/>
                  <a:pt x="52040" y="71690"/>
                </a:cubicBezTo>
                <a:cubicBezTo>
                  <a:pt x="55144" y="69347"/>
                  <a:pt x="59537" y="69992"/>
                  <a:pt x="61880" y="73096"/>
                </a:cubicBezTo>
                <a:lnTo>
                  <a:pt x="69787" y="83638"/>
                </a:lnTo>
                <a:lnTo>
                  <a:pt x="87768" y="54851"/>
                </a:lnTo>
                <a:cubicBezTo>
                  <a:pt x="89818" y="51571"/>
                  <a:pt x="94152" y="50546"/>
                  <a:pt x="97461" y="52625"/>
                </a:cubicBezTo>
                <a:cubicBezTo>
                  <a:pt x="100770" y="54705"/>
                  <a:pt x="101766" y="59010"/>
                  <a:pt x="99687" y="62319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1" name="Text 29"/>
          <p:cNvSpPr/>
          <p:nvPr/>
        </p:nvSpPr>
        <p:spPr>
          <a:xfrm>
            <a:off x="850002" y="5765194"/>
            <a:ext cx="2043841" cy="449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结构清晰 · 职责分离 · 易于维护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73613" y="1237005"/>
            <a:ext cx="8546583" cy="5247902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376697" y="1386945"/>
            <a:ext cx="8340415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7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系统分层架构图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86068" y="1724311"/>
            <a:ext cx="8321673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Layered Architecture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431050" y="2155507"/>
            <a:ext cx="8233583" cy="802179"/>
          </a:xfrm>
          <a:prstGeom prst="roundRect">
            <a:avLst>
              <a:gd name="adj" fmla="val 9346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0" scaled="1"/>
          </a:gra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35559" y="2331685"/>
            <a:ext cx="234281" cy="187425"/>
          </a:xfrm>
          <a:custGeom>
            <a:avLst/>
            <a:gdLst/>
            <a:ahLst/>
            <a:cxnLst/>
            <a:rect l="l" t="t" r="r" b="b"/>
            <a:pathLst>
              <a:path w="234281" h="187425">
                <a:moveTo>
                  <a:pt x="117141" y="5857"/>
                </a:moveTo>
                <a:cubicBezTo>
                  <a:pt x="138152" y="5857"/>
                  <a:pt x="155211" y="22916"/>
                  <a:pt x="155211" y="43928"/>
                </a:cubicBezTo>
                <a:cubicBezTo>
                  <a:pt x="155211" y="64940"/>
                  <a:pt x="138152" y="81998"/>
                  <a:pt x="117141" y="81998"/>
                </a:cubicBezTo>
                <a:cubicBezTo>
                  <a:pt x="96129" y="81998"/>
                  <a:pt x="79070" y="64940"/>
                  <a:pt x="79070" y="43928"/>
                </a:cubicBezTo>
                <a:cubicBezTo>
                  <a:pt x="79070" y="22916"/>
                  <a:pt x="96129" y="5857"/>
                  <a:pt x="117141" y="5857"/>
                </a:cubicBezTo>
                <a:close/>
                <a:moveTo>
                  <a:pt x="35142" y="32214"/>
                </a:moveTo>
                <a:cubicBezTo>
                  <a:pt x="49689" y="32214"/>
                  <a:pt x="61499" y="44024"/>
                  <a:pt x="61499" y="58570"/>
                </a:cubicBezTo>
                <a:cubicBezTo>
                  <a:pt x="61499" y="73117"/>
                  <a:pt x="49689" y="84927"/>
                  <a:pt x="35142" y="84927"/>
                </a:cubicBezTo>
                <a:cubicBezTo>
                  <a:pt x="20596" y="84927"/>
                  <a:pt x="8786" y="73117"/>
                  <a:pt x="8786" y="58570"/>
                </a:cubicBezTo>
                <a:cubicBezTo>
                  <a:pt x="8786" y="44024"/>
                  <a:pt x="20596" y="32214"/>
                  <a:pt x="35142" y="32214"/>
                </a:cubicBezTo>
                <a:close/>
                <a:moveTo>
                  <a:pt x="0" y="152283"/>
                </a:moveTo>
                <a:cubicBezTo>
                  <a:pt x="0" y="126402"/>
                  <a:pt x="20975" y="105427"/>
                  <a:pt x="46856" y="105427"/>
                </a:cubicBezTo>
                <a:cubicBezTo>
                  <a:pt x="51542" y="105427"/>
                  <a:pt x="56081" y="106122"/>
                  <a:pt x="60364" y="107403"/>
                </a:cubicBezTo>
                <a:cubicBezTo>
                  <a:pt x="48321" y="120875"/>
                  <a:pt x="40999" y="138665"/>
                  <a:pt x="40999" y="158140"/>
                </a:cubicBezTo>
                <a:lnTo>
                  <a:pt x="40999" y="163997"/>
                </a:lnTo>
                <a:cubicBezTo>
                  <a:pt x="40999" y="168170"/>
                  <a:pt x="41878" y="172124"/>
                  <a:pt x="43452" y="175711"/>
                </a:cubicBezTo>
                <a:lnTo>
                  <a:pt x="11714" y="175711"/>
                </a:lnTo>
                <a:cubicBezTo>
                  <a:pt x="5235" y="175711"/>
                  <a:pt x="0" y="170476"/>
                  <a:pt x="0" y="163997"/>
                </a:cubicBezTo>
                <a:lnTo>
                  <a:pt x="0" y="152283"/>
                </a:lnTo>
                <a:close/>
                <a:moveTo>
                  <a:pt x="190829" y="175711"/>
                </a:moveTo>
                <a:cubicBezTo>
                  <a:pt x="192404" y="172124"/>
                  <a:pt x="193282" y="168170"/>
                  <a:pt x="193282" y="163997"/>
                </a:cubicBezTo>
                <a:lnTo>
                  <a:pt x="193282" y="158140"/>
                </a:lnTo>
                <a:cubicBezTo>
                  <a:pt x="193282" y="138665"/>
                  <a:pt x="185961" y="120875"/>
                  <a:pt x="173917" y="107403"/>
                </a:cubicBezTo>
                <a:cubicBezTo>
                  <a:pt x="178200" y="106122"/>
                  <a:pt x="182739" y="105427"/>
                  <a:pt x="187425" y="105427"/>
                </a:cubicBezTo>
                <a:cubicBezTo>
                  <a:pt x="213306" y="105427"/>
                  <a:pt x="234281" y="126402"/>
                  <a:pt x="234281" y="152283"/>
                </a:cubicBezTo>
                <a:lnTo>
                  <a:pt x="234281" y="163997"/>
                </a:lnTo>
                <a:cubicBezTo>
                  <a:pt x="234281" y="170476"/>
                  <a:pt x="229047" y="175711"/>
                  <a:pt x="222567" y="175711"/>
                </a:cubicBezTo>
                <a:lnTo>
                  <a:pt x="190829" y="175711"/>
                </a:lnTo>
                <a:close/>
                <a:moveTo>
                  <a:pt x="172782" y="58570"/>
                </a:moveTo>
                <a:cubicBezTo>
                  <a:pt x="172782" y="44024"/>
                  <a:pt x="184592" y="32214"/>
                  <a:pt x="199139" y="32214"/>
                </a:cubicBezTo>
                <a:cubicBezTo>
                  <a:pt x="213686" y="32214"/>
                  <a:pt x="225496" y="44024"/>
                  <a:pt x="225496" y="58570"/>
                </a:cubicBezTo>
                <a:cubicBezTo>
                  <a:pt x="225496" y="73117"/>
                  <a:pt x="213686" y="84927"/>
                  <a:pt x="199139" y="84927"/>
                </a:cubicBezTo>
                <a:cubicBezTo>
                  <a:pt x="184592" y="84927"/>
                  <a:pt x="172782" y="73117"/>
                  <a:pt x="172782" y="58570"/>
                </a:cubicBezTo>
                <a:close/>
                <a:moveTo>
                  <a:pt x="58570" y="158140"/>
                </a:moveTo>
                <a:cubicBezTo>
                  <a:pt x="58570" y="125780"/>
                  <a:pt x="84781" y="99570"/>
                  <a:pt x="117141" y="99570"/>
                </a:cubicBezTo>
                <a:cubicBezTo>
                  <a:pt x="149501" y="99570"/>
                  <a:pt x="175711" y="125780"/>
                  <a:pt x="175711" y="158140"/>
                </a:cubicBezTo>
                <a:lnTo>
                  <a:pt x="175711" y="163997"/>
                </a:lnTo>
                <a:cubicBezTo>
                  <a:pt x="175711" y="170476"/>
                  <a:pt x="170476" y="175711"/>
                  <a:pt x="163997" y="175711"/>
                </a:cubicBezTo>
                <a:lnTo>
                  <a:pt x="70284" y="175711"/>
                </a:lnTo>
                <a:cubicBezTo>
                  <a:pt x="63805" y="175711"/>
                  <a:pt x="58570" y="170476"/>
                  <a:pt x="58570" y="163997"/>
                </a:cubicBezTo>
                <a:lnTo>
                  <a:pt x="58570" y="158140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7" name="Text 35"/>
          <p:cNvSpPr/>
          <p:nvPr/>
        </p:nvSpPr>
        <p:spPr>
          <a:xfrm>
            <a:off x="6044810" y="2294200"/>
            <a:ext cx="1358832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用户端 user.html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70060" y="2275457"/>
            <a:ext cx="9371" cy="299880"/>
          </a:xfrm>
          <a:prstGeom prst="roundRect">
            <a:avLst>
              <a:gd name="adj" fmla="val 0"/>
            </a:avLst>
          </a:prstGeom>
          <a:solidFill>
            <a:srgbClr val="2C3E50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41085" y="2331685"/>
            <a:ext cx="210853" cy="187425"/>
          </a:xfrm>
          <a:custGeom>
            <a:avLst/>
            <a:gdLst/>
            <a:ahLst/>
            <a:cxnLst/>
            <a:rect l="l" t="t" r="r" b="b"/>
            <a:pathLst>
              <a:path w="210853" h="187425">
                <a:moveTo>
                  <a:pt x="81998" y="90784"/>
                </a:moveTo>
                <a:cubicBezTo>
                  <a:pt x="106243" y="90784"/>
                  <a:pt x="125926" y="71101"/>
                  <a:pt x="125926" y="46856"/>
                </a:cubicBezTo>
                <a:cubicBezTo>
                  <a:pt x="125926" y="22612"/>
                  <a:pt x="106243" y="2929"/>
                  <a:pt x="81998" y="2929"/>
                </a:cubicBezTo>
                <a:cubicBezTo>
                  <a:pt x="57754" y="2929"/>
                  <a:pt x="38071" y="22612"/>
                  <a:pt x="38071" y="46856"/>
                </a:cubicBezTo>
                <a:cubicBezTo>
                  <a:pt x="38071" y="71101"/>
                  <a:pt x="57754" y="90784"/>
                  <a:pt x="81998" y="90784"/>
                </a:cubicBezTo>
                <a:close/>
                <a:moveTo>
                  <a:pt x="71126" y="111284"/>
                </a:moveTo>
                <a:cubicBezTo>
                  <a:pt x="35069" y="111284"/>
                  <a:pt x="5857" y="140496"/>
                  <a:pt x="5857" y="176553"/>
                </a:cubicBezTo>
                <a:cubicBezTo>
                  <a:pt x="5857" y="182556"/>
                  <a:pt x="10726" y="187425"/>
                  <a:pt x="16729" y="187425"/>
                </a:cubicBezTo>
                <a:lnTo>
                  <a:pt x="108794" y="187425"/>
                </a:lnTo>
                <a:cubicBezTo>
                  <a:pt x="95543" y="171831"/>
                  <a:pt x="87855" y="151734"/>
                  <a:pt x="87855" y="130465"/>
                </a:cubicBezTo>
                <a:lnTo>
                  <a:pt x="87855" y="119081"/>
                </a:lnTo>
                <a:cubicBezTo>
                  <a:pt x="87855" y="116409"/>
                  <a:pt x="88222" y="113773"/>
                  <a:pt x="88917" y="111284"/>
                </a:cubicBezTo>
                <a:lnTo>
                  <a:pt x="71126" y="111284"/>
                </a:lnTo>
                <a:close/>
                <a:moveTo>
                  <a:pt x="163009" y="178823"/>
                </a:moveTo>
                <a:lnTo>
                  <a:pt x="158140" y="181129"/>
                </a:lnTo>
                <a:lnTo>
                  <a:pt x="158140" y="112272"/>
                </a:lnTo>
                <a:lnTo>
                  <a:pt x="193282" y="123986"/>
                </a:lnTo>
                <a:lnTo>
                  <a:pt x="193282" y="131161"/>
                </a:lnTo>
                <a:cubicBezTo>
                  <a:pt x="193282" y="151587"/>
                  <a:pt x="181495" y="170147"/>
                  <a:pt x="163009" y="178859"/>
                </a:cubicBezTo>
                <a:close/>
                <a:moveTo>
                  <a:pt x="154443" y="94994"/>
                </a:moveTo>
                <a:lnTo>
                  <a:pt x="113443" y="108648"/>
                </a:lnTo>
                <a:cubicBezTo>
                  <a:pt x="108648" y="110259"/>
                  <a:pt x="105427" y="114725"/>
                  <a:pt x="105427" y="119776"/>
                </a:cubicBezTo>
                <a:lnTo>
                  <a:pt x="105427" y="131161"/>
                </a:lnTo>
                <a:cubicBezTo>
                  <a:pt x="105427" y="158396"/>
                  <a:pt x="121167" y="183179"/>
                  <a:pt x="145767" y="194746"/>
                </a:cubicBezTo>
                <a:lnTo>
                  <a:pt x="152539" y="197931"/>
                </a:lnTo>
                <a:cubicBezTo>
                  <a:pt x="154296" y="198736"/>
                  <a:pt x="156200" y="199176"/>
                  <a:pt x="158103" y="199176"/>
                </a:cubicBezTo>
                <a:cubicBezTo>
                  <a:pt x="160007" y="199176"/>
                  <a:pt x="161947" y="198736"/>
                  <a:pt x="163667" y="197931"/>
                </a:cubicBezTo>
                <a:lnTo>
                  <a:pt x="170440" y="194746"/>
                </a:lnTo>
                <a:cubicBezTo>
                  <a:pt x="195112" y="183142"/>
                  <a:pt x="210853" y="158360"/>
                  <a:pt x="210853" y="131124"/>
                </a:cubicBezTo>
                <a:lnTo>
                  <a:pt x="210853" y="119740"/>
                </a:lnTo>
                <a:cubicBezTo>
                  <a:pt x="210853" y="114688"/>
                  <a:pt x="207632" y="110222"/>
                  <a:pt x="202836" y="108611"/>
                </a:cubicBezTo>
                <a:lnTo>
                  <a:pt x="161837" y="94957"/>
                </a:lnTo>
                <a:cubicBezTo>
                  <a:pt x="159421" y="94152"/>
                  <a:pt x="156822" y="94152"/>
                  <a:pt x="154443" y="9495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7938623" y="2294200"/>
            <a:ext cx="149940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管理端 admin.html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18203" y="2650307"/>
            <a:ext cx="805927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 + Element Plus + Tailwind CSS + ECharts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462563" y="3040152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43" name="Shape 41"/>
          <p:cNvSpPr/>
          <p:nvPr/>
        </p:nvSpPr>
        <p:spPr>
          <a:xfrm>
            <a:off x="3431050" y="3347530"/>
            <a:ext cx="8233583" cy="2001700"/>
          </a:xfrm>
          <a:prstGeom prst="roundRect">
            <a:avLst>
              <a:gd name="adj" fmla="val 3745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0" scaled="1"/>
          </a:gradFill>
          <a:ln w="20320">
            <a:solidFill>
              <a:srgbClr val="2C3E50">
                <a:alpha val="30196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51002" y="3467480"/>
            <a:ext cx="2586466" cy="7122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73951" y="3557445"/>
            <a:ext cx="147597" cy="168683"/>
          </a:xfrm>
          <a:custGeom>
            <a:avLst/>
            <a:gdLst/>
            <a:ahLst/>
            <a:cxnLst/>
            <a:rect l="l" t="t" r="r" b="b"/>
            <a:pathLst>
              <a:path w="147597" h="168683">
                <a:moveTo>
                  <a:pt x="21085" y="10543"/>
                </a:moveTo>
                <a:cubicBezTo>
                  <a:pt x="9455" y="10543"/>
                  <a:pt x="0" y="19998"/>
                  <a:pt x="0" y="31628"/>
                </a:cubicBezTo>
                <a:lnTo>
                  <a:pt x="0" y="52713"/>
                </a:lnTo>
                <a:cubicBezTo>
                  <a:pt x="0" y="64343"/>
                  <a:pt x="9455" y="73799"/>
                  <a:pt x="21085" y="73799"/>
                </a:cubicBezTo>
                <a:lnTo>
                  <a:pt x="126512" y="73799"/>
                </a:lnTo>
                <a:cubicBezTo>
                  <a:pt x="138142" y="73799"/>
                  <a:pt x="147597" y="64343"/>
                  <a:pt x="147597" y="52713"/>
                </a:cubicBezTo>
                <a:lnTo>
                  <a:pt x="147597" y="31628"/>
                </a:lnTo>
                <a:cubicBezTo>
                  <a:pt x="147597" y="19998"/>
                  <a:pt x="138142" y="10543"/>
                  <a:pt x="126512" y="10543"/>
                </a:cubicBezTo>
                <a:lnTo>
                  <a:pt x="21085" y="10543"/>
                </a:lnTo>
                <a:close/>
                <a:moveTo>
                  <a:pt x="92248" y="34264"/>
                </a:moveTo>
                <a:cubicBezTo>
                  <a:pt x="96612" y="34264"/>
                  <a:pt x="100155" y="37807"/>
                  <a:pt x="100155" y="42171"/>
                </a:cubicBezTo>
                <a:cubicBezTo>
                  <a:pt x="100155" y="46535"/>
                  <a:pt x="96612" y="50078"/>
                  <a:pt x="92248" y="50078"/>
                </a:cubicBezTo>
                <a:cubicBezTo>
                  <a:pt x="87884" y="50078"/>
                  <a:pt x="84341" y="46535"/>
                  <a:pt x="84341" y="42171"/>
                </a:cubicBezTo>
                <a:cubicBezTo>
                  <a:pt x="84341" y="37807"/>
                  <a:pt x="87884" y="34264"/>
                  <a:pt x="92248" y="34264"/>
                </a:cubicBezTo>
                <a:close/>
                <a:moveTo>
                  <a:pt x="110698" y="42171"/>
                </a:moveTo>
                <a:cubicBezTo>
                  <a:pt x="110698" y="37807"/>
                  <a:pt x="114241" y="34264"/>
                  <a:pt x="118605" y="34264"/>
                </a:cubicBezTo>
                <a:cubicBezTo>
                  <a:pt x="122969" y="34264"/>
                  <a:pt x="126512" y="37807"/>
                  <a:pt x="126512" y="42171"/>
                </a:cubicBezTo>
                <a:cubicBezTo>
                  <a:pt x="126512" y="46535"/>
                  <a:pt x="122969" y="50078"/>
                  <a:pt x="118605" y="50078"/>
                </a:cubicBezTo>
                <a:cubicBezTo>
                  <a:pt x="114241" y="50078"/>
                  <a:pt x="110698" y="46535"/>
                  <a:pt x="110698" y="42171"/>
                </a:cubicBezTo>
                <a:close/>
                <a:moveTo>
                  <a:pt x="21085" y="94884"/>
                </a:moveTo>
                <a:cubicBezTo>
                  <a:pt x="9455" y="94884"/>
                  <a:pt x="0" y="104339"/>
                  <a:pt x="0" y="115969"/>
                </a:cubicBezTo>
                <a:lnTo>
                  <a:pt x="0" y="137055"/>
                </a:lnTo>
                <a:cubicBezTo>
                  <a:pt x="0" y="148684"/>
                  <a:pt x="9455" y="158140"/>
                  <a:pt x="21085" y="158140"/>
                </a:cubicBezTo>
                <a:lnTo>
                  <a:pt x="126512" y="158140"/>
                </a:lnTo>
                <a:cubicBezTo>
                  <a:pt x="138142" y="158140"/>
                  <a:pt x="147597" y="148684"/>
                  <a:pt x="147597" y="137055"/>
                </a:cubicBezTo>
                <a:lnTo>
                  <a:pt x="147597" y="115969"/>
                </a:lnTo>
                <a:cubicBezTo>
                  <a:pt x="147597" y="104339"/>
                  <a:pt x="138142" y="94884"/>
                  <a:pt x="126512" y="94884"/>
                </a:cubicBezTo>
                <a:lnTo>
                  <a:pt x="21085" y="94884"/>
                </a:lnTo>
                <a:close/>
                <a:moveTo>
                  <a:pt x="92248" y="118605"/>
                </a:moveTo>
                <a:cubicBezTo>
                  <a:pt x="96612" y="118605"/>
                  <a:pt x="100155" y="122148"/>
                  <a:pt x="100155" y="126512"/>
                </a:cubicBezTo>
                <a:cubicBezTo>
                  <a:pt x="100155" y="130876"/>
                  <a:pt x="96612" y="134419"/>
                  <a:pt x="92248" y="134419"/>
                </a:cubicBezTo>
                <a:cubicBezTo>
                  <a:pt x="87884" y="134419"/>
                  <a:pt x="84341" y="130876"/>
                  <a:pt x="84341" y="126512"/>
                </a:cubicBezTo>
                <a:cubicBezTo>
                  <a:pt x="84341" y="122148"/>
                  <a:pt x="87884" y="118605"/>
                  <a:pt x="92248" y="118605"/>
                </a:cubicBezTo>
                <a:close/>
                <a:moveTo>
                  <a:pt x="110698" y="126512"/>
                </a:moveTo>
                <a:cubicBezTo>
                  <a:pt x="110698" y="122148"/>
                  <a:pt x="114241" y="118605"/>
                  <a:pt x="118605" y="118605"/>
                </a:cubicBezTo>
                <a:cubicBezTo>
                  <a:pt x="122969" y="118605"/>
                  <a:pt x="126512" y="122148"/>
                  <a:pt x="126512" y="126512"/>
                </a:cubicBezTo>
                <a:cubicBezTo>
                  <a:pt x="126512" y="130876"/>
                  <a:pt x="122969" y="134419"/>
                  <a:pt x="118605" y="134419"/>
                </a:cubicBezTo>
                <a:cubicBezTo>
                  <a:pt x="114241" y="134419"/>
                  <a:pt x="110698" y="130876"/>
                  <a:pt x="110698" y="126512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6" name="Text 44"/>
          <p:cNvSpPr/>
          <p:nvPr/>
        </p:nvSpPr>
        <p:spPr>
          <a:xfrm>
            <a:off x="3593173" y="3767360"/>
            <a:ext cx="25021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597858" y="3954785"/>
            <a:ext cx="249275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请求处理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52383" y="3467480"/>
            <a:ext cx="2586466" cy="7122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7443703" y="3557445"/>
            <a:ext cx="210853" cy="168683"/>
          </a:xfrm>
          <a:custGeom>
            <a:avLst/>
            <a:gdLst/>
            <a:ahLst/>
            <a:cxnLst/>
            <a:rect l="l" t="t" r="r" b="b"/>
            <a:pathLst>
              <a:path w="210853" h="168683">
                <a:moveTo>
                  <a:pt x="137022" y="69351"/>
                </a:moveTo>
                <a:cubicBezTo>
                  <a:pt x="141041" y="68264"/>
                  <a:pt x="145258" y="70175"/>
                  <a:pt x="147070" y="73897"/>
                </a:cubicBezTo>
                <a:lnTo>
                  <a:pt x="153198" y="86285"/>
                </a:lnTo>
                <a:cubicBezTo>
                  <a:pt x="156591" y="86746"/>
                  <a:pt x="159919" y="87669"/>
                  <a:pt x="163049" y="88954"/>
                </a:cubicBezTo>
                <a:lnTo>
                  <a:pt x="174580" y="81277"/>
                </a:lnTo>
                <a:cubicBezTo>
                  <a:pt x="178039" y="78971"/>
                  <a:pt x="182619" y="79432"/>
                  <a:pt x="185551" y="82365"/>
                </a:cubicBezTo>
                <a:lnTo>
                  <a:pt x="191876" y="88690"/>
                </a:lnTo>
                <a:cubicBezTo>
                  <a:pt x="194809" y="91622"/>
                  <a:pt x="195270" y="96235"/>
                  <a:pt x="192964" y="99661"/>
                </a:cubicBezTo>
                <a:lnTo>
                  <a:pt x="185287" y="111159"/>
                </a:lnTo>
                <a:cubicBezTo>
                  <a:pt x="185913" y="112708"/>
                  <a:pt x="186473" y="114322"/>
                  <a:pt x="186935" y="116002"/>
                </a:cubicBezTo>
                <a:cubicBezTo>
                  <a:pt x="187396" y="117682"/>
                  <a:pt x="187692" y="119330"/>
                  <a:pt x="187923" y="121010"/>
                </a:cubicBezTo>
                <a:lnTo>
                  <a:pt x="200343" y="127138"/>
                </a:lnTo>
                <a:cubicBezTo>
                  <a:pt x="204066" y="128983"/>
                  <a:pt x="205977" y="133200"/>
                  <a:pt x="204890" y="137186"/>
                </a:cubicBezTo>
                <a:lnTo>
                  <a:pt x="202584" y="145818"/>
                </a:lnTo>
                <a:cubicBezTo>
                  <a:pt x="201497" y="149805"/>
                  <a:pt x="197774" y="152506"/>
                  <a:pt x="193623" y="152243"/>
                </a:cubicBezTo>
                <a:lnTo>
                  <a:pt x="179785" y="151353"/>
                </a:lnTo>
                <a:cubicBezTo>
                  <a:pt x="177710" y="154022"/>
                  <a:pt x="175305" y="156493"/>
                  <a:pt x="172570" y="158601"/>
                </a:cubicBezTo>
                <a:lnTo>
                  <a:pt x="173460" y="172405"/>
                </a:lnTo>
                <a:cubicBezTo>
                  <a:pt x="173723" y="176557"/>
                  <a:pt x="171022" y="180312"/>
                  <a:pt x="167035" y="181367"/>
                </a:cubicBezTo>
                <a:lnTo>
                  <a:pt x="158403" y="183673"/>
                </a:lnTo>
                <a:cubicBezTo>
                  <a:pt x="154384" y="184760"/>
                  <a:pt x="150200" y="182849"/>
                  <a:pt x="148355" y="179126"/>
                </a:cubicBezTo>
                <a:lnTo>
                  <a:pt x="142227" y="166739"/>
                </a:lnTo>
                <a:cubicBezTo>
                  <a:pt x="138834" y="166278"/>
                  <a:pt x="135506" y="165355"/>
                  <a:pt x="132376" y="164070"/>
                </a:cubicBezTo>
                <a:lnTo>
                  <a:pt x="120845" y="171747"/>
                </a:lnTo>
                <a:cubicBezTo>
                  <a:pt x="117386" y="174053"/>
                  <a:pt x="112806" y="173591"/>
                  <a:pt x="109874" y="170659"/>
                </a:cubicBezTo>
                <a:lnTo>
                  <a:pt x="103549" y="164334"/>
                </a:lnTo>
                <a:cubicBezTo>
                  <a:pt x="100617" y="161402"/>
                  <a:pt x="100155" y="156822"/>
                  <a:pt x="102461" y="153363"/>
                </a:cubicBezTo>
                <a:lnTo>
                  <a:pt x="110138" y="141832"/>
                </a:lnTo>
                <a:cubicBezTo>
                  <a:pt x="109512" y="140283"/>
                  <a:pt x="108952" y="138669"/>
                  <a:pt x="108491" y="136989"/>
                </a:cubicBezTo>
                <a:cubicBezTo>
                  <a:pt x="108029" y="135308"/>
                  <a:pt x="107733" y="133628"/>
                  <a:pt x="107502" y="131981"/>
                </a:cubicBezTo>
                <a:lnTo>
                  <a:pt x="95082" y="125853"/>
                </a:lnTo>
                <a:cubicBezTo>
                  <a:pt x="91359" y="124008"/>
                  <a:pt x="89481" y="119791"/>
                  <a:pt x="90535" y="115805"/>
                </a:cubicBezTo>
                <a:lnTo>
                  <a:pt x="92841" y="107173"/>
                </a:lnTo>
                <a:cubicBezTo>
                  <a:pt x="93929" y="103186"/>
                  <a:pt x="97651" y="100485"/>
                  <a:pt x="101803" y="100748"/>
                </a:cubicBezTo>
                <a:lnTo>
                  <a:pt x="115607" y="101638"/>
                </a:lnTo>
                <a:cubicBezTo>
                  <a:pt x="117682" y="98969"/>
                  <a:pt x="120087" y="96498"/>
                  <a:pt x="122822" y="94390"/>
                </a:cubicBezTo>
                <a:lnTo>
                  <a:pt x="121932" y="80618"/>
                </a:lnTo>
                <a:cubicBezTo>
                  <a:pt x="121669" y="76467"/>
                  <a:pt x="124370" y="72711"/>
                  <a:pt x="128357" y="71657"/>
                </a:cubicBezTo>
                <a:lnTo>
                  <a:pt x="136989" y="69351"/>
                </a:lnTo>
                <a:close/>
                <a:moveTo>
                  <a:pt x="147729" y="112016"/>
                </a:moveTo>
                <a:cubicBezTo>
                  <a:pt x="139728" y="112025"/>
                  <a:pt x="133240" y="118528"/>
                  <a:pt x="133249" y="126528"/>
                </a:cubicBezTo>
                <a:cubicBezTo>
                  <a:pt x="133258" y="134529"/>
                  <a:pt x="139761" y="141017"/>
                  <a:pt x="147762" y="141008"/>
                </a:cubicBezTo>
                <a:cubicBezTo>
                  <a:pt x="155763" y="140999"/>
                  <a:pt x="162251" y="134496"/>
                  <a:pt x="162242" y="126495"/>
                </a:cubicBezTo>
                <a:cubicBezTo>
                  <a:pt x="162233" y="118495"/>
                  <a:pt x="155730" y="112007"/>
                  <a:pt x="147729" y="112016"/>
                </a:cubicBezTo>
                <a:close/>
                <a:moveTo>
                  <a:pt x="74095" y="-14990"/>
                </a:moveTo>
                <a:lnTo>
                  <a:pt x="82727" y="-12684"/>
                </a:lnTo>
                <a:cubicBezTo>
                  <a:pt x="86713" y="-11597"/>
                  <a:pt x="89415" y="-7841"/>
                  <a:pt x="89151" y="-3723"/>
                </a:cubicBezTo>
                <a:lnTo>
                  <a:pt x="88262" y="10048"/>
                </a:lnTo>
                <a:cubicBezTo>
                  <a:pt x="90996" y="12157"/>
                  <a:pt x="93401" y="14595"/>
                  <a:pt x="95477" y="17297"/>
                </a:cubicBezTo>
                <a:lnTo>
                  <a:pt x="109314" y="16407"/>
                </a:lnTo>
                <a:cubicBezTo>
                  <a:pt x="113432" y="16143"/>
                  <a:pt x="117188" y="18845"/>
                  <a:pt x="118275" y="22831"/>
                </a:cubicBezTo>
                <a:lnTo>
                  <a:pt x="120582" y="31463"/>
                </a:lnTo>
                <a:cubicBezTo>
                  <a:pt x="121636" y="35450"/>
                  <a:pt x="119758" y="39667"/>
                  <a:pt x="116035" y="41512"/>
                </a:cubicBezTo>
                <a:lnTo>
                  <a:pt x="103615" y="47640"/>
                </a:lnTo>
                <a:cubicBezTo>
                  <a:pt x="103384" y="49320"/>
                  <a:pt x="103054" y="51000"/>
                  <a:pt x="102626" y="52647"/>
                </a:cubicBezTo>
                <a:cubicBezTo>
                  <a:pt x="102198" y="54295"/>
                  <a:pt x="101605" y="55942"/>
                  <a:pt x="100979" y="57490"/>
                </a:cubicBezTo>
                <a:lnTo>
                  <a:pt x="108655" y="69021"/>
                </a:lnTo>
                <a:cubicBezTo>
                  <a:pt x="110961" y="72481"/>
                  <a:pt x="110500" y="77060"/>
                  <a:pt x="107568" y="79992"/>
                </a:cubicBezTo>
                <a:lnTo>
                  <a:pt x="101242" y="86318"/>
                </a:lnTo>
                <a:cubicBezTo>
                  <a:pt x="98310" y="89250"/>
                  <a:pt x="93731" y="89711"/>
                  <a:pt x="90272" y="87405"/>
                </a:cubicBezTo>
                <a:lnTo>
                  <a:pt x="78740" y="79729"/>
                </a:lnTo>
                <a:cubicBezTo>
                  <a:pt x="75611" y="81014"/>
                  <a:pt x="72283" y="81936"/>
                  <a:pt x="68890" y="82397"/>
                </a:cubicBezTo>
                <a:lnTo>
                  <a:pt x="62762" y="94785"/>
                </a:lnTo>
                <a:cubicBezTo>
                  <a:pt x="60917" y="98508"/>
                  <a:pt x="56700" y="100386"/>
                  <a:pt x="52713" y="99332"/>
                </a:cubicBezTo>
                <a:lnTo>
                  <a:pt x="44081" y="97025"/>
                </a:lnTo>
                <a:cubicBezTo>
                  <a:pt x="40062" y="95938"/>
                  <a:pt x="37393" y="92182"/>
                  <a:pt x="37657" y="88064"/>
                </a:cubicBezTo>
                <a:lnTo>
                  <a:pt x="38547" y="74260"/>
                </a:lnTo>
                <a:cubicBezTo>
                  <a:pt x="35812" y="72151"/>
                  <a:pt x="33407" y="69713"/>
                  <a:pt x="31331" y="67012"/>
                </a:cubicBezTo>
                <a:lnTo>
                  <a:pt x="17494" y="67901"/>
                </a:lnTo>
                <a:cubicBezTo>
                  <a:pt x="13376" y="68165"/>
                  <a:pt x="9620" y="65463"/>
                  <a:pt x="8533" y="61477"/>
                </a:cubicBezTo>
                <a:lnTo>
                  <a:pt x="6227" y="52845"/>
                </a:lnTo>
                <a:cubicBezTo>
                  <a:pt x="5172" y="48859"/>
                  <a:pt x="7050" y="44642"/>
                  <a:pt x="10773" y="42797"/>
                </a:cubicBezTo>
                <a:lnTo>
                  <a:pt x="23194" y="36669"/>
                </a:lnTo>
                <a:cubicBezTo>
                  <a:pt x="23424" y="34988"/>
                  <a:pt x="23754" y="33341"/>
                  <a:pt x="24182" y="31661"/>
                </a:cubicBezTo>
                <a:cubicBezTo>
                  <a:pt x="24643" y="29981"/>
                  <a:pt x="25171" y="28366"/>
                  <a:pt x="25830" y="26818"/>
                </a:cubicBezTo>
                <a:lnTo>
                  <a:pt x="18153" y="15320"/>
                </a:lnTo>
                <a:cubicBezTo>
                  <a:pt x="15847" y="11860"/>
                  <a:pt x="16308" y="7281"/>
                  <a:pt x="19240" y="4349"/>
                </a:cubicBezTo>
                <a:lnTo>
                  <a:pt x="25566" y="-1977"/>
                </a:lnTo>
                <a:cubicBezTo>
                  <a:pt x="28498" y="-4909"/>
                  <a:pt x="33078" y="-5370"/>
                  <a:pt x="36537" y="-3064"/>
                </a:cubicBezTo>
                <a:lnTo>
                  <a:pt x="48068" y="4612"/>
                </a:lnTo>
                <a:cubicBezTo>
                  <a:pt x="51198" y="3328"/>
                  <a:pt x="54525" y="2405"/>
                  <a:pt x="57919" y="1944"/>
                </a:cubicBezTo>
                <a:lnTo>
                  <a:pt x="64047" y="-10444"/>
                </a:lnTo>
                <a:cubicBezTo>
                  <a:pt x="65892" y="-14167"/>
                  <a:pt x="70076" y="-16045"/>
                  <a:pt x="74095" y="-14990"/>
                </a:cubicBezTo>
                <a:close/>
                <a:moveTo>
                  <a:pt x="63388" y="27674"/>
                </a:moveTo>
                <a:cubicBezTo>
                  <a:pt x="55387" y="27674"/>
                  <a:pt x="48892" y="34170"/>
                  <a:pt x="48892" y="42171"/>
                </a:cubicBezTo>
                <a:cubicBezTo>
                  <a:pt x="48892" y="50171"/>
                  <a:pt x="55387" y="56667"/>
                  <a:pt x="63388" y="56667"/>
                </a:cubicBezTo>
                <a:cubicBezTo>
                  <a:pt x="71388" y="56667"/>
                  <a:pt x="77884" y="50171"/>
                  <a:pt x="77884" y="42171"/>
                </a:cubicBezTo>
                <a:cubicBezTo>
                  <a:pt x="77884" y="34170"/>
                  <a:pt x="71388" y="27674"/>
                  <a:pt x="63388" y="27674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0" name="Text 48"/>
          <p:cNvSpPr/>
          <p:nvPr/>
        </p:nvSpPr>
        <p:spPr>
          <a:xfrm>
            <a:off x="6294553" y="3767360"/>
            <a:ext cx="25021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299239" y="3954785"/>
            <a:ext cx="249275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业务逻辑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953764" y="3467480"/>
            <a:ext cx="2586466" cy="7122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0176829" y="3557445"/>
            <a:ext cx="147597" cy="168683"/>
          </a:xfrm>
          <a:custGeom>
            <a:avLst/>
            <a:gdLst/>
            <a:ahLst/>
            <a:cxnLst/>
            <a:rect l="l" t="t" r="r" b="b"/>
            <a:pathLst>
              <a:path w="147597" h="168683">
                <a:moveTo>
                  <a:pt x="147597" y="67802"/>
                </a:moveTo>
                <a:cubicBezTo>
                  <a:pt x="142721" y="71031"/>
                  <a:pt x="137120" y="73634"/>
                  <a:pt x="131289" y="75709"/>
                </a:cubicBezTo>
                <a:cubicBezTo>
                  <a:pt x="115805" y="81244"/>
                  <a:pt x="95477" y="84341"/>
                  <a:pt x="73799" y="84341"/>
                </a:cubicBezTo>
                <a:cubicBezTo>
                  <a:pt x="52120" y="84341"/>
                  <a:pt x="31760" y="81211"/>
                  <a:pt x="16308" y="75709"/>
                </a:cubicBezTo>
                <a:cubicBezTo>
                  <a:pt x="10510" y="73634"/>
                  <a:pt x="4876" y="71031"/>
                  <a:pt x="0" y="67802"/>
                </a:cubicBezTo>
                <a:lnTo>
                  <a:pt x="0" y="94884"/>
                </a:lnTo>
                <a:cubicBezTo>
                  <a:pt x="0" y="109446"/>
                  <a:pt x="33045" y="121241"/>
                  <a:pt x="73799" y="121241"/>
                </a:cubicBezTo>
                <a:cubicBezTo>
                  <a:pt x="114553" y="121241"/>
                  <a:pt x="147597" y="109446"/>
                  <a:pt x="147597" y="94884"/>
                </a:cubicBezTo>
                <a:lnTo>
                  <a:pt x="147597" y="67802"/>
                </a:lnTo>
                <a:close/>
                <a:moveTo>
                  <a:pt x="147597" y="42171"/>
                </a:moveTo>
                <a:lnTo>
                  <a:pt x="147597" y="26357"/>
                </a:lnTo>
                <a:cubicBezTo>
                  <a:pt x="147597" y="11795"/>
                  <a:pt x="114553" y="0"/>
                  <a:pt x="73799" y="0"/>
                </a:cubicBezTo>
                <a:cubicBezTo>
                  <a:pt x="33045" y="0"/>
                  <a:pt x="0" y="11795"/>
                  <a:pt x="0" y="26357"/>
                </a:cubicBezTo>
                <a:lnTo>
                  <a:pt x="0" y="42171"/>
                </a:lnTo>
                <a:cubicBezTo>
                  <a:pt x="0" y="56733"/>
                  <a:pt x="33045" y="68527"/>
                  <a:pt x="73799" y="68527"/>
                </a:cubicBezTo>
                <a:cubicBezTo>
                  <a:pt x="114553" y="68527"/>
                  <a:pt x="147597" y="56733"/>
                  <a:pt x="147597" y="42171"/>
                </a:cubicBezTo>
                <a:close/>
                <a:moveTo>
                  <a:pt x="131289" y="128423"/>
                </a:moveTo>
                <a:cubicBezTo>
                  <a:pt x="115837" y="133925"/>
                  <a:pt x="95510" y="137055"/>
                  <a:pt x="73799" y="137055"/>
                </a:cubicBezTo>
                <a:cubicBezTo>
                  <a:pt x="52087" y="137055"/>
                  <a:pt x="31760" y="133925"/>
                  <a:pt x="16308" y="128423"/>
                </a:cubicBezTo>
                <a:cubicBezTo>
                  <a:pt x="10510" y="126347"/>
                  <a:pt x="4876" y="123744"/>
                  <a:pt x="0" y="120516"/>
                </a:cubicBezTo>
                <a:lnTo>
                  <a:pt x="0" y="142326"/>
                </a:lnTo>
                <a:cubicBezTo>
                  <a:pt x="0" y="156888"/>
                  <a:pt x="33045" y="168683"/>
                  <a:pt x="73799" y="168683"/>
                </a:cubicBezTo>
                <a:cubicBezTo>
                  <a:pt x="114553" y="168683"/>
                  <a:pt x="147597" y="156888"/>
                  <a:pt x="147597" y="142326"/>
                </a:cubicBezTo>
                <a:lnTo>
                  <a:pt x="147597" y="120516"/>
                </a:lnTo>
                <a:cubicBezTo>
                  <a:pt x="142721" y="123744"/>
                  <a:pt x="137120" y="126347"/>
                  <a:pt x="131289" y="12842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4" name="Text 52"/>
          <p:cNvSpPr/>
          <p:nvPr/>
        </p:nvSpPr>
        <p:spPr>
          <a:xfrm>
            <a:off x="8995934" y="3767360"/>
            <a:ext cx="25021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000620" y="3954785"/>
            <a:ext cx="249275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数据访问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551002" y="4254549"/>
            <a:ext cx="2586466" cy="7122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763408" y="434451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73897" y="-824"/>
                </a:moveTo>
                <a:cubicBezTo>
                  <a:pt x="80421" y="-4579"/>
                  <a:pt x="88460" y="-4579"/>
                  <a:pt x="94983" y="-824"/>
                </a:cubicBezTo>
                <a:lnTo>
                  <a:pt x="152934" y="32616"/>
                </a:lnTo>
                <a:cubicBezTo>
                  <a:pt x="159458" y="36372"/>
                  <a:pt x="163477" y="43357"/>
                  <a:pt x="163477" y="50868"/>
                </a:cubicBezTo>
                <a:lnTo>
                  <a:pt x="163477" y="117748"/>
                </a:lnTo>
                <a:cubicBezTo>
                  <a:pt x="163477" y="125293"/>
                  <a:pt x="159458" y="132244"/>
                  <a:pt x="152934" y="136000"/>
                </a:cubicBezTo>
                <a:lnTo>
                  <a:pt x="94983" y="169506"/>
                </a:lnTo>
                <a:cubicBezTo>
                  <a:pt x="88460" y="173262"/>
                  <a:pt x="80421" y="173262"/>
                  <a:pt x="73897" y="169506"/>
                </a:cubicBezTo>
                <a:lnTo>
                  <a:pt x="15979" y="136066"/>
                </a:lnTo>
                <a:cubicBezTo>
                  <a:pt x="9455" y="132310"/>
                  <a:pt x="5436" y="125326"/>
                  <a:pt x="5436" y="117814"/>
                </a:cubicBezTo>
                <a:lnTo>
                  <a:pt x="5436" y="50934"/>
                </a:lnTo>
                <a:cubicBezTo>
                  <a:pt x="5436" y="43390"/>
                  <a:pt x="9455" y="36438"/>
                  <a:pt x="15979" y="32682"/>
                </a:cubicBezTo>
                <a:lnTo>
                  <a:pt x="73897" y="-824"/>
                </a:lnTo>
                <a:close/>
                <a:moveTo>
                  <a:pt x="142359" y="117781"/>
                </a:moveTo>
                <a:lnTo>
                  <a:pt x="142359" y="63058"/>
                </a:lnTo>
                <a:lnTo>
                  <a:pt x="94983" y="90403"/>
                </a:lnTo>
                <a:lnTo>
                  <a:pt x="94983" y="145126"/>
                </a:lnTo>
                <a:lnTo>
                  <a:pt x="142359" y="11778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58" name="Text 56"/>
          <p:cNvSpPr/>
          <p:nvPr/>
        </p:nvSpPr>
        <p:spPr>
          <a:xfrm>
            <a:off x="3593173" y="4554429"/>
            <a:ext cx="25021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Entity/DTO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3597858" y="4741854"/>
            <a:ext cx="249275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数据模型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252383" y="4254549"/>
            <a:ext cx="2586466" cy="7122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7464789" y="434451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84341" y="0"/>
                </a:moveTo>
                <a:cubicBezTo>
                  <a:pt x="85857" y="0"/>
                  <a:pt x="87372" y="329"/>
                  <a:pt x="88756" y="955"/>
                </a:cubicBezTo>
                <a:lnTo>
                  <a:pt x="150826" y="27279"/>
                </a:lnTo>
                <a:cubicBezTo>
                  <a:pt x="158074" y="30343"/>
                  <a:pt x="163477" y="37492"/>
                  <a:pt x="163444" y="46124"/>
                </a:cubicBezTo>
                <a:cubicBezTo>
                  <a:pt x="163279" y="78806"/>
                  <a:pt x="149838" y="138603"/>
                  <a:pt x="93072" y="165783"/>
                </a:cubicBezTo>
                <a:cubicBezTo>
                  <a:pt x="87570" y="168419"/>
                  <a:pt x="81178" y="168419"/>
                  <a:pt x="75677" y="165783"/>
                </a:cubicBezTo>
                <a:cubicBezTo>
                  <a:pt x="18878" y="138603"/>
                  <a:pt x="5469" y="78806"/>
                  <a:pt x="5304" y="46124"/>
                </a:cubicBezTo>
                <a:cubicBezTo>
                  <a:pt x="5271" y="37492"/>
                  <a:pt x="10674" y="30343"/>
                  <a:pt x="17923" y="27279"/>
                </a:cubicBezTo>
                <a:lnTo>
                  <a:pt x="79959" y="955"/>
                </a:lnTo>
                <a:cubicBezTo>
                  <a:pt x="81343" y="329"/>
                  <a:pt x="82826" y="0"/>
                  <a:pt x="84341" y="0"/>
                </a:cubicBezTo>
                <a:close/>
                <a:moveTo>
                  <a:pt x="84341" y="22008"/>
                </a:moveTo>
                <a:lnTo>
                  <a:pt x="84341" y="146576"/>
                </a:lnTo>
                <a:cubicBezTo>
                  <a:pt x="129806" y="124568"/>
                  <a:pt x="142029" y="75808"/>
                  <a:pt x="142326" y="46618"/>
                </a:cubicBezTo>
                <a:lnTo>
                  <a:pt x="84341" y="22041"/>
                </a:lnTo>
                <a:lnTo>
                  <a:pt x="84341" y="22041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62" name="Text 60"/>
          <p:cNvSpPr/>
          <p:nvPr/>
        </p:nvSpPr>
        <p:spPr>
          <a:xfrm>
            <a:off x="6294553" y="4554429"/>
            <a:ext cx="25021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299239" y="4741854"/>
            <a:ext cx="249275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认证授权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953764" y="4254549"/>
            <a:ext cx="2586466" cy="71221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28114" dist="9371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0166287" y="4344514"/>
            <a:ext cx="168683" cy="168683"/>
          </a:xfrm>
          <a:custGeom>
            <a:avLst/>
            <a:gdLst/>
            <a:ahLst/>
            <a:cxnLst/>
            <a:rect l="l" t="t" r="r" b="b"/>
            <a:pathLst>
              <a:path w="168683" h="168683">
                <a:moveTo>
                  <a:pt x="84341" y="0"/>
                </a:moveTo>
                <a:cubicBezTo>
                  <a:pt x="89184" y="0"/>
                  <a:pt x="93632" y="2669"/>
                  <a:pt x="95938" y="6919"/>
                </a:cubicBezTo>
                <a:lnTo>
                  <a:pt x="167101" y="138702"/>
                </a:lnTo>
                <a:cubicBezTo>
                  <a:pt x="169309" y="142787"/>
                  <a:pt x="169210" y="147729"/>
                  <a:pt x="166838" y="151715"/>
                </a:cubicBezTo>
                <a:cubicBezTo>
                  <a:pt x="164465" y="155702"/>
                  <a:pt x="160150" y="158140"/>
                  <a:pt x="155504" y="158140"/>
                </a:cubicBezTo>
                <a:lnTo>
                  <a:pt x="13178" y="158140"/>
                </a:lnTo>
                <a:cubicBezTo>
                  <a:pt x="8533" y="158140"/>
                  <a:pt x="4250" y="155702"/>
                  <a:pt x="1845" y="151715"/>
                </a:cubicBezTo>
                <a:cubicBezTo>
                  <a:pt x="-560" y="147729"/>
                  <a:pt x="-626" y="142787"/>
                  <a:pt x="1581" y="138702"/>
                </a:cubicBezTo>
                <a:lnTo>
                  <a:pt x="72744" y="6919"/>
                </a:lnTo>
                <a:cubicBezTo>
                  <a:pt x="75051" y="2669"/>
                  <a:pt x="79498" y="0"/>
                  <a:pt x="84341" y="0"/>
                </a:cubicBezTo>
                <a:close/>
                <a:moveTo>
                  <a:pt x="84341" y="55349"/>
                </a:moveTo>
                <a:cubicBezTo>
                  <a:pt x="79959" y="55349"/>
                  <a:pt x="76434" y="58874"/>
                  <a:pt x="76434" y="63256"/>
                </a:cubicBezTo>
                <a:lnTo>
                  <a:pt x="76434" y="100155"/>
                </a:lnTo>
                <a:cubicBezTo>
                  <a:pt x="76434" y="104537"/>
                  <a:pt x="79959" y="108062"/>
                  <a:pt x="84341" y="108062"/>
                </a:cubicBezTo>
                <a:cubicBezTo>
                  <a:pt x="88723" y="108062"/>
                  <a:pt x="92248" y="104537"/>
                  <a:pt x="92248" y="100155"/>
                </a:cubicBezTo>
                <a:lnTo>
                  <a:pt x="92248" y="63256"/>
                </a:lnTo>
                <a:cubicBezTo>
                  <a:pt x="92248" y="58874"/>
                  <a:pt x="88723" y="55349"/>
                  <a:pt x="84341" y="55349"/>
                </a:cubicBezTo>
                <a:close/>
                <a:moveTo>
                  <a:pt x="93138" y="126512"/>
                </a:moveTo>
                <a:cubicBezTo>
                  <a:pt x="93338" y="123247"/>
                  <a:pt x="91710" y="120140"/>
                  <a:pt x="88911" y="118447"/>
                </a:cubicBezTo>
                <a:cubicBezTo>
                  <a:pt x="86111" y="116754"/>
                  <a:pt x="82604" y="116754"/>
                  <a:pt x="79805" y="118447"/>
                </a:cubicBezTo>
                <a:cubicBezTo>
                  <a:pt x="77006" y="120140"/>
                  <a:pt x="75378" y="123247"/>
                  <a:pt x="75578" y="126512"/>
                </a:cubicBezTo>
                <a:cubicBezTo>
                  <a:pt x="75378" y="129777"/>
                  <a:pt x="77006" y="132884"/>
                  <a:pt x="79805" y="134577"/>
                </a:cubicBezTo>
                <a:cubicBezTo>
                  <a:pt x="82604" y="136270"/>
                  <a:pt x="86111" y="136270"/>
                  <a:pt x="88911" y="134577"/>
                </a:cubicBezTo>
                <a:cubicBezTo>
                  <a:pt x="91710" y="132884"/>
                  <a:pt x="93338" y="129777"/>
                  <a:pt x="93138" y="126512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66" name="Text 64"/>
          <p:cNvSpPr/>
          <p:nvPr/>
        </p:nvSpPr>
        <p:spPr>
          <a:xfrm>
            <a:off x="8995934" y="4554429"/>
            <a:ext cx="2502125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Exception/AOP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000620" y="4741854"/>
            <a:ext cx="2492753" cy="14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8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异常日志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3518203" y="5041617"/>
            <a:ext cx="8059277" cy="187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3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 3.2.1 + Spring Security + JWT + JPA/Hibernate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462563" y="5431462"/>
            <a:ext cx="168683" cy="224910"/>
          </a:xfrm>
          <a:custGeom>
            <a:avLst/>
            <a:gdLst/>
            <a:ahLst/>
            <a:cxnLst/>
            <a:rect l="l" t="t" r="r" b="b"/>
            <a:pathLst>
              <a:path w="168683" h="224910">
                <a:moveTo>
                  <a:pt x="74414" y="220781"/>
                </a:moveTo>
                <a:cubicBezTo>
                  <a:pt x="79905" y="226272"/>
                  <a:pt x="88822" y="226272"/>
                  <a:pt x="94313" y="220781"/>
                </a:cubicBezTo>
                <a:lnTo>
                  <a:pt x="164597" y="150496"/>
                </a:lnTo>
                <a:cubicBezTo>
                  <a:pt x="170088" y="145005"/>
                  <a:pt x="170088" y="136088"/>
                  <a:pt x="164597" y="130597"/>
                </a:cubicBezTo>
                <a:cubicBezTo>
                  <a:pt x="159106" y="125106"/>
                  <a:pt x="150189" y="125106"/>
                  <a:pt x="144698" y="130597"/>
                </a:cubicBezTo>
                <a:lnTo>
                  <a:pt x="98398" y="176897"/>
                </a:lnTo>
                <a:lnTo>
                  <a:pt x="98398" y="14057"/>
                </a:lnTo>
                <a:cubicBezTo>
                  <a:pt x="98398" y="6282"/>
                  <a:pt x="92116" y="0"/>
                  <a:pt x="84341" y="0"/>
                </a:cubicBezTo>
                <a:cubicBezTo>
                  <a:pt x="76566" y="0"/>
                  <a:pt x="70284" y="6282"/>
                  <a:pt x="70284" y="14057"/>
                </a:cubicBezTo>
                <a:lnTo>
                  <a:pt x="70284" y="176897"/>
                </a:lnTo>
                <a:lnTo>
                  <a:pt x="23985" y="130597"/>
                </a:lnTo>
                <a:cubicBezTo>
                  <a:pt x="18494" y="125106"/>
                  <a:pt x="9576" y="125106"/>
                  <a:pt x="4085" y="130597"/>
                </a:cubicBezTo>
                <a:cubicBezTo>
                  <a:pt x="-1406" y="136088"/>
                  <a:pt x="-1406" y="145005"/>
                  <a:pt x="4085" y="150496"/>
                </a:cubicBezTo>
                <a:lnTo>
                  <a:pt x="74370" y="22078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70" name="Shape 68"/>
          <p:cNvSpPr/>
          <p:nvPr/>
        </p:nvSpPr>
        <p:spPr>
          <a:xfrm>
            <a:off x="3431050" y="5738839"/>
            <a:ext cx="8233583" cy="502299"/>
          </a:xfrm>
          <a:prstGeom prst="roundRect">
            <a:avLst>
              <a:gd name="adj" fmla="val 14925"/>
            </a:avLst>
          </a:pr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0" scaled="1"/>
          </a:gradFill>
          <a:ln w="20320">
            <a:solidFill>
              <a:srgbClr val="E67E22">
                <a:alpha val="30196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76596" y="5877533"/>
            <a:ext cx="196796" cy="224910"/>
          </a:xfrm>
          <a:custGeom>
            <a:avLst/>
            <a:gdLst/>
            <a:ahLst/>
            <a:cxnLst/>
            <a:rect l="l" t="t" r="r" b="b"/>
            <a:pathLst>
              <a:path w="196796" h="224910">
                <a:moveTo>
                  <a:pt x="196796" y="90403"/>
                </a:moveTo>
                <a:cubicBezTo>
                  <a:pt x="190295" y="94708"/>
                  <a:pt x="182827" y="98179"/>
                  <a:pt x="175052" y="100946"/>
                </a:cubicBezTo>
                <a:cubicBezTo>
                  <a:pt x="154406" y="108326"/>
                  <a:pt x="127303" y="112455"/>
                  <a:pt x="98398" y="112455"/>
                </a:cubicBezTo>
                <a:cubicBezTo>
                  <a:pt x="69494" y="112455"/>
                  <a:pt x="42346" y="108282"/>
                  <a:pt x="21744" y="100946"/>
                </a:cubicBezTo>
                <a:cubicBezTo>
                  <a:pt x="14013" y="98179"/>
                  <a:pt x="6501" y="94708"/>
                  <a:pt x="0" y="90403"/>
                </a:cubicBezTo>
                <a:lnTo>
                  <a:pt x="0" y="126512"/>
                </a:lnTo>
                <a:cubicBezTo>
                  <a:pt x="0" y="145928"/>
                  <a:pt x="44060" y="161654"/>
                  <a:pt x="98398" y="161654"/>
                </a:cubicBezTo>
                <a:cubicBezTo>
                  <a:pt x="152737" y="161654"/>
                  <a:pt x="196796" y="145928"/>
                  <a:pt x="196796" y="126512"/>
                </a:cubicBezTo>
                <a:lnTo>
                  <a:pt x="196796" y="90403"/>
                </a:lnTo>
                <a:close/>
                <a:moveTo>
                  <a:pt x="196796" y="56228"/>
                </a:moveTo>
                <a:lnTo>
                  <a:pt x="196796" y="35142"/>
                </a:lnTo>
                <a:cubicBezTo>
                  <a:pt x="196796" y="15726"/>
                  <a:pt x="152737" y="0"/>
                  <a:pt x="98398" y="0"/>
                </a:cubicBezTo>
                <a:cubicBezTo>
                  <a:pt x="44060" y="0"/>
                  <a:pt x="0" y="15726"/>
                  <a:pt x="0" y="35142"/>
                </a:cubicBezTo>
                <a:lnTo>
                  <a:pt x="0" y="56228"/>
                </a:lnTo>
                <a:cubicBezTo>
                  <a:pt x="0" y="75644"/>
                  <a:pt x="44060" y="91370"/>
                  <a:pt x="98398" y="91370"/>
                </a:cubicBezTo>
                <a:cubicBezTo>
                  <a:pt x="152737" y="91370"/>
                  <a:pt x="196796" y="75644"/>
                  <a:pt x="196796" y="56228"/>
                </a:cubicBezTo>
                <a:close/>
                <a:moveTo>
                  <a:pt x="175052" y="171230"/>
                </a:moveTo>
                <a:cubicBezTo>
                  <a:pt x="154450" y="178566"/>
                  <a:pt x="127347" y="182739"/>
                  <a:pt x="98398" y="182739"/>
                </a:cubicBezTo>
                <a:cubicBezTo>
                  <a:pt x="69450" y="182739"/>
                  <a:pt x="42346" y="178566"/>
                  <a:pt x="21744" y="171230"/>
                </a:cubicBezTo>
                <a:cubicBezTo>
                  <a:pt x="14013" y="168463"/>
                  <a:pt x="6501" y="164993"/>
                  <a:pt x="0" y="160688"/>
                </a:cubicBezTo>
                <a:lnTo>
                  <a:pt x="0" y="189768"/>
                </a:lnTo>
                <a:cubicBezTo>
                  <a:pt x="0" y="209184"/>
                  <a:pt x="44060" y="224910"/>
                  <a:pt x="98398" y="224910"/>
                </a:cubicBezTo>
                <a:cubicBezTo>
                  <a:pt x="152737" y="224910"/>
                  <a:pt x="196796" y="209184"/>
                  <a:pt x="196796" y="189768"/>
                </a:cubicBezTo>
                <a:lnTo>
                  <a:pt x="196796" y="160688"/>
                </a:lnTo>
                <a:cubicBezTo>
                  <a:pt x="190295" y="164993"/>
                  <a:pt x="182827" y="168463"/>
                  <a:pt x="175052" y="17123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72" name="Text 70"/>
          <p:cNvSpPr/>
          <p:nvPr/>
        </p:nvSpPr>
        <p:spPr>
          <a:xfrm>
            <a:off x="6228018" y="5858790"/>
            <a:ext cx="1499400" cy="262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 8.0 数据库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759866" y="5877533"/>
            <a:ext cx="1574370" cy="224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1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数据持久化存储与管理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363398"/>
            <a:ext cx="72680" cy="36339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5097" y="363398"/>
            <a:ext cx="2779994" cy="363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技术栈与项目规模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5097" y="799475"/>
            <a:ext cx="11365270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STACK &amp; PROJECT SCALE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398" y="1162873"/>
            <a:ext cx="6822796" cy="2316662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757" y="1308232"/>
            <a:ext cx="363398" cy="363398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626861" y="1417252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18170" y="9085"/>
                </a:moveTo>
                <a:cubicBezTo>
                  <a:pt x="8148" y="9085"/>
                  <a:pt x="0" y="17233"/>
                  <a:pt x="0" y="27255"/>
                </a:cubicBezTo>
                <a:lnTo>
                  <a:pt x="0" y="45425"/>
                </a:lnTo>
                <a:cubicBezTo>
                  <a:pt x="0" y="55447"/>
                  <a:pt x="8148" y="63595"/>
                  <a:pt x="18170" y="63595"/>
                </a:cubicBezTo>
                <a:lnTo>
                  <a:pt x="109019" y="63595"/>
                </a:lnTo>
                <a:cubicBezTo>
                  <a:pt x="119041" y="63595"/>
                  <a:pt x="127189" y="55447"/>
                  <a:pt x="127189" y="45425"/>
                </a:cubicBezTo>
                <a:lnTo>
                  <a:pt x="127189" y="27255"/>
                </a:lnTo>
                <a:cubicBezTo>
                  <a:pt x="127189" y="17233"/>
                  <a:pt x="119041" y="9085"/>
                  <a:pt x="109019" y="9085"/>
                </a:cubicBezTo>
                <a:lnTo>
                  <a:pt x="18170" y="9085"/>
                </a:lnTo>
                <a:close/>
                <a:moveTo>
                  <a:pt x="79493" y="29526"/>
                </a:moveTo>
                <a:cubicBezTo>
                  <a:pt x="83254" y="29526"/>
                  <a:pt x="86307" y="32579"/>
                  <a:pt x="86307" y="36340"/>
                </a:cubicBezTo>
                <a:cubicBezTo>
                  <a:pt x="86307" y="40100"/>
                  <a:pt x="83254" y="43154"/>
                  <a:pt x="79493" y="43154"/>
                </a:cubicBezTo>
                <a:cubicBezTo>
                  <a:pt x="75733" y="43154"/>
                  <a:pt x="72680" y="40100"/>
                  <a:pt x="72680" y="36340"/>
                </a:cubicBezTo>
                <a:cubicBezTo>
                  <a:pt x="72680" y="32579"/>
                  <a:pt x="75733" y="29526"/>
                  <a:pt x="79493" y="29526"/>
                </a:cubicBezTo>
                <a:close/>
                <a:moveTo>
                  <a:pt x="95392" y="36340"/>
                </a:moveTo>
                <a:cubicBezTo>
                  <a:pt x="95392" y="32579"/>
                  <a:pt x="98445" y="29526"/>
                  <a:pt x="102206" y="29526"/>
                </a:cubicBezTo>
                <a:cubicBezTo>
                  <a:pt x="105966" y="29526"/>
                  <a:pt x="109019" y="32579"/>
                  <a:pt x="109019" y="36340"/>
                </a:cubicBezTo>
                <a:cubicBezTo>
                  <a:pt x="109019" y="40100"/>
                  <a:pt x="105966" y="43154"/>
                  <a:pt x="102206" y="43154"/>
                </a:cubicBezTo>
                <a:cubicBezTo>
                  <a:pt x="98445" y="43154"/>
                  <a:pt x="95392" y="40100"/>
                  <a:pt x="95392" y="36340"/>
                </a:cubicBezTo>
                <a:close/>
                <a:moveTo>
                  <a:pt x="18170" y="81765"/>
                </a:moveTo>
                <a:cubicBezTo>
                  <a:pt x="8148" y="81765"/>
                  <a:pt x="0" y="89913"/>
                  <a:pt x="0" y="99934"/>
                </a:cubicBezTo>
                <a:lnTo>
                  <a:pt x="0" y="118104"/>
                </a:lnTo>
                <a:cubicBezTo>
                  <a:pt x="0" y="128126"/>
                  <a:pt x="8148" y="136274"/>
                  <a:pt x="18170" y="136274"/>
                </a:cubicBezTo>
                <a:lnTo>
                  <a:pt x="109019" y="136274"/>
                </a:lnTo>
                <a:cubicBezTo>
                  <a:pt x="119041" y="136274"/>
                  <a:pt x="127189" y="128126"/>
                  <a:pt x="127189" y="118104"/>
                </a:cubicBezTo>
                <a:lnTo>
                  <a:pt x="127189" y="99934"/>
                </a:lnTo>
                <a:cubicBezTo>
                  <a:pt x="127189" y="89913"/>
                  <a:pt x="119041" y="81765"/>
                  <a:pt x="109019" y="81765"/>
                </a:cubicBezTo>
                <a:lnTo>
                  <a:pt x="18170" y="81765"/>
                </a:lnTo>
                <a:close/>
                <a:moveTo>
                  <a:pt x="79493" y="102206"/>
                </a:moveTo>
                <a:cubicBezTo>
                  <a:pt x="83254" y="102206"/>
                  <a:pt x="86307" y="105259"/>
                  <a:pt x="86307" y="109019"/>
                </a:cubicBezTo>
                <a:cubicBezTo>
                  <a:pt x="86307" y="112780"/>
                  <a:pt x="83254" y="115833"/>
                  <a:pt x="79493" y="115833"/>
                </a:cubicBezTo>
                <a:cubicBezTo>
                  <a:pt x="75733" y="115833"/>
                  <a:pt x="72680" y="112780"/>
                  <a:pt x="72680" y="109019"/>
                </a:cubicBezTo>
                <a:cubicBezTo>
                  <a:pt x="72680" y="105259"/>
                  <a:pt x="75733" y="102206"/>
                  <a:pt x="79493" y="102206"/>
                </a:cubicBezTo>
                <a:close/>
                <a:moveTo>
                  <a:pt x="95392" y="109019"/>
                </a:moveTo>
                <a:cubicBezTo>
                  <a:pt x="95392" y="105259"/>
                  <a:pt x="98445" y="102206"/>
                  <a:pt x="102206" y="102206"/>
                </a:cubicBezTo>
                <a:cubicBezTo>
                  <a:pt x="105966" y="102206"/>
                  <a:pt x="109019" y="105259"/>
                  <a:pt x="109019" y="109019"/>
                </a:cubicBezTo>
                <a:cubicBezTo>
                  <a:pt x="109019" y="112780"/>
                  <a:pt x="105966" y="115833"/>
                  <a:pt x="102206" y="115833"/>
                </a:cubicBezTo>
                <a:cubicBezTo>
                  <a:pt x="98445" y="115833"/>
                  <a:pt x="95392" y="112780"/>
                  <a:pt x="95392" y="1090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81174" y="1344572"/>
            <a:ext cx="981174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后端技术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391" y="1784284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6134" y="1860598"/>
            <a:ext cx="163529" cy="218039"/>
          </a:xfrm>
          <a:custGeom>
            <a:avLst/>
            <a:gdLst/>
            <a:ahLst/>
            <a:cxnLst/>
            <a:rect l="l" t="t" r="r" b="b"/>
            <a:pathLst>
              <a:path w="163529" h="218039">
                <a:moveTo>
                  <a:pt x="118303" y="133251"/>
                </a:moveTo>
                <a:cubicBezTo>
                  <a:pt x="122476" y="130397"/>
                  <a:pt x="128268" y="127927"/>
                  <a:pt x="128268" y="127927"/>
                </a:cubicBezTo>
                <a:cubicBezTo>
                  <a:pt x="128268" y="127927"/>
                  <a:pt x="111787" y="130908"/>
                  <a:pt x="95392" y="132271"/>
                </a:cubicBezTo>
                <a:cubicBezTo>
                  <a:pt x="75334" y="133932"/>
                  <a:pt x="53786" y="134273"/>
                  <a:pt x="42969" y="132825"/>
                </a:cubicBezTo>
                <a:cubicBezTo>
                  <a:pt x="17375" y="129418"/>
                  <a:pt x="57022" y="120006"/>
                  <a:pt x="57022" y="120006"/>
                </a:cubicBezTo>
                <a:cubicBezTo>
                  <a:pt x="57022" y="120006"/>
                  <a:pt x="41649" y="118984"/>
                  <a:pt x="22698" y="128098"/>
                </a:cubicBezTo>
                <a:cubicBezTo>
                  <a:pt x="341" y="138915"/>
                  <a:pt x="78060" y="143854"/>
                  <a:pt x="118303" y="133251"/>
                </a:cubicBezTo>
                <a:close/>
                <a:moveTo>
                  <a:pt x="81935" y="119581"/>
                </a:moveTo>
                <a:cubicBezTo>
                  <a:pt x="73844" y="101397"/>
                  <a:pt x="46546" y="85427"/>
                  <a:pt x="81935" y="57491"/>
                </a:cubicBezTo>
                <a:cubicBezTo>
                  <a:pt x="126096" y="22656"/>
                  <a:pt x="103441" y="0"/>
                  <a:pt x="103441" y="0"/>
                </a:cubicBezTo>
                <a:cubicBezTo>
                  <a:pt x="112597" y="35985"/>
                  <a:pt x="71246" y="46887"/>
                  <a:pt x="56298" y="69244"/>
                </a:cubicBezTo>
                <a:cubicBezTo>
                  <a:pt x="46120" y="84533"/>
                  <a:pt x="61281" y="100928"/>
                  <a:pt x="81935" y="119581"/>
                </a:cubicBezTo>
                <a:close/>
                <a:moveTo>
                  <a:pt x="130738" y="44545"/>
                </a:moveTo>
                <a:cubicBezTo>
                  <a:pt x="130781" y="44545"/>
                  <a:pt x="56128" y="63197"/>
                  <a:pt x="91772" y="104250"/>
                </a:cubicBezTo>
                <a:cubicBezTo>
                  <a:pt x="102291" y="116344"/>
                  <a:pt x="89004" y="127246"/>
                  <a:pt x="89004" y="127246"/>
                </a:cubicBezTo>
                <a:cubicBezTo>
                  <a:pt x="89004" y="127246"/>
                  <a:pt x="115705" y="113448"/>
                  <a:pt x="103441" y="96201"/>
                </a:cubicBezTo>
                <a:cubicBezTo>
                  <a:pt x="91985" y="80104"/>
                  <a:pt x="83212" y="72098"/>
                  <a:pt x="130738" y="44545"/>
                </a:cubicBezTo>
                <a:close/>
                <a:moveTo>
                  <a:pt x="128140" y="159739"/>
                </a:moveTo>
                <a:cubicBezTo>
                  <a:pt x="127927" y="160165"/>
                  <a:pt x="127629" y="160505"/>
                  <a:pt x="127289" y="160846"/>
                </a:cubicBezTo>
                <a:cubicBezTo>
                  <a:pt x="181926" y="146495"/>
                  <a:pt x="161826" y="110212"/>
                  <a:pt x="135721" y="119410"/>
                </a:cubicBezTo>
                <a:cubicBezTo>
                  <a:pt x="134315" y="119921"/>
                  <a:pt x="133080" y="120858"/>
                  <a:pt x="132229" y="122093"/>
                </a:cubicBezTo>
                <a:cubicBezTo>
                  <a:pt x="133762" y="121540"/>
                  <a:pt x="135337" y="121114"/>
                  <a:pt x="136913" y="120816"/>
                </a:cubicBezTo>
                <a:cubicBezTo>
                  <a:pt x="150115" y="118048"/>
                  <a:pt x="169065" y="138489"/>
                  <a:pt x="128140" y="159739"/>
                </a:cubicBezTo>
                <a:close/>
                <a:moveTo>
                  <a:pt x="148198" y="186270"/>
                </a:moveTo>
                <a:cubicBezTo>
                  <a:pt x="148198" y="186270"/>
                  <a:pt x="154373" y="191338"/>
                  <a:pt x="141427" y="195298"/>
                </a:cubicBezTo>
                <a:cubicBezTo>
                  <a:pt x="116770" y="202750"/>
                  <a:pt x="38881" y="205008"/>
                  <a:pt x="17247" y="195596"/>
                </a:cubicBezTo>
                <a:cubicBezTo>
                  <a:pt x="9454" y="192232"/>
                  <a:pt x="24061" y="187505"/>
                  <a:pt x="28660" y="186525"/>
                </a:cubicBezTo>
                <a:cubicBezTo>
                  <a:pt x="33430" y="185503"/>
                  <a:pt x="36198" y="185674"/>
                  <a:pt x="36198" y="185674"/>
                </a:cubicBezTo>
                <a:cubicBezTo>
                  <a:pt x="27553" y="179584"/>
                  <a:pt x="-19717" y="197640"/>
                  <a:pt x="12180" y="202793"/>
                </a:cubicBezTo>
                <a:cubicBezTo>
                  <a:pt x="99139" y="216932"/>
                  <a:pt x="170769" y="196448"/>
                  <a:pt x="148198" y="186270"/>
                </a:cubicBezTo>
                <a:close/>
                <a:moveTo>
                  <a:pt x="53019" y="168639"/>
                </a:moveTo>
                <a:cubicBezTo>
                  <a:pt x="19504" y="178008"/>
                  <a:pt x="73418" y="197342"/>
                  <a:pt x="116089" y="179073"/>
                </a:cubicBezTo>
                <a:cubicBezTo>
                  <a:pt x="111915" y="177455"/>
                  <a:pt x="107912" y="175496"/>
                  <a:pt x="104079" y="173196"/>
                </a:cubicBezTo>
                <a:cubicBezTo>
                  <a:pt x="85044" y="176816"/>
                  <a:pt x="76228" y="177071"/>
                  <a:pt x="58939" y="175112"/>
                </a:cubicBezTo>
                <a:cubicBezTo>
                  <a:pt x="44672" y="173494"/>
                  <a:pt x="53019" y="168639"/>
                  <a:pt x="53019" y="168639"/>
                </a:cubicBezTo>
                <a:close/>
                <a:moveTo>
                  <a:pt x="129588" y="210033"/>
                </a:moveTo>
                <a:cubicBezTo>
                  <a:pt x="96073" y="216335"/>
                  <a:pt x="54723" y="215611"/>
                  <a:pt x="30236" y="211566"/>
                </a:cubicBezTo>
                <a:cubicBezTo>
                  <a:pt x="30236" y="211523"/>
                  <a:pt x="35261" y="215697"/>
                  <a:pt x="61068" y="217357"/>
                </a:cubicBezTo>
                <a:cubicBezTo>
                  <a:pt x="100332" y="219870"/>
                  <a:pt x="160633" y="215952"/>
                  <a:pt x="162039" y="197385"/>
                </a:cubicBezTo>
                <a:cubicBezTo>
                  <a:pt x="162039" y="197385"/>
                  <a:pt x="159313" y="204411"/>
                  <a:pt x="129588" y="210033"/>
                </a:cubicBezTo>
                <a:close/>
                <a:moveTo>
                  <a:pt x="111021" y="150327"/>
                </a:moveTo>
                <a:cubicBezTo>
                  <a:pt x="85810" y="155182"/>
                  <a:pt x="71203" y="155055"/>
                  <a:pt x="52764" y="153138"/>
                </a:cubicBezTo>
                <a:cubicBezTo>
                  <a:pt x="38497" y="151648"/>
                  <a:pt x="47824" y="144749"/>
                  <a:pt x="47824" y="144749"/>
                </a:cubicBezTo>
                <a:cubicBezTo>
                  <a:pt x="10859" y="157013"/>
                  <a:pt x="68350" y="170896"/>
                  <a:pt x="120006" y="155778"/>
                </a:cubicBezTo>
                <a:cubicBezTo>
                  <a:pt x="116685" y="154586"/>
                  <a:pt x="113619" y="152755"/>
                  <a:pt x="111021" y="150327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556907" y="2114976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17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63353" y="1784284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9841" y="1860598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200706" y="2853"/>
                </a:moveTo>
                <a:cubicBezTo>
                  <a:pt x="203432" y="256"/>
                  <a:pt x="207392" y="-681"/>
                  <a:pt x="211055" y="511"/>
                </a:cubicBezTo>
                <a:cubicBezTo>
                  <a:pt x="215228" y="1916"/>
                  <a:pt x="218039" y="5834"/>
                  <a:pt x="218039" y="10221"/>
                </a:cubicBezTo>
                <a:lnTo>
                  <a:pt x="218039" y="89813"/>
                </a:lnTo>
                <a:cubicBezTo>
                  <a:pt x="218039" y="145686"/>
                  <a:pt x="172004" y="190784"/>
                  <a:pt x="116344" y="190784"/>
                </a:cubicBezTo>
                <a:cubicBezTo>
                  <a:pt x="83553" y="190784"/>
                  <a:pt x="55276" y="169704"/>
                  <a:pt x="45013" y="140235"/>
                </a:cubicBezTo>
                <a:cubicBezTo>
                  <a:pt x="29938" y="153351"/>
                  <a:pt x="20441" y="172642"/>
                  <a:pt x="20441" y="194191"/>
                </a:cubicBezTo>
                <a:cubicBezTo>
                  <a:pt x="20441" y="199855"/>
                  <a:pt x="15884" y="204411"/>
                  <a:pt x="10221" y="204411"/>
                </a:cubicBezTo>
                <a:cubicBezTo>
                  <a:pt x="4557" y="204411"/>
                  <a:pt x="0" y="199855"/>
                  <a:pt x="0" y="194191"/>
                </a:cubicBezTo>
                <a:cubicBezTo>
                  <a:pt x="0" y="162294"/>
                  <a:pt x="16268" y="134188"/>
                  <a:pt x="40925" y="117664"/>
                </a:cubicBezTo>
                <a:cubicBezTo>
                  <a:pt x="55958" y="107614"/>
                  <a:pt x="73886" y="102206"/>
                  <a:pt x="91985" y="102206"/>
                </a:cubicBezTo>
                <a:lnTo>
                  <a:pt x="126054" y="102206"/>
                </a:lnTo>
                <a:cubicBezTo>
                  <a:pt x="131718" y="102206"/>
                  <a:pt x="136274" y="97649"/>
                  <a:pt x="136274" y="91985"/>
                </a:cubicBezTo>
                <a:cubicBezTo>
                  <a:pt x="136274" y="86321"/>
                  <a:pt x="131718" y="81765"/>
                  <a:pt x="126054" y="81765"/>
                </a:cubicBezTo>
                <a:lnTo>
                  <a:pt x="91985" y="81765"/>
                </a:lnTo>
                <a:cubicBezTo>
                  <a:pt x="75079" y="81765"/>
                  <a:pt x="59066" y="85512"/>
                  <a:pt x="44715" y="92198"/>
                </a:cubicBezTo>
                <a:cubicBezTo>
                  <a:pt x="54637" y="62388"/>
                  <a:pt x="82701" y="40882"/>
                  <a:pt x="115833" y="40882"/>
                </a:cubicBezTo>
                <a:cubicBezTo>
                  <a:pt x="144110" y="40882"/>
                  <a:pt x="165147" y="31471"/>
                  <a:pt x="179158" y="22145"/>
                </a:cubicBezTo>
                <a:cubicBezTo>
                  <a:pt x="187334" y="16694"/>
                  <a:pt x="194276" y="10178"/>
                  <a:pt x="200749" y="285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2207870" y="2114976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12412" y="2296675"/>
            <a:ext cx="147176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3.2.1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4429" y="1784284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90917" y="1860598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09019" y="0"/>
                </a:moveTo>
                <a:cubicBezTo>
                  <a:pt x="110978" y="0"/>
                  <a:pt x="112937" y="426"/>
                  <a:pt x="114726" y="1235"/>
                </a:cubicBezTo>
                <a:lnTo>
                  <a:pt x="194957" y="35261"/>
                </a:lnTo>
                <a:cubicBezTo>
                  <a:pt x="204326" y="39221"/>
                  <a:pt x="211310" y="48463"/>
                  <a:pt x="211268" y="59620"/>
                </a:cubicBezTo>
                <a:cubicBezTo>
                  <a:pt x="211055" y="101865"/>
                  <a:pt x="193680" y="179158"/>
                  <a:pt x="120305" y="214291"/>
                </a:cubicBezTo>
                <a:cubicBezTo>
                  <a:pt x="113193" y="217698"/>
                  <a:pt x="104931" y="217698"/>
                  <a:pt x="97819" y="214291"/>
                </a:cubicBezTo>
                <a:cubicBezTo>
                  <a:pt x="24402" y="179158"/>
                  <a:pt x="7069" y="101865"/>
                  <a:pt x="6856" y="59620"/>
                </a:cubicBezTo>
                <a:cubicBezTo>
                  <a:pt x="6814" y="48463"/>
                  <a:pt x="13798" y="39221"/>
                  <a:pt x="23167" y="35261"/>
                </a:cubicBezTo>
                <a:lnTo>
                  <a:pt x="103355" y="1235"/>
                </a:lnTo>
                <a:cubicBezTo>
                  <a:pt x="105144" y="426"/>
                  <a:pt x="107060" y="0"/>
                  <a:pt x="109019" y="0"/>
                </a:cubicBezTo>
                <a:close/>
                <a:moveTo>
                  <a:pt x="109019" y="28447"/>
                </a:moveTo>
                <a:lnTo>
                  <a:pt x="109019" y="189464"/>
                </a:lnTo>
                <a:cubicBezTo>
                  <a:pt x="167788" y="161017"/>
                  <a:pt x="183587" y="97990"/>
                  <a:pt x="183970" y="60259"/>
                </a:cubicBezTo>
                <a:lnTo>
                  <a:pt x="109019" y="28490"/>
                </a:lnTo>
                <a:lnTo>
                  <a:pt x="109019" y="28490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3858945" y="2114976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63488" y="2296675"/>
            <a:ext cx="147176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JWT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65391" y="1784284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5506" y="1860598"/>
            <a:ext cx="190784" cy="218039"/>
          </a:xfrm>
          <a:custGeom>
            <a:avLst/>
            <a:gdLst/>
            <a:ahLst/>
            <a:cxnLst/>
            <a:rect l="l" t="t" r="r" b="b"/>
            <a:pathLst>
              <a:path w="190784" h="218039">
                <a:moveTo>
                  <a:pt x="190784" y="87641"/>
                </a:moveTo>
                <a:cubicBezTo>
                  <a:pt x="184481" y="91815"/>
                  <a:pt x="177242" y="95179"/>
                  <a:pt x="169704" y="97862"/>
                </a:cubicBezTo>
                <a:cubicBezTo>
                  <a:pt x="149689" y="105016"/>
                  <a:pt x="123413" y="109019"/>
                  <a:pt x="95392" y="109019"/>
                </a:cubicBezTo>
                <a:cubicBezTo>
                  <a:pt x="67371" y="109019"/>
                  <a:pt x="41053" y="104974"/>
                  <a:pt x="21080" y="97862"/>
                </a:cubicBezTo>
                <a:cubicBezTo>
                  <a:pt x="13585" y="95179"/>
                  <a:pt x="6303" y="91815"/>
                  <a:pt x="0" y="87641"/>
                </a:cubicBezTo>
                <a:lnTo>
                  <a:pt x="0" y="122647"/>
                </a:lnTo>
                <a:cubicBezTo>
                  <a:pt x="0" y="141470"/>
                  <a:pt x="42713" y="156715"/>
                  <a:pt x="95392" y="156715"/>
                </a:cubicBezTo>
                <a:cubicBezTo>
                  <a:pt x="148070" y="156715"/>
                  <a:pt x="190784" y="141470"/>
                  <a:pt x="190784" y="122647"/>
                </a:cubicBezTo>
                <a:lnTo>
                  <a:pt x="190784" y="87641"/>
                </a:lnTo>
                <a:close/>
                <a:moveTo>
                  <a:pt x="190784" y="54510"/>
                </a:moveTo>
                <a:lnTo>
                  <a:pt x="190784" y="34069"/>
                </a:lnTo>
                <a:cubicBezTo>
                  <a:pt x="190784" y="15246"/>
                  <a:pt x="148070" y="0"/>
                  <a:pt x="95392" y="0"/>
                </a:cubicBezTo>
                <a:cubicBezTo>
                  <a:pt x="42713" y="0"/>
                  <a:pt x="0" y="15246"/>
                  <a:pt x="0" y="34069"/>
                </a:cubicBezTo>
                <a:lnTo>
                  <a:pt x="0" y="54510"/>
                </a:lnTo>
                <a:cubicBezTo>
                  <a:pt x="0" y="73333"/>
                  <a:pt x="42713" y="88578"/>
                  <a:pt x="95392" y="88578"/>
                </a:cubicBezTo>
                <a:cubicBezTo>
                  <a:pt x="148070" y="88578"/>
                  <a:pt x="190784" y="73333"/>
                  <a:pt x="190784" y="54510"/>
                </a:cubicBezTo>
                <a:close/>
                <a:moveTo>
                  <a:pt x="169704" y="165999"/>
                </a:moveTo>
                <a:cubicBezTo>
                  <a:pt x="149731" y="173111"/>
                  <a:pt x="123456" y="177156"/>
                  <a:pt x="95392" y="177156"/>
                </a:cubicBezTo>
                <a:cubicBezTo>
                  <a:pt x="67328" y="177156"/>
                  <a:pt x="41053" y="173111"/>
                  <a:pt x="21080" y="165999"/>
                </a:cubicBezTo>
                <a:cubicBezTo>
                  <a:pt x="13585" y="163316"/>
                  <a:pt x="6303" y="159952"/>
                  <a:pt x="0" y="155778"/>
                </a:cubicBezTo>
                <a:lnTo>
                  <a:pt x="0" y="183970"/>
                </a:lnTo>
                <a:cubicBezTo>
                  <a:pt x="0" y="202793"/>
                  <a:pt x="42713" y="218039"/>
                  <a:pt x="95392" y="218039"/>
                </a:cubicBezTo>
                <a:cubicBezTo>
                  <a:pt x="148070" y="218039"/>
                  <a:pt x="190784" y="202793"/>
                  <a:pt x="190784" y="183970"/>
                </a:cubicBezTo>
                <a:lnTo>
                  <a:pt x="190784" y="155778"/>
                </a:lnTo>
                <a:cubicBezTo>
                  <a:pt x="184481" y="159952"/>
                  <a:pt x="177242" y="163316"/>
                  <a:pt x="169704" y="165999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2" name="Text 20"/>
          <p:cNvSpPr/>
          <p:nvPr/>
        </p:nvSpPr>
        <p:spPr>
          <a:xfrm>
            <a:off x="5509907" y="2114976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14450" y="2296675"/>
            <a:ext cx="147176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Hibernate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2391" y="2598183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02506" y="2674495"/>
            <a:ext cx="190784" cy="218039"/>
          </a:xfrm>
          <a:custGeom>
            <a:avLst/>
            <a:gdLst/>
            <a:ahLst/>
            <a:cxnLst/>
            <a:rect l="l" t="t" r="r" b="b"/>
            <a:pathLst>
              <a:path w="190784" h="218039">
                <a:moveTo>
                  <a:pt x="190784" y="87641"/>
                </a:moveTo>
                <a:cubicBezTo>
                  <a:pt x="184481" y="91815"/>
                  <a:pt x="177242" y="95179"/>
                  <a:pt x="169704" y="97862"/>
                </a:cubicBezTo>
                <a:cubicBezTo>
                  <a:pt x="149689" y="105016"/>
                  <a:pt x="123413" y="109019"/>
                  <a:pt x="95392" y="109019"/>
                </a:cubicBezTo>
                <a:cubicBezTo>
                  <a:pt x="67371" y="109019"/>
                  <a:pt x="41053" y="104974"/>
                  <a:pt x="21080" y="97862"/>
                </a:cubicBezTo>
                <a:cubicBezTo>
                  <a:pt x="13585" y="95179"/>
                  <a:pt x="6303" y="91815"/>
                  <a:pt x="0" y="87641"/>
                </a:cubicBezTo>
                <a:lnTo>
                  <a:pt x="0" y="122647"/>
                </a:lnTo>
                <a:cubicBezTo>
                  <a:pt x="0" y="141470"/>
                  <a:pt x="42713" y="156715"/>
                  <a:pt x="95392" y="156715"/>
                </a:cubicBezTo>
                <a:cubicBezTo>
                  <a:pt x="148070" y="156715"/>
                  <a:pt x="190784" y="141470"/>
                  <a:pt x="190784" y="122647"/>
                </a:cubicBezTo>
                <a:lnTo>
                  <a:pt x="190784" y="87641"/>
                </a:lnTo>
                <a:close/>
                <a:moveTo>
                  <a:pt x="190784" y="54510"/>
                </a:moveTo>
                <a:lnTo>
                  <a:pt x="190784" y="34069"/>
                </a:lnTo>
                <a:cubicBezTo>
                  <a:pt x="190784" y="15246"/>
                  <a:pt x="148070" y="0"/>
                  <a:pt x="95392" y="0"/>
                </a:cubicBezTo>
                <a:cubicBezTo>
                  <a:pt x="42713" y="0"/>
                  <a:pt x="0" y="15246"/>
                  <a:pt x="0" y="34069"/>
                </a:cubicBezTo>
                <a:lnTo>
                  <a:pt x="0" y="54510"/>
                </a:lnTo>
                <a:cubicBezTo>
                  <a:pt x="0" y="73333"/>
                  <a:pt x="42713" y="88578"/>
                  <a:pt x="95392" y="88578"/>
                </a:cubicBezTo>
                <a:cubicBezTo>
                  <a:pt x="148070" y="88578"/>
                  <a:pt x="190784" y="73333"/>
                  <a:pt x="190784" y="54510"/>
                </a:cubicBezTo>
                <a:close/>
                <a:moveTo>
                  <a:pt x="169704" y="165999"/>
                </a:moveTo>
                <a:cubicBezTo>
                  <a:pt x="149731" y="173111"/>
                  <a:pt x="123456" y="177156"/>
                  <a:pt x="95392" y="177156"/>
                </a:cubicBezTo>
                <a:cubicBezTo>
                  <a:pt x="67328" y="177156"/>
                  <a:pt x="41053" y="173111"/>
                  <a:pt x="21080" y="165999"/>
                </a:cubicBezTo>
                <a:cubicBezTo>
                  <a:pt x="13585" y="163316"/>
                  <a:pt x="6303" y="159952"/>
                  <a:pt x="0" y="155778"/>
                </a:cubicBezTo>
                <a:lnTo>
                  <a:pt x="0" y="183970"/>
                </a:lnTo>
                <a:cubicBezTo>
                  <a:pt x="0" y="202793"/>
                  <a:pt x="42713" y="218039"/>
                  <a:pt x="95392" y="218039"/>
                </a:cubicBezTo>
                <a:cubicBezTo>
                  <a:pt x="148070" y="218039"/>
                  <a:pt x="190784" y="202793"/>
                  <a:pt x="190784" y="183970"/>
                </a:cubicBezTo>
                <a:lnTo>
                  <a:pt x="190784" y="155778"/>
                </a:lnTo>
                <a:cubicBezTo>
                  <a:pt x="184481" y="159952"/>
                  <a:pt x="177242" y="163316"/>
                  <a:pt x="169704" y="165999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556907" y="2928873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MySQL 8.0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163353" y="2598183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9841" y="2674495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95520" y="-1065"/>
                </a:moveTo>
                <a:cubicBezTo>
                  <a:pt x="103952" y="-5919"/>
                  <a:pt x="114343" y="-5919"/>
                  <a:pt x="122775" y="-1065"/>
                </a:cubicBezTo>
                <a:lnTo>
                  <a:pt x="197683" y="42160"/>
                </a:lnTo>
                <a:cubicBezTo>
                  <a:pt x="206115" y="47015"/>
                  <a:pt x="211310" y="56043"/>
                  <a:pt x="211310" y="65752"/>
                </a:cubicBezTo>
                <a:lnTo>
                  <a:pt x="211310" y="152201"/>
                </a:lnTo>
                <a:cubicBezTo>
                  <a:pt x="211310" y="161953"/>
                  <a:pt x="206115" y="170939"/>
                  <a:pt x="197683" y="175794"/>
                </a:cubicBezTo>
                <a:lnTo>
                  <a:pt x="122775" y="219103"/>
                </a:lnTo>
                <a:cubicBezTo>
                  <a:pt x="114343" y="223958"/>
                  <a:pt x="103952" y="223958"/>
                  <a:pt x="95520" y="219103"/>
                </a:cubicBezTo>
                <a:lnTo>
                  <a:pt x="20654" y="175879"/>
                </a:lnTo>
                <a:cubicBezTo>
                  <a:pt x="12222" y="171024"/>
                  <a:pt x="7027" y="161996"/>
                  <a:pt x="7027" y="152286"/>
                </a:cubicBezTo>
                <a:lnTo>
                  <a:pt x="7027" y="65837"/>
                </a:lnTo>
                <a:cubicBezTo>
                  <a:pt x="7027" y="56085"/>
                  <a:pt x="12222" y="47100"/>
                  <a:pt x="20654" y="42245"/>
                </a:cubicBezTo>
                <a:lnTo>
                  <a:pt x="95520" y="-1065"/>
                </a:lnTo>
                <a:close/>
                <a:moveTo>
                  <a:pt x="184013" y="152244"/>
                </a:moveTo>
                <a:lnTo>
                  <a:pt x="184013" y="81509"/>
                </a:lnTo>
                <a:lnTo>
                  <a:pt x="122775" y="116855"/>
                </a:lnTo>
                <a:lnTo>
                  <a:pt x="122775" y="187590"/>
                </a:lnTo>
                <a:lnTo>
                  <a:pt x="184013" y="152244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2207870" y="2928873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4429" y="2598183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18172" y="2674495"/>
            <a:ext cx="163529" cy="218039"/>
          </a:xfrm>
          <a:custGeom>
            <a:avLst/>
            <a:gdLst/>
            <a:ahLst/>
            <a:cxnLst/>
            <a:rect l="l" t="t" r="r" b="b"/>
            <a:pathLst>
              <a:path w="163529" h="218039">
                <a:moveTo>
                  <a:pt x="0" y="27255"/>
                </a:moveTo>
                <a:cubicBezTo>
                  <a:pt x="0" y="12222"/>
                  <a:pt x="12222" y="0"/>
                  <a:pt x="27255" y="0"/>
                </a:cubicBezTo>
                <a:lnTo>
                  <a:pt x="90920" y="0"/>
                </a:lnTo>
                <a:cubicBezTo>
                  <a:pt x="98160" y="0"/>
                  <a:pt x="105101" y="2853"/>
                  <a:pt x="110212" y="7964"/>
                </a:cubicBezTo>
                <a:lnTo>
                  <a:pt x="155566" y="53360"/>
                </a:lnTo>
                <a:cubicBezTo>
                  <a:pt x="160676" y="58470"/>
                  <a:pt x="163529" y="65412"/>
                  <a:pt x="163529" y="72651"/>
                </a:cubicBezTo>
                <a:lnTo>
                  <a:pt x="163529" y="190784"/>
                </a:lnTo>
                <a:cubicBezTo>
                  <a:pt x="163529" y="205817"/>
                  <a:pt x="151307" y="218039"/>
                  <a:pt x="136274" y="218039"/>
                </a:cubicBezTo>
                <a:lnTo>
                  <a:pt x="27255" y="218039"/>
                </a:lnTo>
                <a:cubicBezTo>
                  <a:pt x="12222" y="218039"/>
                  <a:pt x="0" y="205817"/>
                  <a:pt x="0" y="190784"/>
                </a:cubicBezTo>
                <a:lnTo>
                  <a:pt x="0" y="27255"/>
                </a:lnTo>
                <a:close/>
                <a:moveTo>
                  <a:pt x="88578" y="24913"/>
                </a:moveTo>
                <a:lnTo>
                  <a:pt x="88578" y="64730"/>
                </a:lnTo>
                <a:cubicBezTo>
                  <a:pt x="88578" y="70394"/>
                  <a:pt x="93135" y="74951"/>
                  <a:pt x="98799" y="74951"/>
                </a:cubicBezTo>
                <a:lnTo>
                  <a:pt x="138616" y="74951"/>
                </a:lnTo>
                <a:lnTo>
                  <a:pt x="88578" y="24913"/>
                </a:lnTo>
                <a:close/>
                <a:moveTo>
                  <a:pt x="65667" y="125883"/>
                </a:moveTo>
                <a:cubicBezTo>
                  <a:pt x="69330" y="121582"/>
                  <a:pt x="68861" y="115152"/>
                  <a:pt x="64560" y="111489"/>
                </a:cubicBezTo>
                <a:cubicBezTo>
                  <a:pt x="60259" y="107827"/>
                  <a:pt x="53828" y="108295"/>
                  <a:pt x="50166" y="112597"/>
                </a:cubicBezTo>
                <a:lnTo>
                  <a:pt x="29725" y="136445"/>
                </a:lnTo>
                <a:cubicBezTo>
                  <a:pt x="26446" y="140277"/>
                  <a:pt x="26446" y="145899"/>
                  <a:pt x="29725" y="149731"/>
                </a:cubicBezTo>
                <a:lnTo>
                  <a:pt x="50166" y="173579"/>
                </a:lnTo>
                <a:cubicBezTo>
                  <a:pt x="53828" y="177880"/>
                  <a:pt x="60301" y="178349"/>
                  <a:pt x="64560" y="174687"/>
                </a:cubicBezTo>
                <a:cubicBezTo>
                  <a:pt x="68818" y="171024"/>
                  <a:pt x="69330" y="164551"/>
                  <a:pt x="65667" y="160293"/>
                </a:cubicBezTo>
                <a:lnTo>
                  <a:pt x="50932" y="143088"/>
                </a:lnTo>
                <a:lnTo>
                  <a:pt x="65667" y="125883"/>
                </a:lnTo>
                <a:close/>
                <a:moveTo>
                  <a:pt x="113363" y="112597"/>
                </a:moveTo>
                <a:cubicBezTo>
                  <a:pt x="109701" y="108295"/>
                  <a:pt x="103228" y="107827"/>
                  <a:pt x="98969" y="111489"/>
                </a:cubicBezTo>
                <a:cubicBezTo>
                  <a:pt x="94711" y="115152"/>
                  <a:pt x="94200" y="121625"/>
                  <a:pt x="97862" y="125883"/>
                </a:cubicBezTo>
                <a:lnTo>
                  <a:pt x="112597" y="143088"/>
                </a:lnTo>
                <a:lnTo>
                  <a:pt x="97862" y="160293"/>
                </a:lnTo>
                <a:cubicBezTo>
                  <a:pt x="94200" y="164594"/>
                  <a:pt x="94668" y="171024"/>
                  <a:pt x="98969" y="174687"/>
                </a:cubicBezTo>
                <a:cubicBezTo>
                  <a:pt x="103270" y="178349"/>
                  <a:pt x="109701" y="177880"/>
                  <a:pt x="113363" y="173579"/>
                </a:cubicBezTo>
                <a:lnTo>
                  <a:pt x="133804" y="149731"/>
                </a:lnTo>
                <a:cubicBezTo>
                  <a:pt x="137083" y="145899"/>
                  <a:pt x="137083" y="140277"/>
                  <a:pt x="133804" y="136445"/>
                </a:cubicBezTo>
                <a:lnTo>
                  <a:pt x="113363" y="112597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2" name="Text 30"/>
          <p:cNvSpPr/>
          <p:nvPr/>
        </p:nvSpPr>
        <p:spPr>
          <a:xfrm>
            <a:off x="3858945" y="2928873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SpringDoc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863488" y="3110572"/>
            <a:ext cx="147176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OpenAPI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465391" y="2598183"/>
            <a:ext cx="1569879" cy="734064"/>
          </a:xfrm>
          <a:prstGeom prst="roundRect">
            <a:avLst>
              <a:gd name="adj" fmla="val 9901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1879" y="2674495"/>
            <a:ext cx="218039" cy="218039"/>
          </a:xfrm>
          <a:custGeom>
            <a:avLst/>
            <a:gdLst/>
            <a:ahLst/>
            <a:cxnLst/>
            <a:rect l="l" t="t" r="r" b="b"/>
            <a:pathLst>
              <a:path w="218039" h="218039">
                <a:moveTo>
                  <a:pt x="145899" y="4003"/>
                </a:moveTo>
                <a:cubicBezTo>
                  <a:pt x="140575" y="-1320"/>
                  <a:pt x="131930" y="-1320"/>
                  <a:pt x="126607" y="4003"/>
                </a:cubicBezTo>
                <a:cubicBezTo>
                  <a:pt x="121284" y="9326"/>
                  <a:pt x="121284" y="17971"/>
                  <a:pt x="126607" y="23294"/>
                </a:cubicBezTo>
                <a:lnTo>
                  <a:pt x="130610" y="27255"/>
                </a:lnTo>
                <a:lnTo>
                  <a:pt x="11967" y="145899"/>
                </a:lnTo>
                <a:cubicBezTo>
                  <a:pt x="4301" y="153564"/>
                  <a:pt x="0" y="163955"/>
                  <a:pt x="0" y="174814"/>
                </a:cubicBezTo>
                <a:lnTo>
                  <a:pt x="0" y="177156"/>
                </a:lnTo>
                <a:cubicBezTo>
                  <a:pt x="0" y="199727"/>
                  <a:pt x="18312" y="218039"/>
                  <a:pt x="40882" y="218039"/>
                </a:cubicBezTo>
                <a:lnTo>
                  <a:pt x="43224" y="218039"/>
                </a:lnTo>
                <a:cubicBezTo>
                  <a:pt x="54084" y="218039"/>
                  <a:pt x="64475" y="213738"/>
                  <a:pt x="72140" y="206072"/>
                </a:cubicBezTo>
                <a:lnTo>
                  <a:pt x="190784" y="87428"/>
                </a:lnTo>
                <a:lnTo>
                  <a:pt x="194787" y="91431"/>
                </a:lnTo>
                <a:cubicBezTo>
                  <a:pt x="200110" y="96755"/>
                  <a:pt x="208755" y="96755"/>
                  <a:pt x="214078" y="91431"/>
                </a:cubicBezTo>
                <a:cubicBezTo>
                  <a:pt x="219401" y="86108"/>
                  <a:pt x="219401" y="77463"/>
                  <a:pt x="214078" y="72140"/>
                </a:cubicBezTo>
                <a:lnTo>
                  <a:pt x="145941" y="4003"/>
                </a:lnTo>
                <a:close/>
                <a:moveTo>
                  <a:pt x="87428" y="109019"/>
                </a:moveTo>
                <a:lnTo>
                  <a:pt x="149902" y="46546"/>
                </a:lnTo>
                <a:lnTo>
                  <a:pt x="171493" y="68137"/>
                </a:lnTo>
                <a:lnTo>
                  <a:pt x="130610" y="109019"/>
                </a:lnTo>
                <a:lnTo>
                  <a:pt x="87386" y="10901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Text 34"/>
          <p:cNvSpPr/>
          <p:nvPr/>
        </p:nvSpPr>
        <p:spPr>
          <a:xfrm>
            <a:off x="5509907" y="2928873"/>
            <a:ext cx="1480846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JUnit 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14450" y="3110572"/>
            <a:ext cx="1471762" cy="145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58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Mockito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63398" y="3590145"/>
            <a:ext cx="6822796" cy="2825419"/>
          </a:xfrm>
          <a:prstGeom prst="roundRect">
            <a:avLst>
              <a:gd name="adj" fmla="val 3859"/>
            </a:avLst>
          </a:prstGeom>
          <a:solidFill>
            <a:srgbClr val="FFFFFF"/>
          </a:solidFill>
          <a:ln/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8757" y="3735504"/>
            <a:ext cx="363398" cy="363398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40" name="Shape 38"/>
          <p:cNvSpPr/>
          <p:nvPr/>
        </p:nvSpPr>
        <p:spPr>
          <a:xfrm>
            <a:off x="617776" y="3844523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18170" y="9085"/>
                </a:moveTo>
                <a:cubicBezTo>
                  <a:pt x="8148" y="9085"/>
                  <a:pt x="0" y="17233"/>
                  <a:pt x="0" y="27255"/>
                </a:cubicBezTo>
                <a:lnTo>
                  <a:pt x="0" y="99934"/>
                </a:lnTo>
                <a:cubicBezTo>
                  <a:pt x="0" y="109956"/>
                  <a:pt x="8148" y="118104"/>
                  <a:pt x="18170" y="118104"/>
                </a:cubicBezTo>
                <a:lnTo>
                  <a:pt x="59052" y="118104"/>
                </a:lnTo>
                <a:lnTo>
                  <a:pt x="54510" y="131732"/>
                </a:lnTo>
                <a:lnTo>
                  <a:pt x="34069" y="131732"/>
                </a:lnTo>
                <a:cubicBezTo>
                  <a:pt x="30293" y="131732"/>
                  <a:pt x="27255" y="134770"/>
                  <a:pt x="27255" y="138545"/>
                </a:cubicBezTo>
                <a:cubicBezTo>
                  <a:pt x="27255" y="142321"/>
                  <a:pt x="30293" y="145359"/>
                  <a:pt x="34069" y="145359"/>
                </a:cubicBezTo>
                <a:lnTo>
                  <a:pt x="111291" y="145359"/>
                </a:lnTo>
                <a:cubicBezTo>
                  <a:pt x="115067" y="145359"/>
                  <a:pt x="118104" y="142321"/>
                  <a:pt x="118104" y="138545"/>
                </a:cubicBezTo>
                <a:cubicBezTo>
                  <a:pt x="118104" y="134770"/>
                  <a:pt x="115067" y="131732"/>
                  <a:pt x="111291" y="131732"/>
                </a:cubicBezTo>
                <a:lnTo>
                  <a:pt x="90849" y="131732"/>
                </a:lnTo>
                <a:lnTo>
                  <a:pt x="86307" y="118104"/>
                </a:lnTo>
                <a:lnTo>
                  <a:pt x="127189" y="118104"/>
                </a:lnTo>
                <a:cubicBezTo>
                  <a:pt x="137211" y="118104"/>
                  <a:pt x="145359" y="109956"/>
                  <a:pt x="145359" y="99934"/>
                </a:cubicBezTo>
                <a:lnTo>
                  <a:pt x="145359" y="27255"/>
                </a:lnTo>
                <a:cubicBezTo>
                  <a:pt x="145359" y="17233"/>
                  <a:pt x="137211" y="9085"/>
                  <a:pt x="127189" y="9085"/>
                </a:cubicBezTo>
                <a:lnTo>
                  <a:pt x="18170" y="9085"/>
                </a:lnTo>
                <a:close/>
                <a:moveTo>
                  <a:pt x="27255" y="27255"/>
                </a:moveTo>
                <a:lnTo>
                  <a:pt x="118104" y="27255"/>
                </a:lnTo>
                <a:cubicBezTo>
                  <a:pt x="123129" y="27255"/>
                  <a:pt x="127189" y="31315"/>
                  <a:pt x="127189" y="36340"/>
                </a:cubicBezTo>
                <a:lnTo>
                  <a:pt x="127189" y="81765"/>
                </a:lnTo>
                <a:cubicBezTo>
                  <a:pt x="127189" y="86790"/>
                  <a:pt x="123129" y="90849"/>
                  <a:pt x="118104" y="90849"/>
                </a:cubicBezTo>
                <a:lnTo>
                  <a:pt x="27255" y="90849"/>
                </a:lnTo>
                <a:cubicBezTo>
                  <a:pt x="22230" y="90849"/>
                  <a:pt x="18170" y="86790"/>
                  <a:pt x="18170" y="81765"/>
                </a:cubicBezTo>
                <a:lnTo>
                  <a:pt x="18170" y="36340"/>
                </a:lnTo>
                <a:cubicBezTo>
                  <a:pt x="18170" y="31315"/>
                  <a:pt x="22230" y="27255"/>
                  <a:pt x="27255" y="272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981174" y="3771844"/>
            <a:ext cx="981174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前端技术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2391" y="4211555"/>
            <a:ext cx="2096806" cy="970272"/>
          </a:xfrm>
          <a:prstGeom prst="roundRect">
            <a:avLst>
              <a:gd name="adj" fmla="val 7491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43939" y="4324209"/>
            <a:ext cx="238480" cy="272548"/>
          </a:xfrm>
          <a:custGeom>
            <a:avLst/>
            <a:gdLst/>
            <a:ahLst/>
            <a:cxnLst/>
            <a:rect l="l" t="t" r="r" b="b"/>
            <a:pathLst>
              <a:path w="238480" h="272548">
                <a:moveTo>
                  <a:pt x="189985" y="34228"/>
                </a:moveTo>
                <a:lnTo>
                  <a:pt x="149050" y="34228"/>
                </a:lnTo>
                <a:lnTo>
                  <a:pt x="119240" y="81392"/>
                </a:lnTo>
                <a:lnTo>
                  <a:pt x="93689" y="34228"/>
                </a:lnTo>
                <a:lnTo>
                  <a:pt x="0" y="34228"/>
                </a:lnTo>
                <a:lnTo>
                  <a:pt x="119240" y="238480"/>
                </a:lnTo>
                <a:lnTo>
                  <a:pt x="238480" y="34228"/>
                </a:lnTo>
                <a:lnTo>
                  <a:pt x="189985" y="34228"/>
                </a:lnTo>
                <a:close/>
                <a:moveTo>
                  <a:pt x="29650" y="51263"/>
                </a:moveTo>
                <a:lnTo>
                  <a:pt x="58289" y="51263"/>
                </a:lnTo>
                <a:lnTo>
                  <a:pt x="119240" y="156769"/>
                </a:lnTo>
                <a:lnTo>
                  <a:pt x="180137" y="51263"/>
                </a:lnTo>
                <a:lnTo>
                  <a:pt x="208776" y="51263"/>
                </a:lnTo>
                <a:lnTo>
                  <a:pt x="119240" y="204677"/>
                </a:lnTo>
                <a:lnTo>
                  <a:pt x="29650" y="51263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44" name="Text 42"/>
          <p:cNvSpPr/>
          <p:nvPr/>
        </p:nvSpPr>
        <p:spPr>
          <a:xfrm>
            <a:off x="588705" y="4669437"/>
            <a:ext cx="19441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3247" y="4887476"/>
            <a:ext cx="193509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渐进式框架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725825" y="4211555"/>
            <a:ext cx="2096806" cy="970272"/>
          </a:xfrm>
          <a:prstGeom prst="roundRect">
            <a:avLst>
              <a:gd name="adj" fmla="val 7491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40339" y="4324209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272548" y="51103"/>
                </a:moveTo>
                <a:cubicBezTo>
                  <a:pt x="272548" y="77825"/>
                  <a:pt x="241088" y="117696"/>
                  <a:pt x="227514" y="133613"/>
                </a:cubicBezTo>
                <a:cubicBezTo>
                  <a:pt x="225491" y="135955"/>
                  <a:pt x="222510" y="136860"/>
                  <a:pt x="219795" y="136274"/>
                </a:cubicBezTo>
                <a:lnTo>
                  <a:pt x="170343" y="136274"/>
                </a:lnTo>
                <a:cubicBezTo>
                  <a:pt x="160921" y="136274"/>
                  <a:pt x="153308" y="143886"/>
                  <a:pt x="153308" y="153308"/>
                </a:cubicBezTo>
                <a:cubicBezTo>
                  <a:pt x="153308" y="162731"/>
                  <a:pt x="160921" y="170343"/>
                  <a:pt x="170343" y="170343"/>
                </a:cubicBezTo>
                <a:lnTo>
                  <a:pt x="221446" y="170343"/>
                </a:lnTo>
                <a:cubicBezTo>
                  <a:pt x="249659" y="170343"/>
                  <a:pt x="272548" y="193233"/>
                  <a:pt x="272548" y="221446"/>
                </a:cubicBezTo>
                <a:cubicBezTo>
                  <a:pt x="272548" y="249659"/>
                  <a:pt x="249659" y="272548"/>
                  <a:pt x="221446" y="272548"/>
                </a:cubicBezTo>
                <a:lnTo>
                  <a:pt x="74312" y="272548"/>
                </a:lnTo>
                <a:cubicBezTo>
                  <a:pt x="78943" y="267278"/>
                  <a:pt x="84586" y="260518"/>
                  <a:pt x="90282" y="252959"/>
                </a:cubicBezTo>
                <a:cubicBezTo>
                  <a:pt x="93635" y="248488"/>
                  <a:pt x="97095" y="243590"/>
                  <a:pt x="100396" y="238480"/>
                </a:cubicBezTo>
                <a:lnTo>
                  <a:pt x="221446" y="238480"/>
                </a:lnTo>
                <a:cubicBezTo>
                  <a:pt x="230868" y="238480"/>
                  <a:pt x="238480" y="230868"/>
                  <a:pt x="238480" y="221446"/>
                </a:cubicBezTo>
                <a:cubicBezTo>
                  <a:pt x="238480" y="212024"/>
                  <a:pt x="230868" y="204411"/>
                  <a:pt x="221446" y="204411"/>
                </a:cubicBezTo>
                <a:lnTo>
                  <a:pt x="170343" y="204411"/>
                </a:lnTo>
                <a:cubicBezTo>
                  <a:pt x="142130" y="204411"/>
                  <a:pt x="119240" y="181522"/>
                  <a:pt x="119240" y="153308"/>
                </a:cubicBezTo>
                <a:cubicBezTo>
                  <a:pt x="119240" y="125095"/>
                  <a:pt x="142130" y="102206"/>
                  <a:pt x="170343" y="102206"/>
                </a:cubicBezTo>
                <a:lnTo>
                  <a:pt x="191529" y="102206"/>
                </a:lnTo>
                <a:cubicBezTo>
                  <a:pt x="180350" y="85438"/>
                  <a:pt x="170343" y="66168"/>
                  <a:pt x="170343" y="51103"/>
                </a:cubicBezTo>
                <a:cubicBezTo>
                  <a:pt x="170343" y="22890"/>
                  <a:pt x="193233" y="0"/>
                  <a:pt x="221446" y="0"/>
                </a:cubicBezTo>
                <a:cubicBezTo>
                  <a:pt x="249659" y="0"/>
                  <a:pt x="272548" y="22890"/>
                  <a:pt x="272548" y="51103"/>
                </a:cubicBezTo>
                <a:close/>
                <a:moveTo>
                  <a:pt x="62335" y="260358"/>
                </a:moveTo>
                <a:cubicBezTo>
                  <a:pt x="60312" y="262647"/>
                  <a:pt x="58502" y="264670"/>
                  <a:pt x="56958" y="266374"/>
                </a:cubicBezTo>
                <a:lnTo>
                  <a:pt x="56000" y="267438"/>
                </a:lnTo>
                <a:lnTo>
                  <a:pt x="55894" y="267332"/>
                </a:lnTo>
                <a:cubicBezTo>
                  <a:pt x="52700" y="269780"/>
                  <a:pt x="48122" y="269461"/>
                  <a:pt x="45247" y="266374"/>
                </a:cubicBezTo>
                <a:cubicBezTo>
                  <a:pt x="31833" y="251788"/>
                  <a:pt x="0" y="214259"/>
                  <a:pt x="0" y="187377"/>
                </a:cubicBezTo>
                <a:cubicBezTo>
                  <a:pt x="0" y="159164"/>
                  <a:pt x="22890" y="136274"/>
                  <a:pt x="51103" y="136274"/>
                </a:cubicBezTo>
                <a:cubicBezTo>
                  <a:pt x="79316" y="136274"/>
                  <a:pt x="102206" y="159164"/>
                  <a:pt x="102206" y="187377"/>
                </a:cubicBezTo>
                <a:cubicBezTo>
                  <a:pt x="102206" y="203347"/>
                  <a:pt x="90974" y="223043"/>
                  <a:pt x="79050" y="239491"/>
                </a:cubicBezTo>
                <a:cubicBezTo>
                  <a:pt x="73354" y="247316"/>
                  <a:pt x="67498" y="254396"/>
                  <a:pt x="62654" y="259986"/>
                </a:cubicBezTo>
                <a:lnTo>
                  <a:pt x="62335" y="260358"/>
                </a:lnTo>
                <a:close/>
                <a:moveTo>
                  <a:pt x="68137" y="187377"/>
                </a:moveTo>
                <a:cubicBezTo>
                  <a:pt x="68137" y="177976"/>
                  <a:pt x="60504" y="170343"/>
                  <a:pt x="51103" y="170343"/>
                </a:cubicBezTo>
                <a:cubicBezTo>
                  <a:pt x="41701" y="170343"/>
                  <a:pt x="34069" y="177976"/>
                  <a:pt x="34069" y="187377"/>
                </a:cubicBezTo>
                <a:cubicBezTo>
                  <a:pt x="34069" y="196779"/>
                  <a:pt x="41701" y="204411"/>
                  <a:pt x="51103" y="204411"/>
                </a:cubicBezTo>
                <a:cubicBezTo>
                  <a:pt x="60504" y="204411"/>
                  <a:pt x="68137" y="196779"/>
                  <a:pt x="68137" y="187377"/>
                </a:cubicBezTo>
                <a:close/>
                <a:moveTo>
                  <a:pt x="221446" y="68137"/>
                </a:moveTo>
                <a:cubicBezTo>
                  <a:pt x="230847" y="68137"/>
                  <a:pt x="238480" y="60504"/>
                  <a:pt x="238480" y="51103"/>
                </a:cubicBezTo>
                <a:cubicBezTo>
                  <a:pt x="238480" y="41701"/>
                  <a:pt x="230847" y="34069"/>
                  <a:pt x="221446" y="34069"/>
                </a:cubicBezTo>
                <a:cubicBezTo>
                  <a:pt x="212044" y="34069"/>
                  <a:pt x="204411" y="41701"/>
                  <a:pt x="204411" y="51103"/>
                </a:cubicBezTo>
                <a:cubicBezTo>
                  <a:pt x="204411" y="60504"/>
                  <a:pt x="212044" y="68137"/>
                  <a:pt x="221446" y="6813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8" name="Text 46"/>
          <p:cNvSpPr/>
          <p:nvPr/>
        </p:nvSpPr>
        <p:spPr>
          <a:xfrm>
            <a:off x="2802139" y="4669437"/>
            <a:ext cx="19441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Vue Router 4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806681" y="4887476"/>
            <a:ext cx="193509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路由管理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939259" y="4211555"/>
            <a:ext cx="2096806" cy="970272"/>
          </a:xfrm>
          <a:prstGeom prst="roundRect">
            <a:avLst>
              <a:gd name="adj" fmla="val 7491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53886" y="4324209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16342" y="38487"/>
                </a:moveTo>
                <a:cubicBezTo>
                  <a:pt x="20015" y="25764"/>
                  <a:pt x="31673" y="17034"/>
                  <a:pt x="44928" y="17034"/>
                </a:cubicBezTo>
                <a:lnTo>
                  <a:pt x="228046" y="17034"/>
                </a:lnTo>
                <a:cubicBezTo>
                  <a:pt x="241301" y="17034"/>
                  <a:pt x="252959" y="25764"/>
                  <a:pt x="256685" y="38487"/>
                </a:cubicBezTo>
                <a:lnTo>
                  <a:pt x="269142" y="81179"/>
                </a:lnTo>
                <a:cubicBezTo>
                  <a:pt x="275955" y="104441"/>
                  <a:pt x="258442" y="127757"/>
                  <a:pt x="234221" y="127757"/>
                </a:cubicBezTo>
                <a:cubicBezTo>
                  <a:pt x="220221" y="127757"/>
                  <a:pt x="207925" y="119825"/>
                  <a:pt x="201856" y="108008"/>
                </a:cubicBezTo>
                <a:cubicBezTo>
                  <a:pt x="195681" y="119666"/>
                  <a:pt x="183438" y="127757"/>
                  <a:pt x="169172" y="127757"/>
                </a:cubicBezTo>
                <a:cubicBezTo>
                  <a:pt x="155012" y="127757"/>
                  <a:pt x="142715" y="119772"/>
                  <a:pt x="136540" y="108061"/>
                </a:cubicBezTo>
                <a:cubicBezTo>
                  <a:pt x="130365" y="119772"/>
                  <a:pt x="118069" y="127757"/>
                  <a:pt x="103909" y="127757"/>
                </a:cubicBezTo>
                <a:cubicBezTo>
                  <a:pt x="89643" y="127757"/>
                  <a:pt x="77399" y="119719"/>
                  <a:pt x="71225" y="108008"/>
                </a:cubicBezTo>
                <a:cubicBezTo>
                  <a:pt x="65156" y="119772"/>
                  <a:pt x="52859" y="127757"/>
                  <a:pt x="38859" y="127757"/>
                </a:cubicBezTo>
                <a:cubicBezTo>
                  <a:pt x="14586" y="127757"/>
                  <a:pt x="-2875" y="104495"/>
                  <a:pt x="3939" y="81179"/>
                </a:cubicBezTo>
                <a:lnTo>
                  <a:pt x="16342" y="38487"/>
                </a:lnTo>
                <a:close/>
                <a:moveTo>
                  <a:pt x="51316" y="187377"/>
                </a:moveTo>
                <a:lnTo>
                  <a:pt x="221659" y="187377"/>
                </a:lnTo>
                <a:lnTo>
                  <a:pt x="221659" y="152031"/>
                </a:lnTo>
                <a:cubicBezTo>
                  <a:pt x="225704" y="152883"/>
                  <a:pt x="229910" y="153308"/>
                  <a:pt x="234168" y="153308"/>
                </a:cubicBezTo>
                <a:cubicBezTo>
                  <a:pt x="241780" y="153308"/>
                  <a:pt x="249073" y="151924"/>
                  <a:pt x="255727" y="149476"/>
                </a:cubicBezTo>
                <a:lnTo>
                  <a:pt x="255727" y="229963"/>
                </a:lnTo>
                <a:cubicBezTo>
                  <a:pt x="255727" y="244069"/>
                  <a:pt x="244282" y="255514"/>
                  <a:pt x="230176" y="255514"/>
                </a:cubicBezTo>
                <a:lnTo>
                  <a:pt x="42799" y="255514"/>
                </a:lnTo>
                <a:cubicBezTo>
                  <a:pt x="28692" y="255514"/>
                  <a:pt x="17247" y="244069"/>
                  <a:pt x="17247" y="229963"/>
                </a:cubicBezTo>
                <a:lnTo>
                  <a:pt x="17247" y="149476"/>
                </a:lnTo>
                <a:cubicBezTo>
                  <a:pt x="23901" y="151924"/>
                  <a:pt x="31141" y="153308"/>
                  <a:pt x="38806" y="153308"/>
                </a:cubicBezTo>
                <a:cubicBezTo>
                  <a:pt x="43118" y="153308"/>
                  <a:pt x="47270" y="152883"/>
                  <a:pt x="51316" y="152031"/>
                </a:cubicBezTo>
                <a:lnTo>
                  <a:pt x="51316" y="187377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2" name="Text 50"/>
          <p:cNvSpPr/>
          <p:nvPr/>
        </p:nvSpPr>
        <p:spPr>
          <a:xfrm>
            <a:off x="5015573" y="4669437"/>
            <a:ext cx="19441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Pinia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020115" y="4887476"/>
            <a:ext cx="193509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12391" y="5298116"/>
            <a:ext cx="2096806" cy="970272"/>
          </a:xfrm>
          <a:prstGeom prst="roundRect">
            <a:avLst>
              <a:gd name="adj" fmla="val 7491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426905" y="5410767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119240" y="0"/>
                </a:moveTo>
                <a:cubicBezTo>
                  <a:pt x="138031" y="0"/>
                  <a:pt x="153308" y="11445"/>
                  <a:pt x="153308" y="25551"/>
                </a:cubicBezTo>
                <a:cubicBezTo>
                  <a:pt x="153308" y="31088"/>
                  <a:pt x="150966" y="36198"/>
                  <a:pt x="146921" y="40403"/>
                </a:cubicBezTo>
                <a:cubicBezTo>
                  <a:pt x="143407" y="44076"/>
                  <a:pt x="140533" y="48548"/>
                  <a:pt x="140533" y="53658"/>
                </a:cubicBezTo>
                <a:cubicBezTo>
                  <a:pt x="140533" y="61643"/>
                  <a:pt x="147027" y="68137"/>
                  <a:pt x="155012" y="68137"/>
                </a:cubicBezTo>
                <a:lnTo>
                  <a:pt x="178860" y="68137"/>
                </a:lnTo>
                <a:cubicBezTo>
                  <a:pt x="192966" y="68137"/>
                  <a:pt x="204411" y="79582"/>
                  <a:pt x="204411" y="93689"/>
                </a:cubicBezTo>
                <a:lnTo>
                  <a:pt x="204411" y="117537"/>
                </a:lnTo>
                <a:cubicBezTo>
                  <a:pt x="204411" y="125521"/>
                  <a:pt x="210906" y="132016"/>
                  <a:pt x="218890" y="132016"/>
                </a:cubicBezTo>
                <a:cubicBezTo>
                  <a:pt x="223948" y="132016"/>
                  <a:pt x="228472" y="129141"/>
                  <a:pt x="232145" y="125628"/>
                </a:cubicBezTo>
                <a:cubicBezTo>
                  <a:pt x="236351" y="121635"/>
                  <a:pt x="241461" y="119240"/>
                  <a:pt x="246997" y="119240"/>
                </a:cubicBezTo>
                <a:cubicBezTo>
                  <a:pt x="261104" y="119240"/>
                  <a:pt x="272548" y="134518"/>
                  <a:pt x="272548" y="153308"/>
                </a:cubicBezTo>
                <a:cubicBezTo>
                  <a:pt x="272548" y="172099"/>
                  <a:pt x="261104" y="187377"/>
                  <a:pt x="246997" y="187377"/>
                </a:cubicBezTo>
                <a:cubicBezTo>
                  <a:pt x="241461" y="187377"/>
                  <a:pt x="236297" y="185035"/>
                  <a:pt x="232145" y="180989"/>
                </a:cubicBezTo>
                <a:cubicBezTo>
                  <a:pt x="228472" y="177476"/>
                  <a:pt x="224001" y="174601"/>
                  <a:pt x="218890" y="174601"/>
                </a:cubicBezTo>
                <a:cubicBezTo>
                  <a:pt x="210906" y="174601"/>
                  <a:pt x="204411" y="181096"/>
                  <a:pt x="204411" y="189080"/>
                </a:cubicBezTo>
                <a:lnTo>
                  <a:pt x="204411" y="246997"/>
                </a:lnTo>
                <a:cubicBezTo>
                  <a:pt x="204411" y="261104"/>
                  <a:pt x="192966" y="272548"/>
                  <a:pt x="178860" y="272548"/>
                </a:cubicBezTo>
                <a:lnTo>
                  <a:pt x="148624" y="272548"/>
                </a:lnTo>
                <a:cubicBezTo>
                  <a:pt x="141810" y="272548"/>
                  <a:pt x="136274" y="267012"/>
                  <a:pt x="136274" y="260199"/>
                </a:cubicBezTo>
                <a:cubicBezTo>
                  <a:pt x="136274" y="255301"/>
                  <a:pt x="139362" y="250989"/>
                  <a:pt x="143301" y="248062"/>
                </a:cubicBezTo>
                <a:cubicBezTo>
                  <a:pt x="149476" y="243430"/>
                  <a:pt x="153308" y="237043"/>
                  <a:pt x="153308" y="229963"/>
                </a:cubicBezTo>
                <a:cubicBezTo>
                  <a:pt x="153308" y="215856"/>
                  <a:pt x="138031" y="204411"/>
                  <a:pt x="119240" y="204411"/>
                </a:cubicBezTo>
                <a:cubicBezTo>
                  <a:pt x="100449" y="204411"/>
                  <a:pt x="85171" y="215856"/>
                  <a:pt x="85171" y="229963"/>
                </a:cubicBezTo>
                <a:cubicBezTo>
                  <a:pt x="85171" y="237043"/>
                  <a:pt x="89004" y="243430"/>
                  <a:pt x="95179" y="248062"/>
                </a:cubicBezTo>
                <a:cubicBezTo>
                  <a:pt x="99118" y="250989"/>
                  <a:pt x="102206" y="255248"/>
                  <a:pt x="102206" y="260199"/>
                </a:cubicBezTo>
                <a:cubicBezTo>
                  <a:pt x="102206" y="267012"/>
                  <a:pt x="96670" y="272548"/>
                  <a:pt x="89856" y="272548"/>
                </a:cubicBezTo>
                <a:lnTo>
                  <a:pt x="25551" y="272548"/>
                </a:lnTo>
                <a:cubicBezTo>
                  <a:pt x="11445" y="272548"/>
                  <a:pt x="0" y="261104"/>
                  <a:pt x="0" y="246997"/>
                </a:cubicBezTo>
                <a:lnTo>
                  <a:pt x="0" y="182693"/>
                </a:lnTo>
                <a:cubicBezTo>
                  <a:pt x="0" y="175879"/>
                  <a:pt x="5536" y="170343"/>
                  <a:pt x="12350" y="170343"/>
                </a:cubicBezTo>
                <a:cubicBezTo>
                  <a:pt x="17247" y="170343"/>
                  <a:pt x="21559" y="173430"/>
                  <a:pt x="24487" y="177369"/>
                </a:cubicBezTo>
                <a:cubicBezTo>
                  <a:pt x="29118" y="183544"/>
                  <a:pt x="35506" y="187377"/>
                  <a:pt x="42586" y="187377"/>
                </a:cubicBezTo>
                <a:cubicBezTo>
                  <a:pt x="56692" y="187377"/>
                  <a:pt x="68137" y="172099"/>
                  <a:pt x="68137" y="153308"/>
                </a:cubicBezTo>
                <a:cubicBezTo>
                  <a:pt x="68137" y="134518"/>
                  <a:pt x="56692" y="119240"/>
                  <a:pt x="42586" y="119240"/>
                </a:cubicBezTo>
                <a:cubicBezTo>
                  <a:pt x="35506" y="119240"/>
                  <a:pt x="29118" y="123073"/>
                  <a:pt x="24487" y="129248"/>
                </a:cubicBezTo>
                <a:cubicBezTo>
                  <a:pt x="21559" y="133187"/>
                  <a:pt x="17300" y="136274"/>
                  <a:pt x="12350" y="136274"/>
                </a:cubicBezTo>
                <a:cubicBezTo>
                  <a:pt x="5536" y="136274"/>
                  <a:pt x="0" y="130738"/>
                  <a:pt x="0" y="123924"/>
                </a:cubicBezTo>
                <a:lnTo>
                  <a:pt x="0" y="93689"/>
                </a:lnTo>
                <a:cubicBezTo>
                  <a:pt x="0" y="79582"/>
                  <a:pt x="11445" y="68137"/>
                  <a:pt x="25551" y="68137"/>
                </a:cubicBezTo>
                <a:lnTo>
                  <a:pt x="83468" y="68137"/>
                </a:lnTo>
                <a:cubicBezTo>
                  <a:pt x="91453" y="68137"/>
                  <a:pt x="97947" y="61643"/>
                  <a:pt x="97947" y="53658"/>
                </a:cubicBezTo>
                <a:cubicBezTo>
                  <a:pt x="97947" y="48601"/>
                  <a:pt x="95073" y="44076"/>
                  <a:pt x="91559" y="40403"/>
                </a:cubicBezTo>
                <a:cubicBezTo>
                  <a:pt x="87567" y="36198"/>
                  <a:pt x="85171" y="31088"/>
                  <a:pt x="85171" y="25551"/>
                </a:cubicBezTo>
                <a:cubicBezTo>
                  <a:pt x="85171" y="11445"/>
                  <a:pt x="100449" y="0"/>
                  <a:pt x="119240" y="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56" name="Text 54"/>
          <p:cNvSpPr/>
          <p:nvPr/>
        </p:nvSpPr>
        <p:spPr>
          <a:xfrm>
            <a:off x="588705" y="5755995"/>
            <a:ext cx="19441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Element Plus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93247" y="5974034"/>
            <a:ext cx="193509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UI组件库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2725825" y="5298116"/>
            <a:ext cx="2096806" cy="970272"/>
          </a:xfrm>
          <a:prstGeom prst="roundRect">
            <a:avLst>
              <a:gd name="adj" fmla="val 7491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40339" y="5410767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255514" y="17034"/>
                </a:moveTo>
                <a:lnTo>
                  <a:pt x="221446" y="212928"/>
                </a:lnTo>
                <a:lnTo>
                  <a:pt x="102578" y="255514"/>
                </a:lnTo>
                <a:lnTo>
                  <a:pt x="0" y="212928"/>
                </a:lnTo>
                <a:lnTo>
                  <a:pt x="10433" y="162464"/>
                </a:lnTo>
                <a:lnTo>
                  <a:pt x="54084" y="162464"/>
                </a:lnTo>
                <a:lnTo>
                  <a:pt x="49825" y="184077"/>
                </a:lnTo>
                <a:lnTo>
                  <a:pt x="111787" y="207712"/>
                </a:lnTo>
                <a:lnTo>
                  <a:pt x="183172" y="184077"/>
                </a:lnTo>
                <a:lnTo>
                  <a:pt x="193179" y="132388"/>
                </a:lnTo>
                <a:lnTo>
                  <a:pt x="15703" y="132388"/>
                </a:lnTo>
                <a:lnTo>
                  <a:pt x="24221" y="88738"/>
                </a:lnTo>
                <a:lnTo>
                  <a:pt x="201856" y="88738"/>
                </a:lnTo>
                <a:lnTo>
                  <a:pt x="207446" y="60685"/>
                </a:lnTo>
                <a:lnTo>
                  <a:pt x="29970" y="60685"/>
                </a:lnTo>
                <a:lnTo>
                  <a:pt x="38647" y="17034"/>
                </a:lnTo>
                <a:lnTo>
                  <a:pt x="255514" y="17034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0" name="Text 58"/>
          <p:cNvSpPr/>
          <p:nvPr/>
        </p:nvSpPr>
        <p:spPr>
          <a:xfrm>
            <a:off x="2802139" y="5755995"/>
            <a:ext cx="19441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2806681" y="5974034"/>
            <a:ext cx="193509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原子化CSS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939259" y="5298116"/>
            <a:ext cx="2096806" cy="970272"/>
          </a:xfrm>
          <a:prstGeom prst="roundRect">
            <a:avLst>
              <a:gd name="adj" fmla="val 7491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53886" y="5410767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17034" y="17034"/>
                </a:moveTo>
                <a:cubicBezTo>
                  <a:pt x="26456" y="17034"/>
                  <a:pt x="34069" y="24646"/>
                  <a:pt x="34069" y="34069"/>
                </a:cubicBezTo>
                <a:lnTo>
                  <a:pt x="34069" y="212928"/>
                </a:lnTo>
                <a:cubicBezTo>
                  <a:pt x="34069" y="217613"/>
                  <a:pt x="37901" y="221446"/>
                  <a:pt x="42586" y="221446"/>
                </a:cubicBezTo>
                <a:lnTo>
                  <a:pt x="255514" y="221446"/>
                </a:lnTo>
                <a:cubicBezTo>
                  <a:pt x="264936" y="221446"/>
                  <a:pt x="272548" y="229058"/>
                  <a:pt x="272548" y="238480"/>
                </a:cubicBezTo>
                <a:cubicBezTo>
                  <a:pt x="272548" y="247902"/>
                  <a:pt x="264936" y="255514"/>
                  <a:pt x="255514" y="255514"/>
                </a:cubicBezTo>
                <a:lnTo>
                  <a:pt x="42586" y="255514"/>
                </a:lnTo>
                <a:cubicBezTo>
                  <a:pt x="19057" y="255514"/>
                  <a:pt x="0" y="236457"/>
                  <a:pt x="0" y="212928"/>
                </a:cubicBezTo>
                <a:lnTo>
                  <a:pt x="0" y="34069"/>
                </a:lnTo>
                <a:cubicBezTo>
                  <a:pt x="0" y="24646"/>
                  <a:pt x="7612" y="17034"/>
                  <a:pt x="17034" y="17034"/>
                </a:cubicBezTo>
                <a:close/>
                <a:moveTo>
                  <a:pt x="68137" y="51103"/>
                </a:moveTo>
                <a:cubicBezTo>
                  <a:pt x="68137" y="41681"/>
                  <a:pt x="75749" y="34069"/>
                  <a:pt x="85171" y="34069"/>
                </a:cubicBezTo>
                <a:lnTo>
                  <a:pt x="187377" y="34069"/>
                </a:lnTo>
                <a:cubicBezTo>
                  <a:pt x="196799" y="34069"/>
                  <a:pt x="204411" y="41681"/>
                  <a:pt x="204411" y="51103"/>
                </a:cubicBezTo>
                <a:cubicBezTo>
                  <a:pt x="204411" y="60525"/>
                  <a:pt x="196799" y="68137"/>
                  <a:pt x="187377" y="68137"/>
                </a:cubicBezTo>
                <a:lnTo>
                  <a:pt x="85171" y="68137"/>
                </a:lnTo>
                <a:cubicBezTo>
                  <a:pt x="75749" y="68137"/>
                  <a:pt x="68137" y="60525"/>
                  <a:pt x="68137" y="51103"/>
                </a:cubicBezTo>
                <a:close/>
                <a:moveTo>
                  <a:pt x="85171" y="93689"/>
                </a:moveTo>
                <a:lnTo>
                  <a:pt x="153308" y="93689"/>
                </a:lnTo>
                <a:cubicBezTo>
                  <a:pt x="162731" y="93689"/>
                  <a:pt x="170343" y="101301"/>
                  <a:pt x="170343" y="110723"/>
                </a:cubicBezTo>
                <a:cubicBezTo>
                  <a:pt x="170343" y="120145"/>
                  <a:pt x="162731" y="127757"/>
                  <a:pt x="153308" y="127757"/>
                </a:cubicBezTo>
                <a:lnTo>
                  <a:pt x="85171" y="127757"/>
                </a:lnTo>
                <a:cubicBezTo>
                  <a:pt x="75749" y="127757"/>
                  <a:pt x="68137" y="120145"/>
                  <a:pt x="68137" y="110723"/>
                </a:cubicBezTo>
                <a:cubicBezTo>
                  <a:pt x="68137" y="101301"/>
                  <a:pt x="75749" y="93689"/>
                  <a:pt x="85171" y="93689"/>
                </a:cubicBezTo>
                <a:close/>
                <a:moveTo>
                  <a:pt x="85171" y="153308"/>
                </a:moveTo>
                <a:lnTo>
                  <a:pt x="221446" y="153308"/>
                </a:lnTo>
                <a:cubicBezTo>
                  <a:pt x="230868" y="153308"/>
                  <a:pt x="238480" y="160921"/>
                  <a:pt x="238480" y="170343"/>
                </a:cubicBezTo>
                <a:cubicBezTo>
                  <a:pt x="238480" y="179765"/>
                  <a:pt x="230868" y="187377"/>
                  <a:pt x="221446" y="187377"/>
                </a:cubicBezTo>
                <a:lnTo>
                  <a:pt x="85171" y="187377"/>
                </a:lnTo>
                <a:cubicBezTo>
                  <a:pt x="75749" y="187377"/>
                  <a:pt x="68137" y="179765"/>
                  <a:pt x="68137" y="170343"/>
                </a:cubicBezTo>
                <a:cubicBezTo>
                  <a:pt x="68137" y="160921"/>
                  <a:pt x="75749" y="153308"/>
                  <a:pt x="85171" y="153308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64" name="Text 62"/>
          <p:cNvSpPr/>
          <p:nvPr/>
        </p:nvSpPr>
        <p:spPr>
          <a:xfrm>
            <a:off x="5015573" y="5755995"/>
            <a:ext cx="194417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ECharts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020115" y="5974034"/>
            <a:ext cx="193509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330871" y="923713"/>
            <a:ext cx="4497049" cy="569626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blurRad="27255" dist="908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67" name="Shape 65"/>
          <p:cNvSpPr/>
          <p:nvPr/>
        </p:nvSpPr>
        <p:spPr>
          <a:xfrm>
            <a:off x="7476231" y="1069072"/>
            <a:ext cx="363398" cy="363398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68" name="Shape 66"/>
          <p:cNvSpPr/>
          <p:nvPr/>
        </p:nvSpPr>
        <p:spPr>
          <a:xfrm>
            <a:off x="7576165" y="1178092"/>
            <a:ext cx="163529" cy="145359"/>
          </a:xfrm>
          <a:custGeom>
            <a:avLst/>
            <a:gdLst/>
            <a:ahLst/>
            <a:cxnLst/>
            <a:rect l="l" t="t" r="r" b="b"/>
            <a:pathLst>
              <a:path w="163529" h="145359">
                <a:moveTo>
                  <a:pt x="145473" y="68137"/>
                </a:moveTo>
                <a:lnTo>
                  <a:pt x="95506" y="68137"/>
                </a:lnTo>
                <a:cubicBezTo>
                  <a:pt x="90480" y="68137"/>
                  <a:pt x="86421" y="64077"/>
                  <a:pt x="86421" y="59052"/>
                </a:cubicBezTo>
                <a:lnTo>
                  <a:pt x="86421" y="9085"/>
                </a:lnTo>
                <a:cubicBezTo>
                  <a:pt x="86421" y="4060"/>
                  <a:pt x="90509" y="-57"/>
                  <a:pt x="95477" y="596"/>
                </a:cubicBezTo>
                <a:cubicBezTo>
                  <a:pt x="125855" y="4628"/>
                  <a:pt x="149930" y="28703"/>
                  <a:pt x="153961" y="59081"/>
                </a:cubicBezTo>
                <a:cubicBezTo>
                  <a:pt x="154614" y="64049"/>
                  <a:pt x="150498" y="68137"/>
                  <a:pt x="145473" y="68137"/>
                </a:cubicBezTo>
                <a:close/>
                <a:moveTo>
                  <a:pt x="63197" y="10561"/>
                </a:moveTo>
                <a:cubicBezTo>
                  <a:pt x="68336" y="9482"/>
                  <a:pt x="72793" y="13684"/>
                  <a:pt x="72793" y="18936"/>
                </a:cubicBezTo>
                <a:lnTo>
                  <a:pt x="72793" y="74951"/>
                </a:lnTo>
                <a:cubicBezTo>
                  <a:pt x="72793" y="76541"/>
                  <a:pt x="73361" y="78074"/>
                  <a:pt x="74355" y="79295"/>
                </a:cubicBezTo>
                <a:lnTo>
                  <a:pt x="111858" y="124549"/>
                </a:lnTo>
                <a:cubicBezTo>
                  <a:pt x="115180" y="128552"/>
                  <a:pt x="114470" y="134599"/>
                  <a:pt x="109899" y="137069"/>
                </a:cubicBezTo>
                <a:cubicBezTo>
                  <a:pt x="100218" y="142350"/>
                  <a:pt x="89118" y="145359"/>
                  <a:pt x="77336" y="145359"/>
                </a:cubicBezTo>
                <a:cubicBezTo>
                  <a:pt x="39718" y="145359"/>
                  <a:pt x="9199" y="114839"/>
                  <a:pt x="9199" y="77222"/>
                </a:cubicBezTo>
                <a:cubicBezTo>
                  <a:pt x="9199" y="44431"/>
                  <a:pt x="32337" y="17063"/>
                  <a:pt x="63197" y="10561"/>
                </a:cubicBezTo>
                <a:close/>
                <a:moveTo>
                  <a:pt x="135650" y="81765"/>
                </a:moveTo>
                <a:lnTo>
                  <a:pt x="153820" y="81765"/>
                </a:lnTo>
                <a:cubicBezTo>
                  <a:pt x="159072" y="81765"/>
                  <a:pt x="163274" y="86222"/>
                  <a:pt x="162195" y="91361"/>
                </a:cubicBezTo>
                <a:cubicBezTo>
                  <a:pt x="159299" y="105101"/>
                  <a:pt x="152258" y="117309"/>
                  <a:pt x="142435" y="126621"/>
                </a:cubicBezTo>
                <a:cubicBezTo>
                  <a:pt x="138943" y="129943"/>
                  <a:pt x="133464" y="129233"/>
                  <a:pt x="130397" y="125514"/>
                </a:cubicBezTo>
                <a:lnTo>
                  <a:pt x="106436" y="96641"/>
                </a:lnTo>
                <a:cubicBezTo>
                  <a:pt x="101524" y="90708"/>
                  <a:pt x="105754" y="81765"/>
                  <a:pt x="113420" y="81765"/>
                </a:cubicBezTo>
                <a:lnTo>
                  <a:pt x="135621" y="8176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7948648" y="1105412"/>
            <a:ext cx="981174" cy="290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项目规模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83499" y="1585098"/>
            <a:ext cx="4193612" cy="1250089"/>
          </a:xfrm>
          <a:prstGeom prst="roundRect">
            <a:avLst>
              <a:gd name="adj" fmla="val 8721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2700000" scaled="1"/>
          </a:gra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27107" y="1737726"/>
            <a:ext cx="4106396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16A0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595244" y="2246483"/>
            <a:ext cx="397012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控制器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7604329" y="2500861"/>
            <a:ext cx="39519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Controller Classes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7483499" y="2958741"/>
            <a:ext cx="4193612" cy="1250089"/>
          </a:xfrm>
          <a:prstGeom prst="roundRect">
            <a:avLst>
              <a:gd name="adj" fmla="val 8721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2C3E50">
                <a:alpha val="30196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27107" y="3111369"/>
            <a:ext cx="4106396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595244" y="3620126"/>
            <a:ext cx="397012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业务实现类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604329" y="3874505"/>
            <a:ext cx="39519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Service Implementations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483499" y="4332387"/>
            <a:ext cx="4193612" cy="1250089"/>
          </a:xfrm>
          <a:prstGeom prst="roundRect">
            <a:avLst>
              <a:gd name="adj" fmla="val 8721"/>
            </a:avLst>
          </a:pr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2700000" scaled="1"/>
          </a:gradFill>
          <a:ln w="20320">
            <a:solidFill>
              <a:srgbClr val="E67E22">
                <a:alpha val="30196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27107" y="4485013"/>
            <a:ext cx="4106396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E67E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595244" y="4993770"/>
            <a:ext cx="397012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实体类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7604329" y="5248148"/>
            <a:ext cx="395195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Entity Classes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7479865" y="5702397"/>
            <a:ext cx="2042296" cy="770404"/>
          </a:xfrm>
          <a:prstGeom prst="roundRect">
            <a:avLst>
              <a:gd name="adj" fmla="val 9434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2700000" scaled="1"/>
          </a:gradFill>
          <a:ln w="1016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24381" y="5815051"/>
            <a:ext cx="1953264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16A08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560721" y="6178448"/>
            <a:ext cx="188058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Repository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9638789" y="5702397"/>
            <a:ext cx="2042296" cy="770404"/>
          </a:xfrm>
          <a:prstGeom prst="roundRect">
            <a:avLst>
              <a:gd name="adj" fmla="val 9434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10160">
            <a:solidFill>
              <a:srgbClr val="2C3E50">
                <a:alpha val="30196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683306" y="5815051"/>
            <a:ext cx="1953264" cy="327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46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9719645" y="6178448"/>
            <a:ext cx="1880584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138" y="375138"/>
            <a:ext cx="75028" cy="37513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62708" y="375138"/>
            <a:ext cx="2194560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5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功能模块设计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708" y="825305"/>
            <a:ext cx="11338560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9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FUNCTIONAL MODULE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2641" y="1170432"/>
            <a:ext cx="5632704" cy="5312430"/>
          </a:xfrm>
          <a:prstGeom prst="roundRect">
            <a:avLst>
              <a:gd name="adj" fmla="val 1998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0199" y="1346631"/>
            <a:ext cx="450166" cy="450166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7" name="Shape 5"/>
          <p:cNvSpPr/>
          <p:nvPr/>
        </p:nvSpPr>
        <p:spPr>
          <a:xfrm>
            <a:off x="624606" y="1459173"/>
            <a:ext cx="281354" cy="225083"/>
          </a:xfrm>
          <a:custGeom>
            <a:avLst/>
            <a:gdLst/>
            <a:ahLst/>
            <a:cxnLst/>
            <a:rect l="l" t="t" r="r" b="b"/>
            <a:pathLst>
              <a:path w="281354" h="225083">
                <a:moveTo>
                  <a:pt x="140677" y="7034"/>
                </a:moveTo>
                <a:cubicBezTo>
                  <a:pt x="165910" y="7034"/>
                  <a:pt x="186397" y="27520"/>
                  <a:pt x="186397" y="52754"/>
                </a:cubicBezTo>
                <a:cubicBezTo>
                  <a:pt x="186397" y="77987"/>
                  <a:pt x="165910" y="98474"/>
                  <a:pt x="140677" y="98474"/>
                </a:cubicBezTo>
                <a:cubicBezTo>
                  <a:pt x="115443" y="98474"/>
                  <a:pt x="94957" y="77987"/>
                  <a:pt x="94957" y="52754"/>
                </a:cubicBezTo>
                <a:cubicBezTo>
                  <a:pt x="94957" y="27520"/>
                  <a:pt x="115443" y="7034"/>
                  <a:pt x="140677" y="7034"/>
                </a:cubicBezTo>
                <a:close/>
                <a:moveTo>
                  <a:pt x="42203" y="38686"/>
                </a:moveTo>
                <a:cubicBezTo>
                  <a:pt x="59672" y="38686"/>
                  <a:pt x="73855" y="52869"/>
                  <a:pt x="73855" y="70338"/>
                </a:cubicBezTo>
                <a:cubicBezTo>
                  <a:pt x="73855" y="87808"/>
                  <a:pt x="59672" y="101991"/>
                  <a:pt x="42203" y="101991"/>
                </a:cubicBezTo>
                <a:cubicBezTo>
                  <a:pt x="24734" y="101991"/>
                  <a:pt x="10551" y="87808"/>
                  <a:pt x="10551" y="70338"/>
                </a:cubicBezTo>
                <a:cubicBezTo>
                  <a:pt x="10551" y="52869"/>
                  <a:pt x="24734" y="38686"/>
                  <a:pt x="42203" y="38686"/>
                </a:cubicBezTo>
                <a:close/>
                <a:moveTo>
                  <a:pt x="0" y="182880"/>
                </a:moveTo>
                <a:cubicBezTo>
                  <a:pt x="0" y="151799"/>
                  <a:pt x="25190" y="126609"/>
                  <a:pt x="56271" y="126609"/>
                </a:cubicBezTo>
                <a:cubicBezTo>
                  <a:pt x="61898" y="126609"/>
                  <a:pt x="67349" y="127445"/>
                  <a:pt x="72493" y="128983"/>
                </a:cubicBezTo>
                <a:cubicBezTo>
                  <a:pt x="58029" y="145161"/>
                  <a:pt x="49237" y="166526"/>
                  <a:pt x="49237" y="189914"/>
                </a:cubicBezTo>
                <a:lnTo>
                  <a:pt x="49237" y="196948"/>
                </a:lnTo>
                <a:cubicBezTo>
                  <a:pt x="49237" y="201959"/>
                  <a:pt x="50292" y="206707"/>
                  <a:pt x="52182" y="211015"/>
                </a:cubicBezTo>
                <a:lnTo>
                  <a:pt x="14068" y="211015"/>
                </a:lnTo>
                <a:cubicBezTo>
                  <a:pt x="6287" y="211015"/>
                  <a:pt x="0" y="204729"/>
                  <a:pt x="0" y="196948"/>
                </a:cubicBezTo>
                <a:lnTo>
                  <a:pt x="0" y="182880"/>
                </a:lnTo>
                <a:close/>
                <a:moveTo>
                  <a:pt x="229172" y="211015"/>
                </a:moveTo>
                <a:cubicBezTo>
                  <a:pt x="231062" y="206707"/>
                  <a:pt x="232117" y="201959"/>
                  <a:pt x="232117" y="196948"/>
                </a:cubicBezTo>
                <a:lnTo>
                  <a:pt x="232117" y="189914"/>
                </a:lnTo>
                <a:cubicBezTo>
                  <a:pt x="232117" y="166526"/>
                  <a:pt x="223325" y="145161"/>
                  <a:pt x="208861" y="128983"/>
                </a:cubicBezTo>
                <a:cubicBezTo>
                  <a:pt x="214005" y="127445"/>
                  <a:pt x="219456" y="126609"/>
                  <a:pt x="225083" y="126609"/>
                </a:cubicBezTo>
                <a:cubicBezTo>
                  <a:pt x="256164" y="126609"/>
                  <a:pt x="281354" y="151799"/>
                  <a:pt x="281354" y="182880"/>
                </a:cubicBezTo>
                <a:lnTo>
                  <a:pt x="281354" y="196948"/>
                </a:lnTo>
                <a:cubicBezTo>
                  <a:pt x="281354" y="204729"/>
                  <a:pt x="275067" y="211015"/>
                  <a:pt x="267286" y="211015"/>
                </a:cubicBezTo>
                <a:lnTo>
                  <a:pt x="229172" y="211015"/>
                </a:lnTo>
                <a:close/>
                <a:moveTo>
                  <a:pt x="207498" y="70338"/>
                </a:moveTo>
                <a:cubicBezTo>
                  <a:pt x="207498" y="52869"/>
                  <a:pt x="221681" y="38686"/>
                  <a:pt x="239151" y="38686"/>
                </a:cubicBezTo>
                <a:cubicBezTo>
                  <a:pt x="256620" y="38686"/>
                  <a:pt x="270803" y="52869"/>
                  <a:pt x="270803" y="70338"/>
                </a:cubicBezTo>
                <a:cubicBezTo>
                  <a:pt x="270803" y="87808"/>
                  <a:pt x="256620" y="101991"/>
                  <a:pt x="239151" y="101991"/>
                </a:cubicBezTo>
                <a:cubicBezTo>
                  <a:pt x="221681" y="101991"/>
                  <a:pt x="207498" y="87808"/>
                  <a:pt x="207498" y="70338"/>
                </a:cubicBezTo>
                <a:close/>
                <a:moveTo>
                  <a:pt x="70338" y="189914"/>
                </a:moveTo>
                <a:cubicBezTo>
                  <a:pt x="70338" y="151052"/>
                  <a:pt x="101815" y="119575"/>
                  <a:pt x="140677" y="119575"/>
                </a:cubicBezTo>
                <a:cubicBezTo>
                  <a:pt x="179539" y="119575"/>
                  <a:pt x="211015" y="151052"/>
                  <a:pt x="211015" y="189914"/>
                </a:cubicBezTo>
                <a:lnTo>
                  <a:pt x="211015" y="196948"/>
                </a:lnTo>
                <a:cubicBezTo>
                  <a:pt x="211015" y="204729"/>
                  <a:pt x="204729" y="211015"/>
                  <a:pt x="196948" y="211015"/>
                </a:cubicBezTo>
                <a:lnTo>
                  <a:pt x="84406" y="211015"/>
                </a:lnTo>
                <a:cubicBezTo>
                  <a:pt x="76625" y="211015"/>
                  <a:pt x="70338" y="204729"/>
                  <a:pt x="70338" y="196948"/>
                </a:cubicBezTo>
                <a:lnTo>
                  <a:pt x="70338" y="18991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02907" y="1327991"/>
            <a:ext cx="787791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2907" y="1627985"/>
            <a:ext cx="74089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Portal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0199" y="1928094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5227" y="2003121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71498" y="2078149"/>
            <a:ext cx="187569" cy="150055"/>
          </a:xfrm>
          <a:custGeom>
            <a:avLst/>
            <a:gdLst/>
            <a:ahLst/>
            <a:cxnLst/>
            <a:rect l="l" t="t" r="r" b="b"/>
            <a:pathLst>
              <a:path w="187569" h="150055">
                <a:moveTo>
                  <a:pt x="39858" y="37514"/>
                </a:moveTo>
                <a:cubicBezTo>
                  <a:pt x="39858" y="18103"/>
                  <a:pt x="55617" y="2345"/>
                  <a:pt x="75028" y="2345"/>
                </a:cubicBezTo>
                <a:cubicBezTo>
                  <a:pt x="94438" y="2345"/>
                  <a:pt x="110197" y="18103"/>
                  <a:pt x="110197" y="37514"/>
                </a:cubicBezTo>
                <a:cubicBezTo>
                  <a:pt x="110197" y="56924"/>
                  <a:pt x="94438" y="72683"/>
                  <a:pt x="75028" y="72683"/>
                </a:cubicBezTo>
                <a:cubicBezTo>
                  <a:pt x="55617" y="72683"/>
                  <a:pt x="39858" y="56924"/>
                  <a:pt x="39858" y="37514"/>
                </a:cubicBezTo>
                <a:close/>
                <a:moveTo>
                  <a:pt x="14068" y="141351"/>
                </a:moveTo>
                <a:cubicBezTo>
                  <a:pt x="14068" y="112483"/>
                  <a:pt x="37455" y="89095"/>
                  <a:pt x="66323" y="89095"/>
                </a:cubicBezTo>
                <a:lnTo>
                  <a:pt x="83732" y="89095"/>
                </a:lnTo>
                <a:cubicBezTo>
                  <a:pt x="112600" y="89095"/>
                  <a:pt x="135988" y="112483"/>
                  <a:pt x="135988" y="141351"/>
                </a:cubicBezTo>
                <a:cubicBezTo>
                  <a:pt x="135988" y="146157"/>
                  <a:pt x="132090" y="150055"/>
                  <a:pt x="127283" y="150055"/>
                </a:cubicBezTo>
                <a:lnTo>
                  <a:pt x="22772" y="150055"/>
                </a:lnTo>
                <a:cubicBezTo>
                  <a:pt x="17966" y="150055"/>
                  <a:pt x="14068" y="146157"/>
                  <a:pt x="14068" y="141351"/>
                </a:cubicBezTo>
                <a:close/>
                <a:moveTo>
                  <a:pt x="159434" y="28135"/>
                </a:moveTo>
                <a:cubicBezTo>
                  <a:pt x="163332" y="28135"/>
                  <a:pt x="166468" y="31271"/>
                  <a:pt x="166468" y="35169"/>
                </a:cubicBezTo>
                <a:lnTo>
                  <a:pt x="166468" y="49237"/>
                </a:lnTo>
                <a:lnTo>
                  <a:pt x="180535" y="49237"/>
                </a:lnTo>
                <a:cubicBezTo>
                  <a:pt x="184433" y="49237"/>
                  <a:pt x="187569" y="52373"/>
                  <a:pt x="187569" y="56271"/>
                </a:cubicBezTo>
                <a:cubicBezTo>
                  <a:pt x="187569" y="60169"/>
                  <a:pt x="184433" y="63305"/>
                  <a:pt x="180535" y="63305"/>
                </a:cubicBezTo>
                <a:lnTo>
                  <a:pt x="166468" y="63305"/>
                </a:lnTo>
                <a:lnTo>
                  <a:pt x="166468" y="77372"/>
                </a:lnTo>
                <a:cubicBezTo>
                  <a:pt x="166468" y="81270"/>
                  <a:pt x="163332" y="84406"/>
                  <a:pt x="159434" y="84406"/>
                </a:cubicBezTo>
                <a:cubicBezTo>
                  <a:pt x="155536" y="84406"/>
                  <a:pt x="152400" y="81270"/>
                  <a:pt x="152400" y="77372"/>
                </a:cubicBezTo>
                <a:lnTo>
                  <a:pt x="152400" y="63305"/>
                </a:lnTo>
                <a:lnTo>
                  <a:pt x="138332" y="63305"/>
                </a:lnTo>
                <a:cubicBezTo>
                  <a:pt x="134434" y="63305"/>
                  <a:pt x="131298" y="60169"/>
                  <a:pt x="131298" y="56271"/>
                </a:cubicBezTo>
                <a:cubicBezTo>
                  <a:pt x="131298" y="52373"/>
                  <a:pt x="134434" y="49237"/>
                  <a:pt x="138332" y="49237"/>
                </a:cubicBezTo>
                <a:lnTo>
                  <a:pt x="152400" y="49237"/>
                </a:lnTo>
                <a:lnTo>
                  <a:pt x="152400" y="35169"/>
                </a:lnTo>
                <a:cubicBezTo>
                  <a:pt x="152400" y="31271"/>
                  <a:pt x="155536" y="28135"/>
                  <a:pt x="159434" y="28135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3" name="Text 11"/>
          <p:cNvSpPr/>
          <p:nvPr/>
        </p:nvSpPr>
        <p:spPr>
          <a:xfrm>
            <a:off x="1027879" y="2003121"/>
            <a:ext cx="138801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7879" y="2228204"/>
            <a:ext cx="1378634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注册、登录、修改密码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0199" y="2528315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5227" y="2603343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0255" y="2678370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121920" y="60960"/>
                </a:moveTo>
                <a:cubicBezTo>
                  <a:pt x="121920" y="74412"/>
                  <a:pt x="117553" y="86839"/>
                  <a:pt x="110197" y="96921"/>
                </a:cubicBezTo>
                <a:lnTo>
                  <a:pt x="147300" y="134053"/>
                </a:lnTo>
                <a:cubicBezTo>
                  <a:pt x="150964" y="137717"/>
                  <a:pt x="150964" y="143666"/>
                  <a:pt x="147300" y="147330"/>
                </a:cubicBezTo>
                <a:cubicBezTo>
                  <a:pt x="143637" y="150993"/>
                  <a:pt x="137688" y="150993"/>
                  <a:pt x="134024" y="147330"/>
                </a:cubicBezTo>
                <a:lnTo>
                  <a:pt x="96921" y="110197"/>
                </a:lnTo>
                <a:cubicBezTo>
                  <a:pt x="86839" y="117553"/>
                  <a:pt x="74412" y="121920"/>
                  <a:pt x="60960" y="121920"/>
                </a:cubicBezTo>
                <a:cubicBezTo>
                  <a:pt x="27285" y="121920"/>
                  <a:pt x="0" y="94635"/>
                  <a:pt x="0" y="60960"/>
                </a:cubicBezTo>
                <a:cubicBezTo>
                  <a:pt x="0" y="27285"/>
                  <a:pt x="27285" y="0"/>
                  <a:pt x="60960" y="0"/>
                </a:cubicBezTo>
                <a:cubicBezTo>
                  <a:pt x="94635" y="0"/>
                  <a:pt x="121920" y="27285"/>
                  <a:pt x="121920" y="60960"/>
                </a:cubicBezTo>
                <a:close/>
                <a:moveTo>
                  <a:pt x="60960" y="103163"/>
                </a:moveTo>
                <a:cubicBezTo>
                  <a:pt x="84253" y="103163"/>
                  <a:pt x="103163" y="84253"/>
                  <a:pt x="103163" y="60960"/>
                </a:cubicBezTo>
                <a:cubicBezTo>
                  <a:pt x="103163" y="37667"/>
                  <a:pt x="84253" y="18757"/>
                  <a:pt x="60960" y="18757"/>
                </a:cubicBezTo>
                <a:cubicBezTo>
                  <a:pt x="37667" y="18757"/>
                  <a:pt x="18757" y="37667"/>
                  <a:pt x="18757" y="60960"/>
                </a:cubicBezTo>
                <a:cubicBezTo>
                  <a:pt x="18757" y="84253"/>
                  <a:pt x="37667" y="103163"/>
                  <a:pt x="60960" y="103163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1027879" y="2603343"/>
            <a:ext cx="230710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图书查询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7879" y="2828426"/>
            <a:ext cx="229772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检索、分类浏览、新书推荐、热门展示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0199" y="3128537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5227" y="3203564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0255" y="3278592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44548"/>
                </a:moveTo>
                <a:cubicBezTo>
                  <a:pt x="89262" y="44548"/>
                  <a:pt x="100818" y="32991"/>
                  <a:pt x="100818" y="18757"/>
                </a:cubicBezTo>
                <a:cubicBezTo>
                  <a:pt x="100818" y="4523"/>
                  <a:pt x="89262" y="-7034"/>
                  <a:pt x="75028" y="-7034"/>
                </a:cubicBezTo>
                <a:cubicBezTo>
                  <a:pt x="60793" y="-7034"/>
                  <a:pt x="49237" y="4523"/>
                  <a:pt x="49237" y="18757"/>
                </a:cubicBezTo>
                <a:cubicBezTo>
                  <a:pt x="49237" y="32991"/>
                  <a:pt x="60793" y="44548"/>
                  <a:pt x="75028" y="44548"/>
                </a:cubicBezTo>
                <a:close/>
                <a:moveTo>
                  <a:pt x="75028" y="132090"/>
                </a:moveTo>
                <a:lnTo>
                  <a:pt x="75028" y="88333"/>
                </a:lnTo>
                <a:cubicBezTo>
                  <a:pt x="79805" y="86340"/>
                  <a:pt x="84670" y="84318"/>
                  <a:pt x="89594" y="82267"/>
                </a:cubicBezTo>
                <a:cubicBezTo>
                  <a:pt x="101024" y="77519"/>
                  <a:pt x="113274" y="75057"/>
                  <a:pt x="125671" y="75057"/>
                </a:cubicBezTo>
                <a:lnTo>
                  <a:pt x="131298" y="75057"/>
                </a:lnTo>
                <a:lnTo>
                  <a:pt x="131298" y="121949"/>
                </a:lnTo>
                <a:lnTo>
                  <a:pt x="125671" y="121949"/>
                </a:lnTo>
                <a:cubicBezTo>
                  <a:pt x="108351" y="121949"/>
                  <a:pt x="91176" y="125378"/>
                  <a:pt x="75174" y="132060"/>
                </a:cubicBezTo>
                <a:lnTo>
                  <a:pt x="75028" y="132119"/>
                </a:lnTo>
                <a:close/>
                <a:moveTo>
                  <a:pt x="75028" y="67994"/>
                </a:moveTo>
                <a:lnTo>
                  <a:pt x="67671" y="64917"/>
                </a:lnTo>
                <a:cubicBezTo>
                  <a:pt x="53955" y="59202"/>
                  <a:pt x="39243" y="56271"/>
                  <a:pt x="24384" y="56271"/>
                </a:cubicBezTo>
                <a:lnTo>
                  <a:pt x="14068" y="56271"/>
                </a:lnTo>
                <a:cubicBezTo>
                  <a:pt x="6301" y="56271"/>
                  <a:pt x="0" y="62572"/>
                  <a:pt x="0" y="70338"/>
                </a:cubicBezTo>
                <a:lnTo>
                  <a:pt x="0" y="126609"/>
                </a:lnTo>
                <a:cubicBezTo>
                  <a:pt x="0" y="134376"/>
                  <a:pt x="6301" y="140677"/>
                  <a:pt x="14068" y="140677"/>
                </a:cubicBezTo>
                <a:lnTo>
                  <a:pt x="24384" y="140677"/>
                </a:lnTo>
                <a:cubicBezTo>
                  <a:pt x="39243" y="140677"/>
                  <a:pt x="53955" y="143608"/>
                  <a:pt x="67671" y="149323"/>
                </a:cubicBezTo>
                <a:lnTo>
                  <a:pt x="71423" y="150876"/>
                </a:lnTo>
                <a:cubicBezTo>
                  <a:pt x="73738" y="151843"/>
                  <a:pt x="76317" y="151843"/>
                  <a:pt x="78633" y="150876"/>
                </a:cubicBezTo>
                <a:lnTo>
                  <a:pt x="82384" y="149323"/>
                </a:lnTo>
                <a:cubicBezTo>
                  <a:pt x="96100" y="143608"/>
                  <a:pt x="110812" y="140677"/>
                  <a:pt x="125671" y="140677"/>
                </a:cubicBezTo>
                <a:lnTo>
                  <a:pt x="135988" y="140677"/>
                </a:lnTo>
                <a:cubicBezTo>
                  <a:pt x="143754" y="140677"/>
                  <a:pt x="150055" y="134376"/>
                  <a:pt x="150055" y="126609"/>
                </a:cubicBezTo>
                <a:lnTo>
                  <a:pt x="150055" y="70338"/>
                </a:lnTo>
                <a:cubicBezTo>
                  <a:pt x="150055" y="62572"/>
                  <a:pt x="143754" y="56271"/>
                  <a:pt x="135988" y="56271"/>
                </a:cubicBezTo>
                <a:lnTo>
                  <a:pt x="125671" y="56271"/>
                </a:lnTo>
                <a:cubicBezTo>
                  <a:pt x="110812" y="56271"/>
                  <a:pt x="96100" y="59202"/>
                  <a:pt x="82384" y="64917"/>
                </a:cubicBezTo>
                <a:lnTo>
                  <a:pt x="75028" y="67994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3" name="Text 21"/>
          <p:cNvSpPr/>
          <p:nvPr/>
        </p:nvSpPr>
        <p:spPr>
          <a:xfrm>
            <a:off x="1027879" y="3203564"/>
            <a:ext cx="112541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7879" y="3428647"/>
            <a:ext cx="1116037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借书、还书、续借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0199" y="3728758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5227" y="3803786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90255" y="3878814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0"/>
                </a:moveTo>
                <a:cubicBezTo>
                  <a:pt x="116437" y="0"/>
                  <a:pt x="150055" y="33619"/>
                  <a:pt x="150055" y="75028"/>
                </a:cubicBezTo>
                <a:cubicBezTo>
                  <a:pt x="150055" y="116437"/>
                  <a:pt x="116437" y="150055"/>
                  <a:pt x="75028" y="150055"/>
                </a:cubicBezTo>
                <a:cubicBezTo>
                  <a:pt x="33619" y="150055"/>
                  <a:pt x="0" y="116437"/>
                  <a:pt x="0" y="75028"/>
                </a:cubicBezTo>
                <a:cubicBezTo>
                  <a:pt x="0" y="33619"/>
                  <a:pt x="33619" y="0"/>
                  <a:pt x="75028" y="0"/>
                </a:cubicBezTo>
                <a:close/>
                <a:moveTo>
                  <a:pt x="67994" y="35169"/>
                </a:moveTo>
                <a:lnTo>
                  <a:pt x="67994" y="75028"/>
                </a:lnTo>
                <a:cubicBezTo>
                  <a:pt x="67994" y="77372"/>
                  <a:pt x="69166" y="79570"/>
                  <a:pt x="71130" y="80889"/>
                </a:cubicBezTo>
                <a:lnTo>
                  <a:pt x="99265" y="99646"/>
                </a:lnTo>
                <a:cubicBezTo>
                  <a:pt x="102489" y="101815"/>
                  <a:pt x="106856" y="100936"/>
                  <a:pt x="109025" y="97683"/>
                </a:cubicBezTo>
                <a:cubicBezTo>
                  <a:pt x="111193" y="94429"/>
                  <a:pt x="110314" y="90092"/>
                  <a:pt x="107061" y="87923"/>
                </a:cubicBezTo>
                <a:lnTo>
                  <a:pt x="82062" y="71276"/>
                </a:lnTo>
                <a:lnTo>
                  <a:pt x="82062" y="35169"/>
                </a:lnTo>
                <a:cubicBezTo>
                  <a:pt x="82062" y="31271"/>
                  <a:pt x="78926" y="28135"/>
                  <a:pt x="75028" y="28135"/>
                </a:cubicBezTo>
                <a:cubicBezTo>
                  <a:pt x="71130" y="28135"/>
                  <a:pt x="67994" y="31271"/>
                  <a:pt x="67994" y="35169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8" name="Text 26"/>
          <p:cNvSpPr/>
          <p:nvPr/>
        </p:nvSpPr>
        <p:spPr>
          <a:xfrm>
            <a:off x="1027879" y="3803786"/>
            <a:ext cx="1519311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预约排队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27879" y="4028869"/>
            <a:ext cx="150993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热门图书预约与排队等待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0199" y="4328980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5227" y="4404007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90255" y="4479035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0632" y="25527"/>
                </a:moveTo>
                <a:lnTo>
                  <a:pt x="75028" y="31594"/>
                </a:lnTo>
                <a:lnTo>
                  <a:pt x="79424" y="25527"/>
                </a:lnTo>
                <a:cubicBezTo>
                  <a:pt x="86751" y="15387"/>
                  <a:pt x="98532" y="9378"/>
                  <a:pt x="111047" y="9378"/>
                </a:cubicBezTo>
                <a:cubicBezTo>
                  <a:pt x="132588" y="9378"/>
                  <a:pt x="150055" y="26846"/>
                  <a:pt x="150055" y="48387"/>
                </a:cubicBezTo>
                <a:lnTo>
                  <a:pt x="150055" y="49149"/>
                </a:lnTo>
                <a:cubicBezTo>
                  <a:pt x="150055" y="82032"/>
                  <a:pt x="109054" y="120220"/>
                  <a:pt x="87659" y="136545"/>
                </a:cubicBezTo>
                <a:cubicBezTo>
                  <a:pt x="84025" y="139299"/>
                  <a:pt x="79570" y="140677"/>
                  <a:pt x="75028" y="140677"/>
                </a:cubicBezTo>
                <a:cubicBezTo>
                  <a:pt x="70485" y="140677"/>
                  <a:pt x="66001" y="139329"/>
                  <a:pt x="62396" y="136545"/>
                </a:cubicBezTo>
                <a:cubicBezTo>
                  <a:pt x="41001" y="120220"/>
                  <a:pt x="0" y="82032"/>
                  <a:pt x="0" y="49149"/>
                </a:cubicBezTo>
                <a:lnTo>
                  <a:pt x="0" y="48387"/>
                </a:lnTo>
                <a:cubicBezTo>
                  <a:pt x="0" y="26846"/>
                  <a:pt x="17467" y="9378"/>
                  <a:pt x="39009" y="9378"/>
                </a:cubicBezTo>
                <a:cubicBezTo>
                  <a:pt x="51523" y="9378"/>
                  <a:pt x="63305" y="15387"/>
                  <a:pt x="70632" y="25527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3" name="Text 31"/>
          <p:cNvSpPr/>
          <p:nvPr/>
        </p:nvSpPr>
        <p:spPr>
          <a:xfrm>
            <a:off x="1027879" y="4404007"/>
            <a:ext cx="1650609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互动功能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7879" y="4629090"/>
            <a:ext cx="1641231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收藏、评论、查看通知公告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0199" y="4929201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5227" y="5004229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16A085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0876" y="5079257"/>
            <a:ext cx="168812" cy="150055"/>
          </a:xfrm>
          <a:custGeom>
            <a:avLst/>
            <a:gdLst/>
            <a:ahLst/>
            <a:cxnLst/>
            <a:rect l="l" t="t" r="r" b="b"/>
            <a:pathLst>
              <a:path w="168812" h="150055">
                <a:moveTo>
                  <a:pt x="84406" y="18757"/>
                </a:moveTo>
                <a:cubicBezTo>
                  <a:pt x="115472" y="18757"/>
                  <a:pt x="140677" y="43962"/>
                  <a:pt x="140677" y="75028"/>
                </a:cubicBezTo>
                <a:cubicBezTo>
                  <a:pt x="140677" y="106094"/>
                  <a:pt x="115472" y="131298"/>
                  <a:pt x="84406" y="131298"/>
                </a:cubicBezTo>
                <a:cubicBezTo>
                  <a:pt x="65298" y="131298"/>
                  <a:pt x="48387" y="121773"/>
                  <a:pt x="38217" y="107178"/>
                </a:cubicBezTo>
                <a:cubicBezTo>
                  <a:pt x="35257" y="102929"/>
                  <a:pt x="29396" y="101903"/>
                  <a:pt x="25146" y="104863"/>
                </a:cubicBezTo>
                <a:cubicBezTo>
                  <a:pt x="20896" y="107823"/>
                  <a:pt x="19871" y="113685"/>
                  <a:pt x="22831" y="117934"/>
                </a:cubicBezTo>
                <a:cubicBezTo>
                  <a:pt x="36371" y="137336"/>
                  <a:pt x="58908" y="150055"/>
                  <a:pt x="84406" y="150055"/>
                </a:cubicBezTo>
                <a:cubicBezTo>
                  <a:pt x="125847" y="150055"/>
                  <a:pt x="159434" y="116469"/>
                  <a:pt x="159434" y="75028"/>
                </a:cubicBezTo>
                <a:cubicBezTo>
                  <a:pt x="159434" y="33587"/>
                  <a:pt x="125847" y="0"/>
                  <a:pt x="84406" y="0"/>
                </a:cubicBezTo>
                <a:cubicBezTo>
                  <a:pt x="59289" y="0"/>
                  <a:pt x="37074" y="12339"/>
                  <a:pt x="23446" y="31271"/>
                </a:cubicBezTo>
                <a:lnTo>
                  <a:pt x="23446" y="23446"/>
                </a:lnTo>
                <a:cubicBezTo>
                  <a:pt x="23446" y="18259"/>
                  <a:pt x="19255" y="14068"/>
                  <a:pt x="14068" y="14068"/>
                </a:cubicBezTo>
                <a:cubicBezTo>
                  <a:pt x="8880" y="14068"/>
                  <a:pt x="4689" y="18259"/>
                  <a:pt x="4689" y="23446"/>
                </a:cubicBezTo>
                <a:lnTo>
                  <a:pt x="4689" y="56271"/>
                </a:lnTo>
                <a:cubicBezTo>
                  <a:pt x="4689" y="61458"/>
                  <a:pt x="8880" y="65649"/>
                  <a:pt x="14068" y="65649"/>
                </a:cubicBezTo>
                <a:lnTo>
                  <a:pt x="21277" y="65649"/>
                </a:lnTo>
                <a:cubicBezTo>
                  <a:pt x="21424" y="65649"/>
                  <a:pt x="21570" y="65649"/>
                  <a:pt x="21717" y="65649"/>
                </a:cubicBezTo>
                <a:lnTo>
                  <a:pt x="46922" y="65649"/>
                </a:lnTo>
                <a:cubicBezTo>
                  <a:pt x="52109" y="65649"/>
                  <a:pt x="56300" y="61458"/>
                  <a:pt x="56300" y="56271"/>
                </a:cubicBezTo>
                <a:cubicBezTo>
                  <a:pt x="56300" y="51083"/>
                  <a:pt x="52109" y="46892"/>
                  <a:pt x="46922" y="46892"/>
                </a:cubicBezTo>
                <a:lnTo>
                  <a:pt x="35697" y="46892"/>
                </a:lnTo>
                <a:cubicBezTo>
                  <a:pt x="45398" y="30070"/>
                  <a:pt x="63598" y="18757"/>
                  <a:pt x="84406" y="18757"/>
                </a:cubicBezTo>
                <a:close/>
                <a:moveTo>
                  <a:pt x="91440" y="44548"/>
                </a:moveTo>
                <a:cubicBezTo>
                  <a:pt x="91440" y="40650"/>
                  <a:pt x="88304" y="37514"/>
                  <a:pt x="84406" y="37514"/>
                </a:cubicBezTo>
                <a:cubicBezTo>
                  <a:pt x="80508" y="37514"/>
                  <a:pt x="77372" y="40650"/>
                  <a:pt x="77372" y="44548"/>
                </a:cubicBezTo>
                <a:lnTo>
                  <a:pt x="77372" y="75028"/>
                </a:lnTo>
                <a:cubicBezTo>
                  <a:pt x="77372" y="76903"/>
                  <a:pt x="78105" y="78691"/>
                  <a:pt x="79424" y="80010"/>
                </a:cubicBezTo>
                <a:lnTo>
                  <a:pt x="100525" y="101112"/>
                </a:lnTo>
                <a:cubicBezTo>
                  <a:pt x="103280" y="103866"/>
                  <a:pt x="107735" y="103866"/>
                  <a:pt x="110461" y="101112"/>
                </a:cubicBezTo>
                <a:cubicBezTo>
                  <a:pt x="113186" y="98357"/>
                  <a:pt x="113216" y="93902"/>
                  <a:pt x="110461" y="91176"/>
                </a:cubicBezTo>
                <a:lnTo>
                  <a:pt x="91411" y="72126"/>
                </a:lnTo>
                <a:lnTo>
                  <a:pt x="91411" y="44548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1027879" y="5004229"/>
            <a:ext cx="125671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个人中心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7879" y="5229312"/>
            <a:ext cx="1247335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借阅记录、罚款查询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2903" y="956603"/>
            <a:ext cx="5632704" cy="5679596"/>
          </a:xfrm>
          <a:prstGeom prst="roundRect">
            <a:avLst>
              <a:gd name="adj" fmla="val 1998"/>
            </a:avLst>
          </a:prstGeom>
          <a:gradFill flip="none" rotWithShape="1">
            <a:gsLst>
              <a:gs pos="0">
                <a:srgbClr val="2C3E50">
                  <a:alpha val="5000"/>
                </a:srgbClr>
              </a:gs>
              <a:gs pos="100000">
                <a:srgbClr val="2C3E50">
                  <a:alpha val="10000"/>
                </a:srgbClr>
              </a:gs>
            </a:gsLst>
            <a:lin ang="2700000" scaled="1"/>
          </a:gradFill>
          <a:ln w="20320">
            <a:solidFill>
              <a:srgbClr val="2C3E50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3978" y="1215332"/>
            <a:ext cx="450166" cy="450166"/>
          </a:xfrm>
          <a:prstGeom prst="roundRect">
            <a:avLst>
              <a:gd name="adj" fmla="val 25000"/>
            </a:avLst>
          </a:prstGeom>
          <a:solidFill>
            <a:srgbClr val="2C3E50"/>
          </a:solidFill>
          <a:ln/>
        </p:spPr>
      </p:sp>
      <p:sp>
        <p:nvSpPr>
          <p:cNvPr id="42" name="Shape 40"/>
          <p:cNvSpPr/>
          <p:nvPr/>
        </p:nvSpPr>
        <p:spPr>
          <a:xfrm>
            <a:off x="6432452" y="1327874"/>
            <a:ext cx="253218" cy="225083"/>
          </a:xfrm>
          <a:custGeom>
            <a:avLst/>
            <a:gdLst/>
            <a:ahLst/>
            <a:cxnLst/>
            <a:rect l="l" t="t" r="r" b="b"/>
            <a:pathLst>
              <a:path w="253218" h="225083">
                <a:moveTo>
                  <a:pt x="98474" y="109025"/>
                </a:moveTo>
                <a:cubicBezTo>
                  <a:pt x="127589" y="109025"/>
                  <a:pt x="151228" y="85386"/>
                  <a:pt x="151228" y="56271"/>
                </a:cubicBezTo>
                <a:cubicBezTo>
                  <a:pt x="151228" y="27155"/>
                  <a:pt x="127589" y="3517"/>
                  <a:pt x="98474" y="3517"/>
                </a:cubicBezTo>
                <a:cubicBezTo>
                  <a:pt x="69358" y="3517"/>
                  <a:pt x="45720" y="27155"/>
                  <a:pt x="45720" y="56271"/>
                </a:cubicBezTo>
                <a:cubicBezTo>
                  <a:pt x="45720" y="85386"/>
                  <a:pt x="69358" y="109025"/>
                  <a:pt x="98474" y="109025"/>
                </a:cubicBezTo>
                <a:close/>
                <a:moveTo>
                  <a:pt x="85417" y="133643"/>
                </a:moveTo>
                <a:cubicBezTo>
                  <a:pt x="42115" y="133643"/>
                  <a:pt x="7034" y="168724"/>
                  <a:pt x="7034" y="212027"/>
                </a:cubicBezTo>
                <a:cubicBezTo>
                  <a:pt x="7034" y="219236"/>
                  <a:pt x="12881" y="225083"/>
                  <a:pt x="20090" y="225083"/>
                </a:cubicBezTo>
                <a:lnTo>
                  <a:pt x="130654" y="225083"/>
                </a:lnTo>
                <a:cubicBezTo>
                  <a:pt x="114740" y="206355"/>
                  <a:pt x="105508" y="182221"/>
                  <a:pt x="105508" y="156679"/>
                </a:cubicBezTo>
                <a:lnTo>
                  <a:pt x="105508" y="143007"/>
                </a:lnTo>
                <a:cubicBezTo>
                  <a:pt x="105508" y="139798"/>
                  <a:pt x="105947" y="136632"/>
                  <a:pt x="106783" y="133643"/>
                </a:cubicBezTo>
                <a:lnTo>
                  <a:pt x="85417" y="133643"/>
                </a:lnTo>
                <a:close/>
                <a:moveTo>
                  <a:pt x="195761" y="214752"/>
                </a:moveTo>
                <a:lnTo>
                  <a:pt x="189914" y="217522"/>
                </a:lnTo>
                <a:lnTo>
                  <a:pt x="189914" y="134830"/>
                </a:lnTo>
                <a:lnTo>
                  <a:pt x="232117" y="148898"/>
                </a:lnTo>
                <a:lnTo>
                  <a:pt x="232117" y="157514"/>
                </a:lnTo>
                <a:cubicBezTo>
                  <a:pt x="232117" y="182045"/>
                  <a:pt x="217961" y="204333"/>
                  <a:pt x="195761" y="214796"/>
                </a:cubicBezTo>
                <a:close/>
                <a:moveTo>
                  <a:pt x="185474" y="114080"/>
                </a:moveTo>
                <a:lnTo>
                  <a:pt x="136237" y="130478"/>
                </a:lnTo>
                <a:cubicBezTo>
                  <a:pt x="130478" y="132412"/>
                  <a:pt x="126609" y="137775"/>
                  <a:pt x="126609" y="143842"/>
                </a:cubicBezTo>
                <a:lnTo>
                  <a:pt x="126609" y="157514"/>
                </a:lnTo>
                <a:cubicBezTo>
                  <a:pt x="126609" y="190222"/>
                  <a:pt x="145513" y="219984"/>
                  <a:pt x="175055" y="233875"/>
                </a:cubicBezTo>
                <a:lnTo>
                  <a:pt x="183188" y="237700"/>
                </a:lnTo>
                <a:cubicBezTo>
                  <a:pt x="185298" y="238667"/>
                  <a:pt x="187584" y="239195"/>
                  <a:pt x="189870" y="239195"/>
                </a:cubicBezTo>
                <a:cubicBezTo>
                  <a:pt x="192156" y="239195"/>
                  <a:pt x="194486" y="238667"/>
                  <a:pt x="196552" y="237700"/>
                </a:cubicBezTo>
                <a:lnTo>
                  <a:pt x="204685" y="233875"/>
                </a:lnTo>
                <a:cubicBezTo>
                  <a:pt x="234315" y="219940"/>
                  <a:pt x="253218" y="190178"/>
                  <a:pt x="253218" y="157470"/>
                </a:cubicBezTo>
                <a:lnTo>
                  <a:pt x="253218" y="143798"/>
                </a:lnTo>
                <a:cubicBezTo>
                  <a:pt x="253218" y="137731"/>
                  <a:pt x="249350" y="132368"/>
                  <a:pt x="243591" y="130434"/>
                </a:cubicBezTo>
                <a:lnTo>
                  <a:pt x="194354" y="114036"/>
                </a:lnTo>
                <a:cubicBezTo>
                  <a:pt x="191453" y="113069"/>
                  <a:pt x="188331" y="113069"/>
                  <a:pt x="185474" y="1140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96686" y="1196692"/>
            <a:ext cx="890954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管理端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96686" y="1496686"/>
            <a:ext cx="84406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Portal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3978" y="1796795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9006" y="1871822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93412" y="1946850"/>
            <a:ext cx="131298" cy="150055"/>
          </a:xfrm>
          <a:custGeom>
            <a:avLst/>
            <a:gdLst/>
            <a:ahLst/>
            <a:cxnLst/>
            <a:rect l="l" t="t" r="r" b="b"/>
            <a:pathLst>
              <a:path w="131298" h="150055">
                <a:moveTo>
                  <a:pt x="112542" y="150055"/>
                </a:moveTo>
                <a:lnTo>
                  <a:pt x="28135" y="150055"/>
                </a:lnTo>
                <a:cubicBezTo>
                  <a:pt x="12602" y="150055"/>
                  <a:pt x="0" y="137453"/>
                  <a:pt x="0" y="121920"/>
                </a:cubicBezTo>
                <a:lnTo>
                  <a:pt x="0" y="28135"/>
                </a:lnTo>
                <a:cubicBezTo>
                  <a:pt x="0" y="12602"/>
                  <a:pt x="12602" y="0"/>
                  <a:pt x="28135" y="0"/>
                </a:cubicBezTo>
                <a:lnTo>
                  <a:pt x="117231" y="0"/>
                </a:lnTo>
                <a:cubicBezTo>
                  <a:pt x="124997" y="0"/>
                  <a:pt x="131298" y="6301"/>
                  <a:pt x="131298" y="14068"/>
                </a:cubicBezTo>
                <a:lnTo>
                  <a:pt x="131298" y="98474"/>
                </a:lnTo>
                <a:cubicBezTo>
                  <a:pt x="131298" y="104599"/>
                  <a:pt x="127371" y="109816"/>
                  <a:pt x="121920" y="111750"/>
                </a:cubicBezTo>
                <a:lnTo>
                  <a:pt x="121920" y="131298"/>
                </a:lnTo>
                <a:cubicBezTo>
                  <a:pt x="127107" y="131298"/>
                  <a:pt x="131298" y="135489"/>
                  <a:pt x="131298" y="140677"/>
                </a:cubicBezTo>
                <a:cubicBezTo>
                  <a:pt x="131298" y="145864"/>
                  <a:pt x="127107" y="150055"/>
                  <a:pt x="121920" y="150055"/>
                </a:cubicBezTo>
                <a:lnTo>
                  <a:pt x="112542" y="150055"/>
                </a:lnTo>
                <a:close/>
                <a:moveTo>
                  <a:pt x="28135" y="112542"/>
                </a:moveTo>
                <a:cubicBezTo>
                  <a:pt x="22948" y="112542"/>
                  <a:pt x="18757" y="116733"/>
                  <a:pt x="18757" y="121920"/>
                </a:cubicBezTo>
                <a:cubicBezTo>
                  <a:pt x="18757" y="127107"/>
                  <a:pt x="22948" y="131298"/>
                  <a:pt x="28135" y="131298"/>
                </a:cubicBezTo>
                <a:lnTo>
                  <a:pt x="103163" y="131298"/>
                </a:lnTo>
                <a:lnTo>
                  <a:pt x="103163" y="112542"/>
                </a:lnTo>
                <a:lnTo>
                  <a:pt x="28135" y="112542"/>
                </a:lnTo>
                <a:close/>
                <a:moveTo>
                  <a:pt x="37514" y="44548"/>
                </a:moveTo>
                <a:cubicBezTo>
                  <a:pt x="37514" y="48446"/>
                  <a:pt x="40650" y="51582"/>
                  <a:pt x="44548" y="51582"/>
                </a:cubicBezTo>
                <a:lnTo>
                  <a:pt x="96129" y="51582"/>
                </a:lnTo>
                <a:cubicBezTo>
                  <a:pt x="100027" y="51582"/>
                  <a:pt x="103163" y="48446"/>
                  <a:pt x="103163" y="44548"/>
                </a:cubicBezTo>
                <a:cubicBezTo>
                  <a:pt x="103163" y="40650"/>
                  <a:pt x="100027" y="37514"/>
                  <a:pt x="96129" y="37514"/>
                </a:cubicBezTo>
                <a:lnTo>
                  <a:pt x="44548" y="37514"/>
                </a:lnTo>
                <a:cubicBezTo>
                  <a:pt x="40650" y="37514"/>
                  <a:pt x="37514" y="40650"/>
                  <a:pt x="37514" y="44548"/>
                </a:cubicBezTo>
                <a:close/>
                <a:moveTo>
                  <a:pt x="44548" y="65649"/>
                </a:moveTo>
                <a:cubicBezTo>
                  <a:pt x="40650" y="65649"/>
                  <a:pt x="37514" y="68785"/>
                  <a:pt x="37514" y="72683"/>
                </a:cubicBezTo>
                <a:cubicBezTo>
                  <a:pt x="37514" y="76581"/>
                  <a:pt x="40650" y="79717"/>
                  <a:pt x="44548" y="79717"/>
                </a:cubicBezTo>
                <a:lnTo>
                  <a:pt x="96129" y="79717"/>
                </a:lnTo>
                <a:cubicBezTo>
                  <a:pt x="100027" y="79717"/>
                  <a:pt x="103163" y="76581"/>
                  <a:pt x="103163" y="72683"/>
                </a:cubicBezTo>
                <a:cubicBezTo>
                  <a:pt x="103163" y="68785"/>
                  <a:pt x="100027" y="65649"/>
                  <a:pt x="96129" y="65649"/>
                </a:cubicBezTo>
                <a:lnTo>
                  <a:pt x="44548" y="6564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8" name="Text 46"/>
          <p:cNvSpPr/>
          <p:nvPr/>
        </p:nvSpPr>
        <p:spPr>
          <a:xfrm>
            <a:off x="6821658" y="1871822"/>
            <a:ext cx="1781908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图书管理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21658" y="2096905"/>
            <a:ext cx="1772529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新增、编辑、删除、封面上传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3978" y="2397016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09006" y="2472044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4655" y="2547071"/>
            <a:ext cx="168812" cy="150055"/>
          </a:xfrm>
          <a:custGeom>
            <a:avLst/>
            <a:gdLst/>
            <a:ahLst/>
            <a:cxnLst/>
            <a:rect l="l" t="t" r="r" b="b"/>
            <a:pathLst>
              <a:path w="168812" h="150055">
                <a:moveTo>
                  <a:pt x="14068" y="7034"/>
                </a:moveTo>
                <a:cubicBezTo>
                  <a:pt x="14068" y="3136"/>
                  <a:pt x="10932" y="0"/>
                  <a:pt x="7034" y="0"/>
                </a:cubicBezTo>
                <a:cubicBezTo>
                  <a:pt x="3136" y="0"/>
                  <a:pt x="0" y="3136"/>
                  <a:pt x="0" y="7034"/>
                </a:cubicBezTo>
                <a:lnTo>
                  <a:pt x="0" y="114886"/>
                </a:lnTo>
                <a:cubicBezTo>
                  <a:pt x="0" y="123942"/>
                  <a:pt x="7356" y="131298"/>
                  <a:pt x="16412" y="131298"/>
                </a:cubicBezTo>
                <a:lnTo>
                  <a:pt x="70338" y="131298"/>
                </a:lnTo>
                <a:lnTo>
                  <a:pt x="70338" y="117231"/>
                </a:lnTo>
                <a:lnTo>
                  <a:pt x="16412" y="117231"/>
                </a:lnTo>
                <a:cubicBezTo>
                  <a:pt x="15123" y="117231"/>
                  <a:pt x="14068" y="116176"/>
                  <a:pt x="14068" y="114886"/>
                </a:cubicBezTo>
                <a:lnTo>
                  <a:pt x="14068" y="46892"/>
                </a:lnTo>
                <a:lnTo>
                  <a:pt x="70338" y="46892"/>
                </a:lnTo>
                <a:lnTo>
                  <a:pt x="70338" y="32825"/>
                </a:lnTo>
                <a:lnTo>
                  <a:pt x="14068" y="32825"/>
                </a:lnTo>
                <a:lnTo>
                  <a:pt x="14068" y="7034"/>
                </a:lnTo>
                <a:close/>
                <a:moveTo>
                  <a:pt x="98474" y="65649"/>
                </a:moveTo>
                <a:lnTo>
                  <a:pt x="154745" y="65649"/>
                </a:lnTo>
                <a:cubicBezTo>
                  <a:pt x="162511" y="65649"/>
                  <a:pt x="168812" y="59348"/>
                  <a:pt x="168812" y="51582"/>
                </a:cubicBezTo>
                <a:lnTo>
                  <a:pt x="168812" y="23446"/>
                </a:lnTo>
                <a:cubicBezTo>
                  <a:pt x="168812" y="15680"/>
                  <a:pt x="162511" y="9378"/>
                  <a:pt x="154745" y="9378"/>
                </a:cubicBezTo>
                <a:lnTo>
                  <a:pt x="130507" y="9378"/>
                </a:lnTo>
                <a:cubicBezTo>
                  <a:pt x="128016" y="9378"/>
                  <a:pt x="125642" y="8382"/>
                  <a:pt x="123884" y="6624"/>
                </a:cubicBezTo>
                <a:lnTo>
                  <a:pt x="121363" y="4103"/>
                </a:lnTo>
                <a:cubicBezTo>
                  <a:pt x="118725" y="1465"/>
                  <a:pt x="115150" y="-29"/>
                  <a:pt x="111428" y="-29"/>
                </a:cubicBezTo>
                <a:lnTo>
                  <a:pt x="98474" y="0"/>
                </a:lnTo>
                <a:cubicBezTo>
                  <a:pt x="90707" y="0"/>
                  <a:pt x="84406" y="6301"/>
                  <a:pt x="84406" y="14068"/>
                </a:cubicBezTo>
                <a:lnTo>
                  <a:pt x="84406" y="51582"/>
                </a:lnTo>
                <a:cubicBezTo>
                  <a:pt x="84406" y="59348"/>
                  <a:pt x="90707" y="65649"/>
                  <a:pt x="98474" y="65649"/>
                </a:cubicBezTo>
                <a:close/>
                <a:moveTo>
                  <a:pt x="98474" y="150055"/>
                </a:moveTo>
                <a:lnTo>
                  <a:pt x="154745" y="150055"/>
                </a:lnTo>
                <a:cubicBezTo>
                  <a:pt x="162511" y="150055"/>
                  <a:pt x="168812" y="143754"/>
                  <a:pt x="168812" y="135988"/>
                </a:cubicBezTo>
                <a:lnTo>
                  <a:pt x="168812" y="107852"/>
                </a:lnTo>
                <a:cubicBezTo>
                  <a:pt x="168812" y="100086"/>
                  <a:pt x="162511" y="93785"/>
                  <a:pt x="154745" y="93785"/>
                </a:cubicBezTo>
                <a:lnTo>
                  <a:pt x="130507" y="93785"/>
                </a:lnTo>
                <a:cubicBezTo>
                  <a:pt x="128016" y="93785"/>
                  <a:pt x="125642" y="92788"/>
                  <a:pt x="123884" y="91030"/>
                </a:cubicBezTo>
                <a:lnTo>
                  <a:pt x="121363" y="88509"/>
                </a:lnTo>
                <a:cubicBezTo>
                  <a:pt x="118725" y="85872"/>
                  <a:pt x="115150" y="84377"/>
                  <a:pt x="111428" y="84377"/>
                </a:cubicBezTo>
                <a:lnTo>
                  <a:pt x="98474" y="84406"/>
                </a:lnTo>
                <a:cubicBezTo>
                  <a:pt x="90707" y="84406"/>
                  <a:pt x="84406" y="90707"/>
                  <a:pt x="84406" y="98474"/>
                </a:cubicBezTo>
                <a:lnTo>
                  <a:pt x="84406" y="135988"/>
                </a:lnTo>
                <a:cubicBezTo>
                  <a:pt x="84406" y="143754"/>
                  <a:pt x="90707" y="150055"/>
                  <a:pt x="98474" y="15005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3" name="Text 51"/>
          <p:cNvSpPr/>
          <p:nvPr/>
        </p:nvSpPr>
        <p:spPr>
          <a:xfrm>
            <a:off x="6821658" y="2472044"/>
            <a:ext cx="99411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分类管理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21658" y="2697127"/>
            <a:ext cx="98473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分类树结构管理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33978" y="2997238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09006" y="3072265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65277" y="3147293"/>
            <a:ext cx="187569" cy="150055"/>
          </a:xfrm>
          <a:custGeom>
            <a:avLst/>
            <a:gdLst/>
            <a:ahLst/>
            <a:cxnLst/>
            <a:rect l="l" t="t" r="r" b="b"/>
            <a:pathLst>
              <a:path w="187569" h="150055">
                <a:moveTo>
                  <a:pt x="93785" y="65649"/>
                </a:moveTo>
                <a:cubicBezTo>
                  <a:pt x="110607" y="65649"/>
                  <a:pt x="124265" y="51992"/>
                  <a:pt x="124265" y="35169"/>
                </a:cubicBezTo>
                <a:cubicBezTo>
                  <a:pt x="124265" y="18347"/>
                  <a:pt x="110607" y="4689"/>
                  <a:pt x="93785" y="4689"/>
                </a:cubicBezTo>
                <a:cubicBezTo>
                  <a:pt x="76962" y="4689"/>
                  <a:pt x="63305" y="18347"/>
                  <a:pt x="63305" y="35169"/>
                </a:cubicBezTo>
                <a:cubicBezTo>
                  <a:pt x="63305" y="51992"/>
                  <a:pt x="76962" y="65649"/>
                  <a:pt x="93785" y="65649"/>
                </a:cubicBezTo>
                <a:close/>
                <a:moveTo>
                  <a:pt x="28135" y="67994"/>
                </a:moveTo>
                <a:cubicBezTo>
                  <a:pt x="39782" y="67994"/>
                  <a:pt x="49237" y="58539"/>
                  <a:pt x="49237" y="46892"/>
                </a:cubicBezTo>
                <a:cubicBezTo>
                  <a:pt x="49237" y="35246"/>
                  <a:pt x="39782" y="25791"/>
                  <a:pt x="28135" y="25791"/>
                </a:cubicBezTo>
                <a:cubicBezTo>
                  <a:pt x="16489" y="25791"/>
                  <a:pt x="7034" y="35246"/>
                  <a:pt x="7034" y="46892"/>
                </a:cubicBezTo>
                <a:cubicBezTo>
                  <a:pt x="7034" y="58539"/>
                  <a:pt x="16489" y="67994"/>
                  <a:pt x="28135" y="67994"/>
                </a:cubicBezTo>
                <a:close/>
                <a:moveTo>
                  <a:pt x="0" y="121920"/>
                </a:moveTo>
                <a:lnTo>
                  <a:pt x="0" y="131298"/>
                </a:lnTo>
                <a:cubicBezTo>
                  <a:pt x="0" y="136486"/>
                  <a:pt x="4191" y="140677"/>
                  <a:pt x="9378" y="140677"/>
                </a:cubicBezTo>
                <a:lnTo>
                  <a:pt x="34788" y="140677"/>
                </a:lnTo>
                <a:cubicBezTo>
                  <a:pt x="33528" y="137805"/>
                  <a:pt x="32825" y="134640"/>
                  <a:pt x="32825" y="131298"/>
                </a:cubicBezTo>
                <a:lnTo>
                  <a:pt x="32825" y="126609"/>
                </a:lnTo>
                <a:cubicBezTo>
                  <a:pt x="32825" y="111018"/>
                  <a:pt x="38686" y="96774"/>
                  <a:pt x="48328" y="85989"/>
                </a:cubicBezTo>
                <a:cubicBezTo>
                  <a:pt x="44899" y="84963"/>
                  <a:pt x="41265" y="84406"/>
                  <a:pt x="37514" y="84406"/>
                </a:cubicBezTo>
                <a:cubicBezTo>
                  <a:pt x="16793" y="84406"/>
                  <a:pt x="0" y="101199"/>
                  <a:pt x="0" y="121920"/>
                </a:cubicBezTo>
                <a:close/>
                <a:moveTo>
                  <a:pt x="180535" y="46892"/>
                </a:moveTo>
                <a:cubicBezTo>
                  <a:pt x="180535" y="35246"/>
                  <a:pt x="171080" y="25791"/>
                  <a:pt x="159434" y="25791"/>
                </a:cubicBezTo>
                <a:cubicBezTo>
                  <a:pt x="147788" y="25791"/>
                  <a:pt x="138332" y="35246"/>
                  <a:pt x="138332" y="46892"/>
                </a:cubicBezTo>
                <a:cubicBezTo>
                  <a:pt x="138332" y="58539"/>
                  <a:pt x="147788" y="67994"/>
                  <a:pt x="159434" y="67994"/>
                </a:cubicBezTo>
                <a:cubicBezTo>
                  <a:pt x="171080" y="67994"/>
                  <a:pt x="180535" y="58539"/>
                  <a:pt x="180535" y="46892"/>
                </a:cubicBezTo>
                <a:close/>
                <a:moveTo>
                  <a:pt x="46892" y="126609"/>
                </a:moveTo>
                <a:lnTo>
                  <a:pt x="46892" y="131298"/>
                </a:lnTo>
                <a:cubicBezTo>
                  <a:pt x="46892" y="136486"/>
                  <a:pt x="51083" y="140677"/>
                  <a:pt x="56271" y="140677"/>
                </a:cubicBezTo>
                <a:lnTo>
                  <a:pt x="102225" y="140677"/>
                </a:lnTo>
                <a:cubicBezTo>
                  <a:pt x="100144" y="134346"/>
                  <a:pt x="100379" y="127664"/>
                  <a:pt x="105361" y="121920"/>
                </a:cubicBezTo>
                <a:cubicBezTo>
                  <a:pt x="101258" y="117172"/>
                  <a:pt x="99353" y="110285"/>
                  <a:pt x="102020" y="103368"/>
                </a:cubicBezTo>
                <a:cubicBezTo>
                  <a:pt x="103954" y="98357"/>
                  <a:pt x="106680" y="93667"/>
                  <a:pt x="110050" y="89506"/>
                </a:cubicBezTo>
                <a:cubicBezTo>
                  <a:pt x="111633" y="87571"/>
                  <a:pt x="113450" y="86077"/>
                  <a:pt x="115414" y="84992"/>
                </a:cubicBezTo>
                <a:cubicBezTo>
                  <a:pt x="108937" y="81622"/>
                  <a:pt x="101580" y="79717"/>
                  <a:pt x="93785" y="79717"/>
                </a:cubicBezTo>
                <a:cubicBezTo>
                  <a:pt x="67877" y="79717"/>
                  <a:pt x="46892" y="100701"/>
                  <a:pt x="46892" y="126609"/>
                </a:cubicBezTo>
                <a:close/>
                <a:moveTo>
                  <a:pt x="183056" y="113685"/>
                </a:moveTo>
                <a:cubicBezTo>
                  <a:pt x="184902" y="112629"/>
                  <a:pt x="185840" y="110431"/>
                  <a:pt x="185049" y="108409"/>
                </a:cubicBezTo>
                <a:cubicBezTo>
                  <a:pt x="183642" y="104775"/>
                  <a:pt x="181678" y="101346"/>
                  <a:pt x="179217" y="98327"/>
                </a:cubicBezTo>
                <a:cubicBezTo>
                  <a:pt x="177868" y="96657"/>
                  <a:pt x="175494" y="96364"/>
                  <a:pt x="173648" y="97448"/>
                </a:cubicBezTo>
                <a:cubicBezTo>
                  <a:pt x="167259" y="101141"/>
                  <a:pt x="159405" y="96627"/>
                  <a:pt x="159405" y="89213"/>
                </a:cubicBezTo>
                <a:cubicBezTo>
                  <a:pt x="159405" y="87073"/>
                  <a:pt x="157968" y="85168"/>
                  <a:pt x="155858" y="84846"/>
                </a:cubicBezTo>
                <a:cubicBezTo>
                  <a:pt x="152078" y="84260"/>
                  <a:pt x="148004" y="84260"/>
                  <a:pt x="144223" y="84846"/>
                </a:cubicBezTo>
                <a:cubicBezTo>
                  <a:pt x="142113" y="85168"/>
                  <a:pt x="140677" y="87073"/>
                  <a:pt x="140677" y="89213"/>
                </a:cubicBezTo>
                <a:cubicBezTo>
                  <a:pt x="140677" y="96598"/>
                  <a:pt x="132822" y="101141"/>
                  <a:pt x="126433" y="97448"/>
                </a:cubicBezTo>
                <a:cubicBezTo>
                  <a:pt x="124587" y="96393"/>
                  <a:pt x="122213" y="96686"/>
                  <a:pt x="120865" y="98327"/>
                </a:cubicBezTo>
                <a:cubicBezTo>
                  <a:pt x="118403" y="101346"/>
                  <a:pt x="116439" y="104775"/>
                  <a:pt x="115033" y="108409"/>
                </a:cubicBezTo>
                <a:cubicBezTo>
                  <a:pt x="114271" y="110402"/>
                  <a:pt x="115179" y="112600"/>
                  <a:pt x="117026" y="113655"/>
                </a:cubicBezTo>
                <a:cubicBezTo>
                  <a:pt x="123444" y="117348"/>
                  <a:pt x="123444" y="126404"/>
                  <a:pt x="117026" y="130126"/>
                </a:cubicBezTo>
                <a:cubicBezTo>
                  <a:pt x="115179" y="131181"/>
                  <a:pt x="114241" y="133379"/>
                  <a:pt x="115033" y="135372"/>
                </a:cubicBezTo>
                <a:cubicBezTo>
                  <a:pt x="116439" y="139006"/>
                  <a:pt x="118403" y="142435"/>
                  <a:pt x="120865" y="145454"/>
                </a:cubicBezTo>
                <a:cubicBezTo>
                  <a:pt x="122213" y="147125"/>
                  <a:pt x="124587" y="147418"/>
                  <a:pt x="126433" y="146333"/>
                </a:cubicBezTo>
                <a:cubicBezTo>
                  <a:pt x="132822" y="142641"/>
                  <a:pt x="140677" y="147183"/>
                  <a:pt x="140677" y="154569"/>
                </a:cubicBezTo>
                <a:cubicBezTo>
                  <a:pt x="140677" y="156708"/>
                  <a:pt x="142113" y="158613"/>
                  <a:pt x="144223" y="158936"/>
                </a:cubicBezTo>
                <a:cubicBezTo>
                  <a:pt x="148004" y="159522"/>
                  <a:pt x="152078" y="159522"/>
                  <a:pt x="155858" y="158936"/>
                </a:cubicBezTo>
                <a:cubicBezTo>
                  <a:pt x="157968" y="158613"/>
                  <a:pt x="159405" y="156708"/>
                  <a:pt x="159405" y="154569"/>
                </a:cubicBezTo>
                <a:cubicBezTo>
                  <a:pt x="159405" y="147183"/>
                  <a:pt x="167259" y="142641"/>
                  <a:pt x="173648" y="146333"/>
                </a:cubicBezTo>
                <a:cubicBezTo>
                  <a:pt x="175494" y="147388"/>
                  <a:pt x="177868" y="147095"/>
                  <a:pt x="179217" y="145454"/>
                </a:cubicBezTo>
                <a:cubicBezTo>
                  <a:pt x="181678" y="142435"/>
                  <a:pt x="183642" y="139006"/>
                  <a:pt x="185049" y="135372"/>
                </a:cubicBezTo>
                <a:cubicBezTo>
                  <a:pt x="185811" y="133379"/>
                  <a:pt x="184902" y="131181"/>
                  <a:pt x="183056" y="130126"/>
                </a:cubicBezTo>
                <a:cubicBezTo>
                  <a:pt x="176637" y="126433"/>
                  <a:pt x="176637" y="117377"/>
                  <a:pt x="183056" y="113655"/>
                </a:cubicBezTo>
                <a:close/>
                <a:moveTo>
                  <a:pt x="138332" y="121920"/>
                </a:moveTo>
                <a:cubicBezTo>
                  <a:pt x="138332" y="115450"/>
                  <a:pt x="143585" y="110197"/>
                  <a:pt x="150055" y="110197"/>
                </a:cubicBezTo>
                <a:cubicBezTo>
                  <a:pt x="156526" y="110197"/>
                  <a:pt x="161778" y="115450"/>
                  <a:pt x="161778" y="121920"/>
                </a:cubicBezTo>
                <a:cubicBezTo>
                  <a:pt x="161778" y="128390"/>
                  <a:pt x="156526" y="133643"/>
                  <a:pt x="150055" y="133643"/>
                </a:cubicBezTo>
                <a:cubicBezTo>
                  <a:pt x="143585" y="133643"/>
                  <a:pt x="138332" y="128390"/>
                  <a:pt x="138332" y="12192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8" name="Text 56"/>
          <p:cNvSpPr/>
          <p:nvPr/>
        </p:nvSpPr>
        <p:spPr>
          <a:xfrm>
            <a:off x="6821658" y="3072265"/>
            <a:ext cx="138801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21658" y="3297348"/>
            <a:ext cx="1378634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用户审核、启用、禁用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33978" y="3597459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09006" y="3672487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6502791" y="3747515"/>
            <a:ext cx="112542" cy="150055"/>
          </a:xfrm>
          <a:custGeom>
            <a:avLst/>
            <a:gdLst/>
            <a:ahLst/>
            <a:cxnLst/>
            <a:rect l="l" t="t" r="r" b="b"/>
            <a:pathLst>
              <a:path w="112542" h="150055">
                <a:moveTo>
                  <a:pt x="91264" y="9378"/>
                </a:moveTo>
                <a:lnTo>
                  <a:pt x="93785" y="9378"/>
                </a:lnTo>
                <a:cubicBezTo>
                  <a:pt x="104130" y="9378"/>
                  <a:pt x="112542" y="17790"/>
                  <a:pt x="112542" y="28135"/>
                </a:cubicBezTo>
                <a:lnTo>
                  <a:pt x="112542" y="131298"/>
                </a:lnTo>
                <a:cubicBezTo>
                  <a:pt x="112542" y="141644"/>
                  <a:pt x="104130" y="150055"/>
                  <a:pt x="93785" y="150055"/>
                </a:cubicBezTo>
                <a:lnTo>
                  <a:pt x="18757" y="150055"/>
                </a:lnTo>
                <a:cubicBezTo>
                  <a:pt x="8411" y="150055"/>
                  <a:pt x="0" y="141644"/>
                  <a:pt x="0" y="131298"/>
                </a:cubicBezTo>
                <a:lnTo>
                  <a:pt x="0" y="28135"/>
                </a:lnTo>
                <a:cubicBezTo>
                  <a:pt x="0" y="17790"/>
                  <a:pt x="8411" y="9378"/>
                  <a:pt x="18757" y="9378"/>
                </a:cubicBezTo>
                <a:lnTo>
                  <a:pt x="21277" y="9378"/>
                </a:lnTo>
                <a:cubicBezTo>
                  <a:pt x="24501" y="3781"/>
                  <a:pt x="30568" y="0"/>
                  <a:pt x="37514" y="0"/>
                </a:cubicBezTo>
                <a:lnTo>
                  <a:pt x="75028" y="0"/>
                </a:lnTo>
                <a:cubicBezTo>
                  <a:pt x="81974" y="0"/>
                  <a:pt x="88040" y="3781"/>
                  <a:pt x="91264" y="9378"/>
                </a:cubicBezTo>
                <a:close/>
                <a:moveTo>
                  <a:pt x="72683" y="32825"/>
                </a:moveTo>
                <a:cubicBezTo>
                  <a:pt x="76581" y="32825"/>
                  <a:pt x="79717" y="29689"/>
                  <a:pt x="79717" y="25791"/>
                </a:cubicBezTo>
                <a:cubicBezTo>
                  <a:pt x="79717" y="21893"/>
                  <a:pt x="76581" y="18757"/>
                  <a:pt x="72683" y="18757"/>
                </a:cubicBezTo>
                <a:lnTo>
                  <a:pt x="39858" y="18757"/>
                </a:lnTo>
                <a:cubicBezTo>
                  <a:pt x="35961" y="18757"/>
                  <a:pt x="32825" y="21893"/>
                  <a:pt x="32825" y="25791"/>
                </a:cubicBezTo>
                <a:cubicBezTo>
                  <a:pt x="32825" y="29689"/>
                  <a:pt x="35961" y="32825"/>
                  <a:pt x="39858" y="32825"/>
                </a:cubicBezTo>
                <a:lnTo>
                  <a:pt x="72683" y="32825"/>
                </a:lnTo>
                <a:close/>
                <a:moveTo>
                  <a:pt x="37514" y="75028"/>
                </a:moveTo>
                <a:cubicBezTo>
                  <a:pt x="37514" y="69852"/>
                  <a:pt x="33311" y="65649"/>
                  <a:pt x="28135" y="65649"/>
                </a:cubicBezTo>
                <a:cubicBezTo>
                  <a:pt x="22959" y="65649"/>
                  <a:pt x="18757" y="69852"/>
                  <a:pt x="18757" y="75028"/>
                </a:cubicBezTo>
                <a:cubicBezTo>
                  <a:pt x="18757" y="80204"/>
                  <a:pt x="22959" y="84406"/>
                  <a:pt x="28135" y="84406"/>
                </a:cubicBezTo>
                <a:cubicBezTo>
                  <a:pt x="33311" y="84406"/>
                  <a:pt x="37514" y="80204"/>
                  <a:pt x="37514" y="75028"/>
                </a:cubicBezTo>
                <a:close/>
                <a:moveTo>
                  <a:pt x="46892" y="75028"/>
                </a:moveTo>
                <a:cubicBezTo>
                  <a:pt x="46892" y="78926"/>
                  <a:pt x="50028" y="82062"/>
                  <a:pt x="53926" y="82062"/>
                </a:cubicBezTo>
                <a:lnTo>
                  <a:pt x="86751" y="82062"/>
                </a:lnTo>
                <a:cubicBezTo>
                  <a:pt x="90649" y="82062"/>
                  <a:pt x="93785" y="78926"/>
                  <a:pt x="93785" y="75028"/>
                </a:cubicBezTo>
                <a:cubicBezTo>
                  <a:pt x="93785" y="71130"/>
                  <a:pt x="90649" y="67994"/>
                  <a:pt x="86751" y="67994"/>
                </a:cubicBezTo>
                <a:lnTo>
                  <a:pt x="53926" y="67994"/>
                </a:lnTo>
                <a:cubicBezTo>
                  <a:pt x="50028" y="67994"/>
                  <a:pt x="46892" y="71130"/>
                  <a:pt x="46892" y="75028"/>
                </a:cubicBezTo>
                <a:close/>
                <a:moveTo>
                  <a:pt x="46892" y="112542"/>
                </a:moveTo>
                <a:cubicBezTo>
                  <a:pt x="46892" y="116439"/>
                  <a:pt x="50028" y="119575"/>
                  <a:pt x="53926" y="119575"/>
                </a:cubicBezTo>
                <a:lnTo>
                  <a:pt x="86751" y="119575"/>
                </a:lnTo>
                <a:cubicBezTo>
                  <a:pt x="90649" y="119575"/>
                  <a:pt x="93785" y="116439"/>
                  <a:pt x="93785" y="112542"/>
                </a:cubicBezTo>
                <a:cubicBezTo>
                  <a:pt x="93785" y="108644"/>
                  <a:pt x="90649" y="105508"/>
                  <a:pt x="86751" y="105508"/>
                </a:cubicBezTo>
                <a:lnTo>
                  <a:pt x="53926" y="105508"/>
                </a:lnTo>
                <a:cubicBezTo>
                  <a:pt x="50028" y="105508"/>
                  <a:pt x="46892" y="108644"/>
                  <a:pt x="46892" y="112542"/>
                </a:cubicBezTo>
                <a:close/>
                <a:moveTo>
                  <a:pt x="28135" y="121920"/>
                </a:moveTo>
                <a:cubicBezTo>
                  <a:pt x="33311" y="121920"/>
                  <a:pt x="37514" y="117718"/>
                  <a:pt x="37514" y="112542"/>
                </a:cubicBezTo>
                <a:cubicBezTo>
                  <a:pt x="37514" y="107365"/>
                  <a:pt x="33311" y="103163"/>
                  <a:pt x="28135" y="103163"/>
                </a:cubicBezTo>
                <a:cubicBezTo>
                  <a:pt x="22959" y="103163"/>
                  <a:pt x="18757" y="107365"/>
                  <a:pt x="18757" y="112542"/>
                </a:cubicBezTo>
                <a:cubicBezTo>
                  <a:pt x="18757" y="117718"/>
                  <a:pt x="22959" y="121920"/>
                  <a:pt x="28135" y="12192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3" name="Text 61"/>
          <p:cNvSpPr/>
          <p:nvPr/>
        </p:nvSpPr>
        <p:spPr>
          <a:xfrm>
            <a:off x="6821658" y="3672487"/>
            <a:ext cx="157558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借阅管理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21658" y="3897570"/>
            <a:ext cx="156620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借阅记录管理与Excel导出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33978" y="4197681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09006" y="4272708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484034" y="4347736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135167" y="5539"/>
                </a:moveTo>
                <a:cubicBezTo>
                  <a:pt x="138537" y="7034"/>
                  <a:pt x="140677" y="10375"/>
                  <a:pt x="140677" y="14068"/>
                </a:cubicBezTo>
                <a:lnTo>
                  <a:pt x="140677" y="135988"/>
                </a:lnTo>
                <a:cubicBezTo>
                  <a:pt x="140677" y="139680"/>
                  <a:pt x="138537" y="143022"/>
                  <a:pt x="135167" y="144516"/>
                </a:cubicBezTo>
                <a:cubicBezTo>
                  <a:pt x="131797" y="146011"/>
                  <a:pt x="127899" y="145454"/>
                  <a:pt x="125115" y="143022"/>
                </a:cubicBezTo>
                <a:lnTo>
                  <a:pt x="111457" y="131093"/>
                </a:lnTo>
                <a:cubicBezTo>
                  <a:pt x="98679" y="119927"/>
                  <a:pt x="82530" y="113421"/>
                  <a:pt x="65620" y="112629"/>
                </a:cubicBezTo>
                <a:lnTo>
                  <a:pt x="65620" y="140677"/>
                </a:lnTo>
                <a:cubicBezTo>
                  <a:pt x="65620" y="145864"/>
                  <a:pt x="61429" y="150055"/>
                  <a:pt x="56241" y="150055"/>
                </a:cubicBezTo>
                <a:lnTo>
                  <a:pt x="46863" y="150055"/>
                </a:lnTo>
                <a:cubicBezTo>
                  <a:pt x="41676" y="150055"/>
                  <a:pt x="37485" y="145864"/>
                  <a:pt x="37485" y="140677"/>
                </a:cubicBezTo>
                <a:lnTo>
                  <a:pt x="37485" y="112542"/>
                </a:lnTo>
                <a:cubicBezTo>
                  <a:pt x="16793" y="112542"/>
                  <a:pt x="0" y="95748"/>
                  <a:pt x="0" y="75028"/>
                </a:cubicBezTo>
                <a:cubicBezTo>
                  <a:pt x="0" y="54307"/>
                  <a:pt x="16793" y="37514"/>
                  <a:pt x="37514" y="37514"/>
                </a:cubicBezTo>
                <a:lnTo>
                  <a:pt x="62279" y="37514"/>
                </a:lnTo>
                <a:cubicBezTo>
                  <a:pt x="80391" y="37455"/>
                  <a:pt x="97858" y="30861"/>
                  <a:pt x="111486" y="18962"/>
                </a:cubicBezTo>
                <a:lnTo>
                  <a:pt x="125144" y="7034"/>
                </a:lnTo>
                <a:cubicBezTo>
                  <a:pt x="127899" y="4601"/>
                  <a:pt x="131855" y="4044"/>
                  <a:pt x="135196" y="5539"/>
                </a:cubicBezTo>
                <a:close/>
                <a:moveTo>
                  <a:pt x="65649" y="93785"/>
                </a:moveTo>
                <a:lnTo>
                  <a:pt x="65649" y="93843"/>
                </a:lnTo>
                <a:cubicBezTo>
                  <a:pt x="86253" y="94635"/>
                  <a:pt x="106035" y="102196"/>
                  <a:pt x="121920" y="115355"/>
                </a:cubicBezTo>
                <a:lnTo>
                  <a:pt x="121920" y="34671"/>
                </a:lnTo>
                <a:cubicBezTo>
                  <a:pt x="106035" y="47830"/>
                  <a:pt x="86253" y="55392"/>
                  <a:pt x="65649" y="56183"/>
                </a:cubicBezTo>
                <a:lnTo>
                  <a:pt x="65649" y="9378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8" name="Text 66"/>
          <p:cNvSpPr/>
          <p:nvPr/>
        </p:nvSpPr>
        <p:spPr>
          <a:xfrm>
            <a:off x="6821658" y="4272708"/>
            <a:ext cx="99411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公告管理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821658" y="4497791"/>
            <a:ext cx="984738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公告发布与置顶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33978" y="4797902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409006" y="4872930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6484034" y="4947958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0" y="122975"/>
                </a:moveTo>
                <a:lnTo>
                  <a:pt x="0" y="32092"/>
                </a:lnTo>
                <a:cubicBezTo>
                  <a:pt x="0" y="25293"/>
                  <a:pt x="7063" y="20779"/>
                  <a:pt x="13569" y="22713"/>
                </a:cubicBezTo>
                <a:cubicBezTo>
                  <a:pt x="39272" y="30392"/>
                  <a:pt x="57443" y="24325"/>
                  <a:pt x="75731" y="18229"/>
                </a:cubicBezTo>
                <a:cubicBezTo>
                  <a:pt x="94635" y="11928"/>
                  <a:pt x="113655" y="5598"/>
                  <a:pt x="141175" y="14390"/>
                </a:cubicBezTo>
                <a:cubicBezTo>
                  <a:pt x="146597" y="16119"/>
                  <a:pt x="150055" y="21365"/>
                  <a:pt x="150055" y="27080"/>
                </a:cubicBezTo>
                <a:lnTo>
                  <a:pt x="150055" y="117963"/>
                </a:lnTo>
                <a:cubicBezTo>
                  <a:pt x="150055" y="124763"/>
                  <a:pt x="142992" y="129276"/>
                  <a:pt x="136515" y="127342"/>
                </a:cubicBezTo>
                <a:cubicBezTo>
                  <a:pt x="110812" y="119663"/>
                  <a:pt x="92612" y="125730"/>
                  <a:pt x="74354" y="131826"/>
                </a:cubicBezTo>
                <a:cubicBezTo>
                  <a:pt x="55450" y="138127"/>
                  <a:pt x="36429" y="144458"/>
                  <a:pt x="8910" y="135665"/>
                </a:cubicBezTo>
                <a:cubicBezTo>
                  <a:pt x="3488" y="133936"/>
                  <a:pt x="29" y="128690"/>
                  <a:pt x="29" y="122975"/>
                </a:cubicBezTo>
                <a:close/>
                <a:moveTo>
                  <a:pt x="98474" y="75028"/>
                </a:moveTo>
                <a:cubicBezTo>
                  <a:pt x="98474" y="59495"/>
                  <a:pt x="87982" y="46892"/>
                  <a:pt x="75028" y="46892"/>
                </a:cubicBezTo>
                <a:cubicBezTo>
                  <a:pt x="62074" y="46892"/>
                  <a:pt x="51582" y="59495"/>
                  <a:pt x="51582" y="75028"/>
                </a:cubicBezTo>
                <a:cubicBezTo>
                  <a:pt x="51582" y="90561"/>
                  <a:pt x="62074" y="103163"/>
                  <a:pt x="75028" y="103163"/>
                </a:cubicBezTo>
                <a:cubicBezTo>
                  <a:pt x="87982" y="103163"/>
                  <a:pt x="98474" y="90561"/>
                  <a:pt x="98474" y="75028"/>
                </a:cubicBezTo>
                <a:close/>
                <a:moveTo>
                  <a:pt x="35169" y="121217"/>
                </a:moveTo>
                <a:cubicBezTo>
                  <a:pt x="36459" y="121217"/>
                  <a:pt x="37485" y="120103"/>
                  <a:pt x="37279" y="118843"/>
                </a:cubicBezTo>
                <a:cubicBezTo>
                  <a:pt x="35931" y="110695"/>
                  <a:pt x="29366" y="104335"/>
                  <a:pt x="21102" y="103310"/>
                </a:cubicBezTo>
                <a:cubicBezTo>
                  <a:pt x="19812" y="103163"/>
                  <a:pt x="18757" y="104218"/>
                  <a:pt x="18757" y="105508"/>
                </a:cubicBezTo>
                <a:lnTo>
                  <a:pt x="18757" y="117201"/>
                </a:lnTo>
                <a:cubicBezTo>
                  <a:pt x="18757" y="118257"/>
                  <a:pt x="19460" y="119194"/>
                  <a:pt x="20515" y="119458"/>
                </a:cubicBezTo>
                <a:cubicBezTo>
                  <a:pt x="25761" y="120689"/>
                  <a:pt x="30568" y="121246"/>
                  <a:pt x="35169" y="121246"/>
                </a:cubicBezTo>
                <a:close/>
                <a:moveTo>
                  <a:pt x="128514" y="106240"/>
                </a:moveTo>
                <a:cubicBezTo>
                  <a:pt x="129980" y="106475"/>
                  <a:pt x="131298" y="105361"/>
                  <a:pt x="131298" y="103896"/>
                </a:cubicBezTo>
                <a:lnTo>
                  <a:pt x="131298" y="91411"/>
                </a:lnTo>
                <a:cubicBezTo>
                  <a:pt x="131298" y="90121"/>
                  <a:pt x="130243" y="89037"/>
                  <a:pt x="128954" y="89213"/>
                </a:cubicBezTo>
                <a:cubicBezTo>
                  <a:pt x="121568" y="90121"/>
                  <a:pt x="115502" y="95338"/>
                  <a:pt x="113362" y="102284"/>
                </a:cubicBezTo>
                <a:cubicBezTo>
                  <a:pt x="112952" y="103661"/>
                  <a:pt x="114036" y="104951"/>
                  <a:pt x="115472" y="104980"/>
                </a:cubicBezTo>
                <a:cubicBezTo>
                  <a:pt x="119634" y="105097"/>
                  <a:pt x="123972" y="105478"/>
                  <a:pt x="128485" y="106240"/>
                </a:cubicBezTo>
                <a:close/>
                <a:moveTo>
                  <a:pt x="131298" y="44548"/>
                </a:moveTo>
                <a:lnTo>
                  <a:pt x="131298" y="32854"/>
                </a:lnTo>
                <a:cubicBezTo>
                  <a:pt x="131298" y="31799"/>
                  <a:pt x="130566" y="30861"/>
                  <a:pt x="129540" y="30597"/>
                </a:cubicBezTo>
                <a:cubicBezTo>
                  <a:pt x="124294" y="29366"/>
                  <a:pt x="119487" y="28809"/>
                  <a:pt x="114886" y="28809"/>
                </a:cubicBezTo>
                <a:cubicBezTo>
                  <a:pt x="113597" y="28809"/>
                  <a:pt x="112571" y="29923"/>
                  <a:pt x="112776" y="31183"/>
                </a:cubicBezTo>
                <a:cubicBezTo>
                  <a:pt x="114124" y="39331"/>
                  <a:pt x="120689" y="45691"/>
                  <a:pt x="128954" y="46716"/>
                </a:cubicBezTo>
                <a:cubicBezTo>
                  <a:pt x="130243" y="46863"/>
                  <a:pt x="131298" y="45808"/>
                  <a:pt x="131298" y="44518"/>
                </a:cubicBezTo>
                <a:close/>
                <a:moveTo>
                  <a:pt x="36693" y="47742"/>
                </a:moveTo>
                <a:cubicBezTo>
                  <a:pt x="37104" y="46365"/>
                  <a:pt x="36019" y="45075"/>
                  <a:pt x="34583" y="45046"/>
                </a:cubicBezTo>
                <a:cubicBezTo>
                  <a:pt x="30421" y="44929"/>
                  <a:pt x="26084" y="44548"/>
                  <a:pt x="21570" y="43786"/>
                </a:cubicBezTo>
                <a:cubicBezTo>
                  <a:pt x="20105" y="43551"/>
                  <a:pt x="18786" y="44665"/>
                  <a:pt x="18786" y="46130"/>
                </a:cubicBezTo>
                <a:lnTo>
                  <a:pt x="18757" y="58615"/>
                </a:lnTo>
                <a:cubicBezTo>
                  <a:pt x="18757" y="59905"/>
                  <a:pt x="19812" y="60989"/>
                  <a:pt x="21102" y="60813"/>
                </a:cubicBezTo>
                <a:cubicBezTo>
                  <a:pt x="28487" y="59905"/>
                  <a:pt x="34554" y="54688"/>
                  <a:pt x="36693" y="47742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3" name="Text 71"/>
          <p:cNvSpPr/>
          <p:nvPr/>
        </p:nvSpPr>
        <p:spPr>
          <a:xfrm>
            <a:off x="6821658" y="4872930"/>
            <a:ext cx="125671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罚款管理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821658" y="5098013"/>
            <a:ext cx="1247335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罚款规则配置与处理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6333978" y="5398124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409006" y="5473151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6484034" y="5548179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18757" y="18757"/>
                </a:moveTo>
                <a:cubicBezTo>
                  <a:pt x="18757" y="13569"/>
                  <a:pt x="14566" y="9378"/>
                  <a:pt x="9378" y="9378"/>
                </a:cubicBezTo>
                <a:cubicBezTo>
                  <a:pt x="4191" y="9378"/>
                  <a:pt x="0" y="13569"/>
                  <a:pt x="0" y="18757"/>
                </a:cubicBezTo>
                <a:lnTo>
                  <a:pt x="0" y="117231"/>
                </a:lnTo>
                <a:cubicBezTo>
                  <a:pt x="0" y="130185"/>
                  <a:pt x="10492" y="140677"/>
                  <a:pt x="23446" y="140677"/>
                </a:cubicBezTo>
                <a:lnTo>
                  <a:pt x="140677" y="140677"/>
                </a:lnTo>
                <a:cubicBezTo>
                  <a:pt x="145864" y="140677"/>
                  <a:pt x="150055" y="136486"/>
                  <a:pt x="150055" y="131298"/>
                </a:cubicBezTo>
                <a:cubicBezTo>
                  <a:pt x="150055" y="126111"/>
                  <a:pt x="145864" y="121920"/>
                  <a:pt x="140677" y="121920"/>
                </a:cubicBezTo>
                <a:lnTo>
                  <a:pt x="23446" y="121920"/>
                </a:lnTo>
                <a:cubicBezTo>
                  <a:pt x="20867" y="121920"/>
                  <a:pt x="18757" y="119810"/>
                  <a:pt x="18757" y="117231"/>
                </a:cubicBezTo>
                <a:lnTo>
                  <a:pt x="18757" y="18757"/>
                </a:lnTo>
                <a:close/>
                <a:moveTo>
                  <a:pt x="137922" y="44137"/>
                </a:moveTo>
                <a:cubicBezTo>
                  <a:pt x="141585" y="40474"/>
                  <a:pt x="141585" y="34524"/>
                  <a:pt x="137922" y="30861"/>
                </a:cubicBezTo>
                <a:cubicBezTo>
                  <a:pt x="134259" y="27198"/>
                  <a:pt x="128309" y="27198"/>
                  <a:pt x="124646" y="30861"/>
                </a:cubicBezTo>
                <a:lnTo>
                  <a:pt x="93785" y="61751"/>
                </a:lnTo>
                <a:lnTo>
                  <a:pt x="76962" y="44958"/>
                </a:lnTo>
                <a:cubicBezTo>
                  <a:pt x="73299" y="41295"/>
                  <a:pt x="67349" y="41295"/>
                  <a:pt x="63686" y="44958"/>
                </a:cubicBezTo>
                <a:lnTo>
                  <a:pt x="35550" y="73093"/>
                </a:lnTo>
                <a:cubicBezTo>
                  <a:pt x="31887" y="76757"/>
                  <a:pt x="31887" y="82706"/>
                  <a:pt x="35550" y="86370"/>
                </a:cubicBezTo>
                <a:cubicBezTo>
                  <a:pt x="39214" y="90033"/>
                  <a:pt x="45163" y="90033"/>
                  <a:pt x="48827" y="86370"/>
                </a:cubicBezTo>
                <a:lnTo>
                  <a:pt x="70338" y="64858"/>
                </a:lnTo>
                <a:lnTo>
                  <a:pt x="87161" y="81681"/>
                </a:lnTo>
                <a:cubicBezTo>
                  <a:pt x="90825" y="85344"/>
                  <a:pt x="96774" y="85344"/>
                  <a:pt x="100437" y="81681"/>
                </a:cubicBezTo>
                <a:lnTo>
                  <a:pt x="137951" y="44167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8" name="Text 76"/>
          <p:cNvSpPr/>
          <p:nvPr/>
        </p:nvSpPr>
        <p:spPr>
          <a:xfrm>
            <a:off x="6821658" y="5473151"/>
            <a:ext cx="1519311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统计分析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821658" y="5698235"/>
            <a:ext cx="150993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数据统计仪表盘与可视化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33978" y="5998345"/>
            <a:ext cx="5317588" cy="562708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blurRad="28135" dist="937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409006" y="6073373"/>
            <a:ext cx="300111" cy="300111"/>
          </a:xfrm>
          <a:prstGeom prst="roundRect">
            <a:avLst>
              <a:gd name="adj" fmla="val 25000"/>
            </a:avLst>
          </a:prstGeom>
          <a:solidFill>
            <a:srgbClr val="2C3E50">
              <a:alpha val="1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502791" y="6148401"/>
            <a:ext cx="112542" cy="150055"/>
          </a:xfrm>
          <a:custGeom>
            <a:avLst/>
            <a:gdLst/>
            <a:ahLst/>
            <a:cxnLst/>
            <a:rect l="l" t="t" r="r" b="b"/>
            <a:pathLst>
              <a:path w="112542" h="150055">
                <a:moveTo>
                  <a:pt x="91264" y="9378"/>
                </a:moveTo>
                <a:lnTo>
                  <a:pt x="93785" y="9378"/>
                </a:lnTo>
                <a:cubicBezTo>
                  <a:pt x="104130" y="9378"/>
                  <a:pt x="112542" y="17790"/>
                  <a:pt x="112542" y="28135"/>
                </a:cubicBezTo>
                <a:lnTo>
                  <a:pt x="112542" y="131298"/>
                </a:lnTo>
                <a:cubicBezTo>
                  <a:pt x="112542" y="141644"/>
                  <a:pt x="104130" y="150055"/>
                  <a:pt x="93785" y="150055"/>
                </a:cubicBezTo>
                <a:lnTo>
                  <a:pt x="18757" y="150055"/>
                </a:lnTo>
                <a:cubicBezTo>
                  <a:pt x="8411" y="150055"/>
                  <a:pt x="0" y="141644"/>
                  <a:pt x="0" y="131298"/>
                </a:cubicBezTo>
                <a:lnTo>
                  <a:pt x="0" y="28135"/>
                </a:lnTo>
                <a:cubicBezTo>
                  <a:pt x="0" y="17790"/>
                  <a:pt x="8411" y="9378"/>
                  <a:pt x="18757" y="9378"/>
                </a:cubicBezTo>
                <a:lnTo>
                  <a:pt x="21277" y="9378"/>
                </a:lnTo>
                <a:cubicBezTo>
                  <a:pt x="24501" y="3781"/>
                  <a:pt x="30568" y="0"/>
                  <a:pt x="37514" y="0"/>
                </a:cubicBezTo>
                <a:lnTo>
                  <a:pt x="75028" y="0"/>
                </a:lnTo>
                <a:cubicBezTo>
                  <a:pt x="81974" y="0"/>
                  <a:pt x="88040" y="3781"/>
                  <a:pt x="91264" y="9378"/>
                </a:cubicBezTo>
                <a:close/>
                <a:moveTo>
                  <a:pt x="72683" y="32825"/>
                </a:moveTo>
                <a:cubicBezTo>
                  <a:pt x="76581" y="32825"/>
                  <a:pt x="79717" y="29689"/>
                  <a:pt x="79717" y="25791"/>
                </a:cubicBezTo>
                <a:cubicBezTo>
                  <a:pt x="79717" y="21893"/>
                  <a:pt x="76581" y="18757"/>
                  <a:pt x="72683" y="18757"/>
                </a:cubicBezTo>
                <a:lnTo>
                  <a:pt x="39858" y="18757"/>
                </a:lnTo>
                <a:cubicBezTo>
                  <a:pt x="35961" y="18757"/>
                  <a:pt x="32825" y="21893"/>
                  <a:pt x="32825" y="25791"/>
                </a:cubicBezTo>
                <a:cubicBezTo>
                  <a:pt x="32825" y="29689"/>
                  <a:pt x="35961" y="32825"/>
                  <a:pt x="39858" y="32825"/>
                </a:cubicBezTo>
                <a:lnTo>
                  <a:pt x="72683" y="32825"/>
                </a:lnTo>
                <a:close/>
                <a:moveTo>
                  <a:pt x="81006" y="76405"/>
                </a:moveTo>
                <a:cubicBezTo>
                  <a:pt x="83058" y="73123"/>
                  <a:pt x="82062" y="68785"/>
                  <a:pt x="78779" y="66704"/>
                </a:cubicBezTo>
                <a:cubicBezTo>
                  <a:pt x="75497" y="64623"/>
                  <a:pt x="71159" y="65649"/>
                  <a:pt x="69078" y="68932"/>
                </a:cubicBezTo>
                <a:lnTo>
                  <a:pt x="51083" y="97741"/>
                </a:lnTo>
                <a:lnTo>
                  <a:pt x="43170" y="87190"/>
                </a:lnTo>
                <a:cubicBezTo>
                  <a:pt x="40826" y="84084"/>
                  <a:pt x="36429" y="83439"/>
                  <a:pt x="33323" y="85784"/>
                </a:cubicBezTo>
                <a:cubicBezTo>
                  <a:pt x="30216" y="88128"/>
                  <a:pt x="29571" y="92524"/>
                  <a:pt x="31916" y="95631"/>
                </a:cubicBezTo>
                <a:lnTo>
                  <a:pt x="45984" y="114388"/>
                </a:lnTo>
                <a:cubicBezTo>
                  <a:pt x="47361" y="116234"/>
                  <a:pt x="49589" y="117289"/>
                  <a:pt x="51904" y="117201"/>
                </a:cubicBezTo>
                <a:cubicBezTo>
                  <a:pt x="54219" y="117114"/>
                  <a:pt x="56329" y="115883"/>
                  <a:pt x="57560" y="113890"/>
                </a:cubicBezTo>
                <a:lnTo>
                  <a:pt x="81006" y="76376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3" name="Text 81"/>
          <p:cNvSpPr/>
          <p:nvPr/>
        </p:nvSpPr>
        <p:spPr>
          <a:xfrm>
            <a:off x="6821658" y="6073373"/>
            <a:ext cx="125671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日志管理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6821658" y="6298456"/>
            <a:ext cx="1247335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操作日志查看与审计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1885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数据库设计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181100"/>
            <a:ext cx="11430000" cy="321945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3400" y="1333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44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1371600"/>
            <a:ext cx="171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核心数据表关系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1020" y="1836420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2700000" scaled="1"/>
          </a:gradFill>
          <a:ln w="2032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12131" y="19202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591502" y="2148841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265" y="2339341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用户信息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41370" y="1836420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2C3E5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0575" y="19202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66688"/>
                </a:moveTo>
                <a:lnTo>
                  <a:pt x="166688" y="166688"/>
                </a:lnTo>
                <a:cubicBezTo>
                  <a:pt x="179822" y="166688"/>
                  <a:pt x="190500" y="156009"/>
                  <a:pt x="190500" y="142875"/>
                </a:cubicBezTo>
                <a:lnTo>
                  <a:pt x="190500" y="53578"/>
                </a:lnTo>
                <a:cubicBezTo>
                  <a:pt x="190500" y="40444"/>
                  <a:pt x="179822" y="29766"/>
                  <a:pt x="166688" y="29766"/>
                </a:cubicBezTo>
                <a:lnTo>
                  <a:pt x="111137" y="29766"/>
                </a:lnTo>
                <a:cubicBezTo>
                  <a:pt x="108570" y="29766"/>
                  <a:pt x="106040" y="28947"/>
                  <a:pt x="103994" y="27384"/>
                </a:cubicBezTo>
                <a:lnTo>
                  <a:pt x="89706" y="16669"/>
                </a:lnTo>
                <a:cubicBezTo>
                  <a:pt x="85576" y="13581"/>
                  <a:pt x="80553" y="11906"/>
                  <a:pt x="75419" y="11906"/>
                </a:cubicBezTo>
                <a:lnTo>
                  <a:pt x="23812" y="11906"/>
                </a:lnTo>
                <a:cubicBezTo>
                  <a:pt x="10678" y="11906"/>
                  <a:pt x="0" y="22585"/>
                  <a:pt x="0" y="35719"/>
                </a:cubicBezTo>
                <a:lnTo>
                  <a:pt x="0" y="142875"/>
                </a:lnTo>
                <a:cubicBezTo>
                  <a:pt x="0" y="156009"/>
                  <a:pt x="10678" y="166688"/>
                  <a:pt x="23812" y="16668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3391853" y="2148841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96615" y="2339341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图书分类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41720" y="1836420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2700000" scaled="1"/>
          </a:gradFill>
          <a:ln w="2032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2831" y="1920241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6192203" y="2148841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96965" y="2339341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图书信息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942070" y="1836420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2700000" scaled="1"/>
          </a:gradFill>
          <a:ln w="2032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9369" y="192024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4817" y="142875"/>
                </a:moveTo>
                <a:lnTo>
                  <a:pt x="40630" y="127062"/>
                </a:lnTo>
                <a:cubicBezTo>
                  <a:pt x="49560" y="118132"/>
                  <a:pt x="61689" y="113109"/>
                  <a:pt x="74302" y="113109"/>
                </a:cubicBezTo>
                <a:lnTo>
                  <a:pt x="130969" y="113109"/>
                </a:lnTo>
                <a:cubicBezTo>
                  <a:pt x="137554" y="113109"/>
                  <a:pt x="142875" y="118430"/>
                  <a:pt x="142875" y="125016"/>
                </a:cubicBezTo>
                <a:cubicBezTo>
                  <a:pt x="142875" y="131601"/>
                  <a:pt x="137554" y="136922"/>
                  <a:pt x="130969" y="136922"/>
                </a:cubicBezTo>
                <a:lnTo>
                  <a:pt x="104180" y="136922"/>
                </a:lnTo>
                <a:cubicBezTo>
                  <a:pt x="99231" y="136922"/>
                  <a:pt x="95250" y="140903"/>
                  <a:pt x="95250" y="145852"/>
                </a:cubicBezTo>
                <a:cubicBezTo>
                  <a:pt x="95250" y="150800"/>
                  <a:pt x="99231" y="154781"/>
                  <a:pt x="104180" y="154781"/>
                </a:cubicBezTo>
                <a:lnTo>
                  <a:pt x="146075" y="154781"/>
                </a:lnTo>
                <a:lnTo>
                  <a:pt x="190612" y="121965"/>
                </a:lnTo>
                <a:cubicBezTo>
                  <a:pt x="197234" y="117091"/>
                  <a:pt x="206536" y="118504"/>
                  <a:pt x="211410" y="125127"/>
                </a:cubicBezTo>
                <a:cubicBezTo>
                  <a:pt x="216284" y="131750"/>
                  <a:pt x="214871" y="141052"/>
                  <a:pt x="208248" y="145926"/>
                </a:cubicBezTo>
                <a:lnTo>
                  <a:pt x="161144" y="180640"/>
                </a:lnTo>
                <a:cubicBezTo>
                  <a:pt x="152437" y="187040"/>
                  <a:pt x="141945" y="190500"/>
                  <a:pt x="131118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lnTo>
                  <a:pt x="0" y="154781"/>
                </a:lnTo>
                <a:cubicBezTo>
                  <a:pt x="0" y="148196"/>
                  <a:pt x="5321" y="142875"/>
                  <a:pt x="11906" y="142875"/>
                </a:cubicBezTo>
                <a:lnTo>
                  <a:pt x="24817" y="142875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3" name="Text 21"/>
          <p:cNvSpPr/>
          <p:nvPr/>
        </p:nvSpPr>
        <p:spPr>
          <a:xfrm>
            <a:off x="8992553" y="2148841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borrow_record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97315" y="2339341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借阅记录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1020" y="2666881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2C3E5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00225" y="27507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591502" y="2979302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reservation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6265" y="3169802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预约队列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41370" y="2666881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2700000" scaled="1"/>
          </a:gradFill>
          <a:ln w="2032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2481" y="275070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1" name="Text 29"/>
          <p:cNvSpPr/>
          <p:nvPr/>
        </p:nvSpPr>
        <p:spPr>
          <a:xfrm>
            <a:off x="3391853" y="2979302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notification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396615" y="3169802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站内通知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41720" y="2666881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2700000" scaled="1"/>
          </a:gradFill>
          <a:ln w="2032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00925" y="27507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1599" y="7032"/>
                </a:moveTo>
                <a:cubicBezTo>
                  <a:pt x="175878" y="8930"/>
                  <a:pt x="178594" y="13171"/>
                  <a:pt x="178594" y="17859"/>
                </a:cubicBezTo>
                <a:lnTo>
                  <a:pt x="178594" y="172641"/>
                </a:lnTo>
                <a:cubicBezTo>
                  <a:pt x="178594" y="177329"/>
                  <a:pt x="175878" y="181570"/>
                  <a:pt x="171599" y="183468"/>
                </a:cubicBezTo>
                <a:cubicBezTo>
                  <a:pt x="167320" y="185365"/>
                  <a:pt x="162371" y="184658"/>
                  <a:pt x="158837" y="181570"/>
                </a:cubicBezTo>
                <a:lnTo>
                  <a:pt x="141498" y="166427"/>
                </a:lnTo>
                <a:cubicBezTo>
                  <a:pt x="125276" y="152251"/>
                  <a:pt x="104775" y="143991"/>
                  <a:pt x="83307" y="142987"/>
                </a:cubicBezTo>
                <a:lnTo>
                  <a:pt x="83307" y="178594"/>
                </a:lnTo>
                <a:cubicBezTo>
                  <a:pt x="83307" y="185179"/>
                  <a:pt x="77986" y="190500"/>
                  <a:pt x="71400" y="190500"/>
                </a:cubicBezTo>
                <a:lnTo>
                  <a:pt x="59494" y="190500"/>
                </a:lnTo>
                <a:cubicBezTo>
                  <a:pt x="52908" y="190500"/>
                  <a:pt x="47588" y="185179"/>
                  <a:pt x="47588" y="178594"/>
                </a:cubicBezTo>
                <a:lnTo>
                  <a:pt x="47588" y="142875"/>
                </a:lnTo>
                <a:cubicBezTo>
                  <a:pt x="21320" y="142875"/>
                  <a:pt x="0" y="121555"/>
                  <a:pt x="0" y="95250"/>
                </a:cubicBezTo>
                <a:cubicBezTo>
                  <a:pt x="0" y="68945"/>
                  <a:pt x="21320" y="47625"/>
                  <a:pt x="47625" y="47625"/>
                </a:cubicBezTo>
                <a:lnTo>
                  <a:pt x="79065" y="47625"/>
                </a:lnTo>
                <a:cubicBezTo>
                  <a:pt x="102059" y="47551"/>
                  <a:pt x="124234" y="39179"/>
                  <a:pt x="141536" y="24073"/>
                </a:cubicBezTo>
                <a:lnTo>
                  <a:pt x="158874" y="8930"/>
                </a:lnTo>
                <a:cubicBezTo>
                  <a:pt x="162371" y="5842"/>
                  <a:pt x="167394" y="5135"/>
                  <a:pt x="171636" y="7032"/>
                </a:cubicBezTo>
                <a:close/>
                <a:moveTo>
                  <a:pt x="83344" y="119063"/>
                </a:moveTo>
                <a:lnTo>
                  <a:pt x="83344" y="119137"/>
                </a:lnTo>
                <a:cubicBezTo>
                  <a:pt x="109500" y="120142"/>
                  <a:pt x="134615" y="129741"/>
                  <a:pt x="154781" y="146447"/>
                </a:cubicBezTo>
                <a:lnTo>
                  <a:pt x="154781" y="44016"/>
                </a:lnTo>
                <a:cubicBezTo>
                  <a:pt x="134615" y="60722"/>
                  <a:pt x="109500" y="70321"/>
                  <a:pt x="83344" y="71326"/>
                </a:cubicBezTo>
                <a:lnTo>
                  <a:pt x="83344" y="119063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5" name="Text 33"/>
          <p:cNvSpPr/>
          <p:nvPr/>
        </p:nvSpPr>
        <p:spPr>
          <a:xfrm>
            <a:off x="6192203" y="2979302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announcement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196965" y="3169802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公告信息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42070" y="2666881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2C3E50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01275" y="27507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90500" y="89297"/>
                </a:moveTo>
                <a:cubicBezTo>
                  <a:pt x="190500" y="138596"/>
                  <a:pt x="147861" y="178594"/>
                  <a:pt x="95250" y="178594"/>
                </a:cubicBezTo>
                <a:cubicBezTo>
                  <a:pt x="81446" y="178594"/>
                  <a:pt x="68349" y="175840"/>
                  <a:pt x="56517" y="170892"/>
                </a:cubicBezTo>
                <a:lnTo>
                  <a:pt x="12464" y="189793"/>
                </a:lnTo>
                <a:cubicBezTo>
                  <a:pt x="8967" y="191281"/>
                  <a:pt x="4949" y="190426"/>
                  <a:pt x="2381" y="187635"/>
                </a:cubicBezTo>
                <a:cubicBezTo>
                  <a:pt x="-186" y="184845"/>
                  <a:pt x="-744" y="180752"/>
                  <a:pt x="1042" y="177403"/>
                </a:cubicBezTo>
                <a:lnTo>
                  <a:pt x="19199" y="143098"/>
                </a:lnTo>
                <a:cubicBezTo>
                  <a:pt x="7144" y="128104"/>
                  <a:pt x="0" y="109500"/>
                  <a:pt x="0" y="89297"/>
                </a:cubicBezTo>
                <a:cubicBezTo>
                  <a:pt x="0" y="39998"/>
                  <a:pt x="42639" y="0"/>
                  <a:pt x="95250" y="0"/>
                </a:cubicBezTo>
                <a:cubicBezTo>
                  <a:pt x="147861" y="0"/>
                  <a:pt x="190500" y="39998"/>
                  <a:pt x="190500" y="8929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9" name="Text 37"/>
          <p:cNvSpPr/>
          <p:nvPr/>
        </p:nvSpPr>
        <p:spPr>
          <a:xfrm>
            <a:off x="8992553" y="2979302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97315" y="3169802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图书评论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1020" y="3497342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2700000" scaled="1"/>
          </a:gradFill>
          <a:ln w="2032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00225" y="3581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9669" y="32407"/>
                </a:moveTo>
                <a:lnTo>
                  <a:pt x="95250" y="40109"/>
                </a:lnTo>
                <a:lnTo>
                  <a:pt x="100831" y="32407"/>
                </a:lnTo>
                <a:cubicBezTo>
                  <a:pt x="110133" y="19534"/>
                  <a:pt x="125090" y="11906"/>
                  <a:pt x="140977" y="11906"/>
                </a:cubicBezTo>
                <a:cubicBezTo>
                  <a:pt x="168325" y="11906"/>
                  <a:pt x="190500" y="34082"/>
                  <a:pt x="190500" y="61429"/>
                </a:cubicBezTo>
                <a:lnTo>
                  <a:pt x="190500" y="62396"/>
                </a:lnTo>
                <a:cubicBezTo>
                  <a:pt x="190500" y="104142"/>
                  <a:pt x="138447" y="152623"/>
                  <a:pt x="111286" y="173348"/>
                </a:cubicBezTo>
                <a:cubicBezTo>
                  <a:pt x="106673" y="176845"/>
                  <a:pt x="101017" y="178594"/>
                  <a:pt x="95250" y="178594"/>
                </a:cubicBezTo>
                <a:cubicBezTo>
                  <a:pt x="89483" y="178594"/>
                  <a:pt x="83790" y="176882"/>
                  <a:pt x="79214" y="173348"/>
                </a:cubicBezTo>
                <a:cubicBezTo>
                  <a:pt x="52053" y="152623"/>
                  <a:pt x="0" y="104142"/>
                  <a:pt x="0" y="62396"/>
                </a:cubicBezTo>
                <a:lnTo>
                  <a:pt x="0" y="61429"/>
                </a:lnTo>
                <a:cubicBezTo>
                  <a:pt x="0" y="34082"/>
                  <a:pt x="22175" y="11906"/>
                  <a:pt x="49523" y="11906"/>
                </a:cubicBezTo>
                <a:cubicBezTo>
                  <a:pt x="65410" y="11906"/>
                  <a:pt x="80367" y="19534"/>
                  <a:pt x="89669" y="32407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3" name="Text 41"/>
          <p:cNvSpPr/>
          <p:nvPr/>
        </p:nvSpPr>
        <p:spPr>
          <a:xfrm>
            <a:off x="591502" y="380976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favorite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96265" y="4000263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图书收藏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41370" y="3497342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2700000" scaled="1"/>
          </a:gradFill>
          <a:ln w="20320">
            <a:solidFill>
              <a:srgbClr val="16A085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0575" y="3581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56121"/>
                </a:moveTo>
                <a:lnTo>
                  <a:pt x="0" y="40742"/>
                </a:lnTo>
                <a:cubicBezTo>
                  <a:pt x="0" y="32110"/>
                  <a:pt x="8967" y="26380"/>
                  <a:pt x="17227" y="28835"/>
                </a:cubicBezTo>
                <a:cubicBezTo>
                  <a:pt x="49857" y="38584"/>
                  <a:pt x="72926" y="30882"/>
                  <a:pt x="96143" y="23143"/>
                </a:cubicBezTo>
                <a:cubicBezTo>
                  <a:pt x="120142" y="15143"/>
                  <a:pt x="144289" y="7107"/>
                  <a:pt x="179226" y="18269"/>
                </a:cubicBezTo>
                <a:cubicBezTo>
                  <a:pt x="186110" y="20464"/>
                  <a:pt x="190500" y="27124"/>
                  <a:pt x="190500" y="34379"/>
                </a:cubicBezTo>
                <a:lnTo>
                  <a:pt x="190500" y="149758"/>
                </a:lnTo>
                <a:cubicBezTo>
                  <a:pt x="190500" y="158390"/>
                  <a:pt x="181533" y="164120"/>
                  <a:pt x="173310" y="161665"/>
                </a:cubicBezTo>
                <a:cubicBezTo>
                  <a:pt x="140680" y="151916"/>
                  <a:pt x="117574" y="159618"/>
                  <a:pt x="94394" y="167357"/>
                </a:cubicBezTo>
                <a:cubicBezTo>
                  <a:pt x="70396" y="175357"/>
                  <a:pt x="46248" y="183393"/>
                  <a:pt x="11311" y="172231"/>
                </a:cubicBezTo>
                <a:cubicBezTo>
                  <a:pt x="4428" y="170036"/>
                  <a:pt x="37" y="163376"/>
                  <a:pt x="37" y="156121"/>
                </a:cubicBezTo>
                <a:close/>
                <a:moveTo>
                  <a:pt x="125016" y="95250"/>
                </a:moveTo>
                <a:cubicBezTo>
                  <a:pt x="125016" y="75530"/>
                  <a:pt x="111696" y="59531"/>
                  <a:pt x="95250" y="59531"/>
                </a:cubicBezTo>
                <a:cubicBezTo>
                  <a:pt x="78804" y="59531"/>
                  <a:pt x="65484" y="75530"/>
                  <a:pt x="65484" y="95250"/>
                </a:cubicBezTo>
                <a:cubicBezTo>
                  <a:pt x="65484" y="114970"/>
                  <a:pt x="78804" y="130969"/>
                  <a:pt x="95250" y="130969"/>
                </a:cubicBezTo>
                <a:cubicBezTo>
                  <a:pt x="111696" y="130969"/>
                  <a:pt x="125016" y="114970"/>
                  <a:pt x="125016" y="95250"/>
                </a:cubicBezTo>
                <a:close/>
                <a:moveTo>
                  <a:pt x="44648" y="153888"/>
                </a:moveTo>
                <a:cubicBezTo>
                  <a:pt x="46286" y="153888"/>
                  <a:pt x="47588" y="152474"/>
                  <a:pt x="47327" y="150875"/>
                </a:cubicBezTo>
                <a:cubicBezTo>
                  <a:pt x="45616" y="140531"/>
                  <a:pt x="37281" y="132457"/>
                  <a:pt x="26789" y="131155"/>
                </a:cubicBezTo>
                <a:cubicBezTo>
                  <a:pt x="25152" y="130969"/>
                  <a:pt x="23812" y="132308"/>
                  <a:pt x="23812" y="133945"/>
                </a:cubicBezTo>
                <a:lnTo>
                  <a:pt x="23812" y="148791"/>
                </a:lnTo>
                <a:cubicBezTo>
                  <a:pt x="23812" y="150130"/>
                  <a:pt x="24705" y="151321"/>
                  <a:pt x="26045" y="151656"/>
                </a:cubicBezTo>
                <a:cubicBezTo>
                  <a:pt x="32705" y="153219"/>
                  <a:pt x="38807" y="153925"/>
                  <a:pt x="44648" y="153925"/>
                </a:cubicBezTo>
                <a:close/>
                <a:moveTo>
                  <a:pt x="163153" y="134875"/>
                </a:moveTo>
                <a:cubicBezTo>
                  <a:pt x="165013" y="135173"/>
                  <a:pt x="166688" y="133759"/>
                  <a:pt x="166688" y="131899"/>
                </a:cubicBezTo>
                <a:lnTo>
                  <a:pt x="166688" y="116049"/>
                </a:lnTo>
                <a:cubicBezTo>
                  <a:pt x="166688" y="114412"/>
                  <a:pt x="165348" y="113035"/>
                  <a:pt x="163711" y="113258"/>
                </a:cubicBezTo>
                <a:cubicBezTo>
                  <a:pt x="154335" y="114412"/>
                  <a:pt x="146633" y="121034"/>
                  <a:pt x="143917" y="129853"/>
                </a:cubicBezTo>
                <a:cubicBezTo>
                  <a:pt x="143396" y="131601"/>
                  <a:pt x="144773" y="133238"/>
                  <a:pt x="146596" y="133276"/>
                </a:cubicBezTo>
                <a:cubicBezTo>
                  <a:pt x="151879" y="133424"/>
                  <a:pt x="157386" y="133908"/>
                  <a:pt x="163116" y="134875"/>
                </a:cubicBezTo>
                <a:close/>
                <a:moveTo>
                  <a:pt x="166688" y="56555"/>
                </a:moveTo>
                <a:lnTo>
                  <a:pt x="166688" y="41709"/>
                </a:lnTo>
                <a:cubicBezTo>
                  <a:pt x="166688" y="40370"/>
                  <a:pt x="165757" y="39179"/>
                  <a:pt x="164455" y="38844"/>
                </a:cubicBezTo>
                <a:cubicBezTo>
                  <a:pt x="157795" y="37281"/>
                  <a:pt x="151693" y="36575"/>
                  <a:pt x="145852" y="36575"/>
                </a:cubicBezTo>
                <a:cubicBezTo>
                  <a:pt x="144214" y="36575"/>
                  <a:pt x="142912" y="37988"/>
                  <a:pt x="143173" y="39588"/>
                </a:cubicBezTo>
                <a:cubicBezTo>
                  <a:pt x="144884" y="49932"/>
                  <a:pt x="153219" y="58006"/>
                  <a:pt x="163711" y="59308"/>
                </a:cubicBezTo>
                <a:cubicBezTo>
                  <a:pt x="165348" y="59494"/>
                  <a:pt x="166688" y="58155"/>
                  <a:pt x="166688" y="56517"/>
                </a:cubicBezTo>
                <a:close/>
                <a:moveTo>
                  <a:pt x="46583" y="60610"/>
                </a:moveTo>
                <a:cubicBezTo>
                  <a:pt x="47104" y="58862"/>
                  <a:pt x="45727" y="57224"/>
                  <a:pt x="43904" y="57187"/>
                </a:cubicBezTo>
                <a:cubicBezTo>
                  <a:pt x="38621" y="57038"/>
                  <a:pt x="33114" y="56555"/>
                  <a:pt x="27384" y="55587"/>
                </a:cubicBezTo>
                <a:cubicBezTo>
                  <a:pt x="25524" y="55290"/>
                  <a:pt x="23850" y="56704"/>
                  <a:pt x="23850" y="58564"/>
                </a:cubicBezTo>
                <a:lnTo>
                  <a:pt x="23812" y="74414"/>
                </a:lnTo>
                <a:cubicBezTo>
                  <a:pt x="23812" y="76051"/>
                  <a:pt x="25152" y="77428"/>
                  <a:pt x="26789" y="77205"/>
                </a:cubicBezTo>
                <a:cubicBezTo>
                  <a:pt x="36165" y="76051"/>
                  <a:pt x="43867" y="69428"/>
                  <a:pt x="46583" y="6061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47" name="Text 45"/>
          <p:cNvSpPr/>
          <p:nvPr/>
        </p:nvSpPr>
        <p:spPr>
          <a:xfrm>
            <a:off x="3391853" y="380976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fine_record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3396615" y="4000263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罚款记录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41720" y="3497342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2C3E50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00925" y="35811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1" name="Text 49"/>
          <p:cNvSpPr/>
          <p:nvPr/>
        </p:nvSpPr>
        <p:spPr>
          <a:xfrm>
            <a:off x="6192203" y="380976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fine_rule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96965" y="4000263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罚款规则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942070" y="3497342"/>
            <a:ext cx="2710815" cy="739140"/>
          </a:xfrm>
          <a:prstGeom prst="roundRect">
            <a:avLst>
              <a:gd name="adj" fmla="val 10309"/>
            </a:avLst>
          </a:pr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2700000" scaled="1"/>
          </a:gradFill>
          <a:ln w="2032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225088" y="35811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5" name="Text 53"/>
          <p:cNvSpPr/>
          <p:nvPr/>
        </p:nvSpPr>
        <p:spPr>
          <a:xfrm>
            <a:off x="8992553" y="3809763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operation_log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97315" y="4000263"/>
            <a:ext cx="26003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操作日志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81000" y="4472583"/>
            <a:ext cx="11430000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33400" y="4624983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59" name="Shape 57"/>
          <p:cNvSpPr/>
          <p:nvPr/>
        </p:nvSpPr>
        <p:spPr>
          <a:xfrm>
            <a:off x="638175" y="473928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1028700" y="4663083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关键设计特点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37210" y="5124093"/>
            <a:ext cx="2684145" cy="883920"/>
          </a:xfrm>
          <a:prstGeom prst="roundRect">
            <a:avLst>
              <a:gd name="adj" fmla="val 8621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55320" y="524220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63" name="Text 61"/>
          <p:cNvSpPr/>
          <p:nvPr/>
        </p:nvSpPr>
        <p:spPr>
          <a:xfrm>
            <a:off x="768072" y="531840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50620" y="524220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树形分类结构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50620" y="5508906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category表支持父子关系，实现多级分类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347085" y="5124093"/>
            <a:ext cx="2684145" cy="883920"/>
          </a:xfrm>
          <a:prstGeom prst="roundRect">
            <a:avLst>
              <a:gd name="adj" fmla="val 8621"/>
            </a:avLst>
          </a:prstGeom>
          <a:gradFill flip="none" rotWithShape="1">
            <a:gsLst>
              <a:gs pos="0">
                <a:srgbClr val="2C3E50">
                  <a:alpha val="5000"/>
                </a:srgbClr>
              </a:gs>
              <a:gs pos="100000">
                <a:srgbClr val="2C3E50">
                  <a:alpha val="10000"/>
                </a:srgbClr>
              </a:gs>
            </a:gsLst>
            <a:lin ang="2700000" scaled="1"/>
          </a:gra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65195" y="524220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68" name="Text 66"/>
          <p:cNvSpPr/>
          <p:nvPr/>
        </p:nvSpPr>
        <p:spPr>
          <a:xfrm>
            <a:off x="3565088" y="5318406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960495" y="524220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双库存管理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3960495" y="5508906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book表区分总库存和可借库存，精确控制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56960" y="5124093"/>
            <a:ext cx="2684145" cy="883920"/>
          </a:xfrm>
          <a:prstGeom prst="roundRect">
            <a:avLst>
              <a:gd name="adj" fmla="val 8621"/>
            </a:avLst>
          </a:prstGeom>
          <a:gradFill flip="none" rotWithShape="1">
            <a:gsLst>
              <a:gs pos="0">
                <a:srgbClr val="E67E22">
                  <a:alpha val="5000"/>
                </a:srgbClr>
              </a:gs>
              <a:gs pos="100000">
                <a:srgbClr val="E67E22">
                  <a:alpha val="10000"/>
                </a:srgbClr>
              </a:gs>
            </a:gsLst>
            <a:lin ang="2700000" scaled="1"/>
          </a:gra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75070" y="524220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73" name="Text 71"/>
          <p:cNvSpPr/>
          <p:nvPr/>
        </p:nvSpPr>
        <p:spPr>
          <a:xfrm>
            <a:off x="6372939" y="5318406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770370" y="524220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唯一约束防重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770370" y="5508906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favorite表设置联合唯一约束，避免重复收藏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8966835" y="5124093"/>
            <a:ext cx="2684145" cy="883920"/>
          </a:xfrm>
          <a:prstGeom prst="roundRect">
            <a:avLst>
              <a:gd name="adj" fmla="val 8621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84945" y="5242206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78" name="Text 76"/>
          <p:cNvSpPr/>
          <p:nvPr/>
        </p:nvSpPr>
        <p:spPr>
          <a:xfrm>
            <a:off x="9182934" y="5318406"/>
            <a:ext cx="25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9580245" y="5242206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状态机设计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580245" y="5508906"/>
            <a:ext cx="20193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borrow_record支持借阅中、已归还、逾期状态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E1F9B7-BA15-FFFC-7205-47679E4FC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972A042-2365-13AE-788A-ADB0ADAD1CAA}"/>
              </a:ext>
            </a:extLst>
          </p:cNvPr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31FBBBC-55E9-1FC6-D09F-79C68DD93FDC}"/>
              </a:ext>
            </a:extLst>
          </p:cNvPr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核心功能实现</a:t>
            </a:r>
            <a:endParaRPr lang="en-US" altLang="zh-CN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9D7560B-E3F4-30C9-4DF1-61C225B63D11}"/>
              </a:ext>
            </a:extLst>
          </p:cNvPr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000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CORE FUNCTION IMPLEMENTATION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231893226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76200" cy="3810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571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关键功能实现一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838200"/>
            <a:ext cx="11334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登录认证与权限控制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71500" y="1104900"/>
            <a:ext cx="1132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24000"/>
            <a:ext cx="5619750" cy="499110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3400" y="1676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790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1714500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JWT认证流程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495550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16A085"/>
              </a:gs>
              <a:gs pos="100000">
                <a:srgbClr val="16A085">
                  <a:alpha val="8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3900" y="26860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4037" y="121890"/>
                </a:moveTo>
                <a:cubicBezTo>
                  <a:pt x="158234" y="117693"/>
                  <a:pt x="158234" y="110907"/>
                  <a:pt x="154037" y="106754"/>
                </a:cubicBezTo>
                <a:lnTo>
                  <a:pt x="89743" y="42416"/>
                </a:lnTo>
                <a:cubicBezTo>
                  <a:pt x="86663" y="39335"/>
                  <a:pt x="82064" y="38442"/>
                  <a:pt x="78045" y="40094"/>
                </a:cubicBezTo>
                <a:cubicBezTo>
                  <a:pt x="74027" y="41746"/>
                  <a:pt x="71438" y="45675"/>
                  <a:pt x="71438" y="50006"/>
                </a:cubicBezTo>
                <a:lnTo>
                  <a:pt x="71438" y="85725"/>
                </a:ln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21444"/>
                </a:lnTo>
                <a:cubicBezTo>
                  <a:pt x="0" y="133276"/>
                  <a:pt x="9599" y="142875"/>
                  <a:pt x="21431" y="142875"/>
                </a:cubicBezTo>
                <a:lnTo>
                  <a:pt x="71438" y="142875"/>
                </a:lnTo>
                <a:lnTo>
                  <a:pt x="71438" y="178594"/>
                </a:lnTo>
                <a:cubicBezTo>
                  <a:pt x="71438" y="182925"/>
                  <a:pt x="74027" y="186854"/>
                  <a:pt x="78045" y="188506"/>
                </a:cubicBezTo>
                <a:cubicBezTo>
                  <a:pt x="82064" y="190158"/>
                  <a:pt x="86663" y="189265"/>
                  <a:pt x="89743" y="186184"/>
                </a:cubicBezTo>
                <a:lnTo>
                  <a:pt x="154037" y="121890"/>
                </a:lnTo>
                <a:close/>
                <a:moveTo>
                  <a:pt x="157163" y="185738"/>
                </a:moveTo>
                <a:cubicBezTo>
                  <a:pt x="149260" y="185738"/>
                  <a:pt x="142875" y="192122"/>
                  <a:pt x="142875" y="200025"/>
                </a:cubicBezTo>
                <a:cubicBezTo>
                  <a:pt x="142875" y="207928"/>
                  <a:pt x="149260" y="214313"/>
                  <a:pt x="157163" y="214313"/>
                </a:cubicBezTo>
                <a:lnTo>
                  <a:pt x="185738" y="214313"/>
                </a:lnTo>
                <a:cubicBezTo>
                  <a:pt x="209401" y="214313"/>
                  <a:pt x="228600" y="195114"/>
                  <a:pt x="228600" y="171450"/>
                </a:cubicBezTo>
                <a:lnTo>
                  <a:pt x="228600" y="57150"/>
                </a:lnTo>
                <a:cubicBezTo>
                  <a:pt x="228600" y="33486"/>
                  <a:pt x="209401" y="14288"/>
                  <a:pt x="185738" y="14288"/>
                </a:cubicBezTo>
                <a:lnTo>
                  <a:pt x="157163" y="14288"/>
                </a:lnTo>
                <a:cubicBezTo>
                  <a:pt x="149260" y="14288"/>
                  <a:pt x="142875" y="20672"/>
                  <a:pt x="142875" y="28575"/>
                </a:cubicBezTo>
                <a:cubicBezTo>
                  <a:pt x="142875" y="36478"/>
                  <a:pt x="149260" y="42863"/>
                  <a:pt x="157163" y="42863"/>
                </a:cubicBez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71450"/>
                </a:lnTo>
                <a:cubicBezTo>
                  <a:pt x="200025" y="179353"/>
                  <a:pt x="193640" y="185738"/>
                  <a:pt x="185738" y="185738"/>
                </a:cubicBezTo>
                <a:lnTo>
                  <a:pt x="157163" y="1857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255270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用户登录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5400" y="28194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提交用户名和密码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05150" y="31813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5" name="Shape 13"/>
          <p:cNvSpPr/>
          <p:nvPr/>
        </p:nvSpPr>
        <p:spPr>
          <a:xfrm>
            <a:off x="533400" y="3486150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2C3E50"/>
              </a:gs>
              <a:gs pos="100000">
                <a:srgbClr val="2C3E50">
                  <a:alpha val="8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3900" y="36766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0019" y="157163"/>
                </a:moveTo>
                <a:cubicBezTo>
                  <a:pt x="193417" y="157163"/>
                  <a:pt x="228600" y="121980"/>
                  <a:pt x="228600" y="78581"/>
                </a:cubicBezTo>
                <a:cubicBezTo>
                  <a:pt x="228600" y="35183"/>
                  <a:pt x="193417" y="0"/>
                  <a:pt x="150019" y="0"/>
                </a:cubicBezTo>
                <a:cubicBezTo>
                  <a:pt x="106620" y="0"/>
                  <a:pt x="71438" y="35183"/>
                  <a:pt x="71438" y="78581"/>
                </a:cubicBezTo>
                <a:cubicBezTo>
                  <a:pt x="71438" y="86931"/>
                  <a:pt x="72732" y="95012"/>
                  <a:pt x="75143" y="102557"/>
                </a:cubicBezTo>
                <a:lnTo>
                  <a:pt x="3125" y="174575"/>
                </a:lnTo>
                <a:cubicBezTo>
                  <a:pt x="1116" y="176585"/>
                  <a:pt x="0" y="179308"/>
                  <a:pt x="0" y="182166"/>
                </a:cubicBezTo>
                <a:lnTo>
                  <a:pt x="0" y="217884"/>
                </a:lnTo>
                <a:cubicBezTo>
                  <a:pt x="0" y="223823"/>
                  <a:pt x="4777" y="228600"/>
                  <a:pt x="10716" y="228600"/>
                </a:cubicBezTo>
                <a:lnTo>
                  <a:pt x="46434" y="228600"/>
                </a:lnTo>
                <a:cubicBezTo>
                  <a:pt x="52373" y="228600"/>
                  <a:pt x="57150" y="223823"/>
                  <a:pt x="57150" y="217884"/>
                </a:cubicBezTo>
                <a:lnTo>
                  <a:pt x="57150" y="200025"/>
                </a:lnTo>
                <a:lnTo>
                  <a:pt x="75009" y="200025"/>
                </a:lnTo>
                <a:cubicBezTo>
                  <a:pt x="80948" y="200025"/>
                  <a:pt x="85725" y="195248"/>
                  <a:pt x="85725" y="189309"/>
                </a:cubicBezTo>
                <a:lnTo>
                  <a:pt x="85725" y="171450"/>
                </a:lnTo>
                <a:lnTo>
                  <a:pt x="103584" y="171450"/>
                </a:lnTo>
                <a:cubicBezTo>
                  <a:pt x="106442" y="171450"/>
                  <a:pt x="109165" y="170334"/>
                  <a:pt x="111175" y="168325"/>
                </a:cubicBezTo>
                <a:lnTo>
                  <a:pt x="126043" y="153457"/>
                </a:lnTo>
                <a:cubicBezTo>
                  <a:pt x="133588" y="155868"/>
                  <a:pt x="141669" y="157163"/>
                  <a:pt x="150019" y="157163"/>
                </a:cubicBezTo>
                <a:close/>
                <a:moveTo>
                  <a:pt x="167878" y="42863"/>
                </a:moveTo>
                <a:cubicBezTo>
                  <a:pt x="177735" y="42863"/>
                  <a:pt x="185738" y="50865"/>
                  <a:pt x="185738" y="60722"/>
                </a:cubicBezTo>
                <a:cubicBezTo>
                  <a:pt x="185738" y="70579"/>
                  <a:pt x="177735" y="78581"/>
                  <a:pt x="167878" y="78581"/>
                </a:cubicBezTo>
                <a:cubicBezTo>
                  <a:pt x="158021" y="78581"/>
                  <a:pt x="150019" y="70579"/>
                  <a:pt x="150019" y="60722"/>
                </a:cubicBezTo>
                <a:cubicBezTo>
                  <a:pt x="150019" y="50865"/>
                  <a:pt x="158021" y="42863"/>
                  <a:pt x="167878" y="428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354330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生成Token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5400" y="38100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后端验证并生成JWT Token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05150" y="41719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" y="4476750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E67E22"/>
              </a:gs>
              <a:gs pos="100000">
                <a:srgbClr val="E67E22">
                  <a:alpha val="8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9613" y="46672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39494" y="-11743"/>
                </a:moveTo>
                <a:cubicBezTo>
                  <a:pt x="243870" y="-13305"/>
                  <a:pt x="248692" y="-12189"/>
                  <a:pt x="251996" y="-8930"/>
                </a:cubicBezTo>
                <a:cubicBezTo>
                  <a:pt x="255300" y="-5670"/>
                  <a:pt x="256371" y="-804"/>
                  <a:pt x="254809" y="3572"/>
                </a:cubicBezTo>
                <a:lnTo>
                  <a:pt x="175334" y="225430"/>
                </a:lnTo>
                <a:cubicBezTo>
                  <a:pt x="173102" y="231636"/>
                  <a:pt x="167253" y="235744"/>
                  <a:pt x="160690" y="235744"/>
                </a:cubicBezTo>
                <a:cubicBezTo>
                  <a:pt x="154350" y="235744"/>
                  <a:pt x="148635" y="231904"/>
                  <a:pt x="146268" y="226055"/>
                </a:cubicBezTo>
                <a:lnTo>
                  <a:pt x="117604" y="155511"/>
                </a:lnTo>
                <a:cubicBezTo>
                  <a:pt x="115595" y="150599"/>
                  <a:pt x="116488" y="144973"/>
                  <a:pt x="119926" y="140955"/>
                </a:cubicBezTo>
                <a:lnTo>
                  <a:pt x="162118" y="90770"/>
                </a:lnTo>
                <a:cubicBezTo>
                  <a:pt x="164396" y="88047"/>
                  <a:pt x="164217" y="84073"/>
                  <a:pt x="161717" y="81573"/>
                </a:cubicBezTo>
                <a:cubicBezTo>
                  <a:pt x="159216" y="79072"/>
                  <a:pt x="155198" y="78894"/>
                  <a:pt x="152519" y="81171"/>
                </a:cubicBezTo>
                <a:lnTo>
                  <a:pt x="102334" y="123274"/>
                </a:lnTo>
                <a:cubicBezTo>
                  <a:pt x="98271" y="126668"/>
                  <a:pt x="92690" y="127561"/>
                  <a:pt x="87779" y="125596"/>
                </a:cubicBezTo>
                <a:lnTo>
                  <a:pt x="17011" y="96798"/>
                </a:lnTo>
                <a:cubicBezTo>
                  <a:pt x="11162" y="94431"/>
                  <a:pt x="7322" y="88716"/>
                  <a:pt x="7322" y="82376"/>
                </a:cubicBezTo>
                <a:cubicBezTo>
                  <a:pt x="7322" y="75813"/>
                  <a:pt x="11430" y="69964"/>
                  <a:pt x="17636" y="67732"/>
                </a:cubicBezTo>
                <a:lnTo>
                  <a:pt x="239494" y="-11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453390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携带Token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95400" y="48006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前端在请求头中携带Token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05150" y="51625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5" name="Shape 23"/>
          <p:cNvSpPr/>
          <p:nvPr/>
        </p:nvSpPr>
        <p:spPr>
          <a:xfrm>
            <a:off x="533400" y="5467350"/>
            <a:ext cx="609600" cy="609600"/>
          </a:xfrm>
          <a:prstGeom prst="roundRect">
            <a:avLst>
              <a:gd name="adj" fmla="val 18750"/>
            </a:avLst>
          </a:prstGeom>
          <a:gradFill flip="none" rotWithShape="1">
            <a:gsLst>
              <a:gs pos="0">
                <a:srgbClr val="16A085"/>
              </a:gs>
              <a:gs pos="100000">
                <a:srgbClr val="16A085">
                  <a:alpha val="80000"/>
                </a:srgbClr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3900" y="5657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295400" y="552450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权限校验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5400" y="5791200"/>
            <a:ext cx="4629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@PreAuthorize验证权限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1250" y="1524000"/>
            <a:ext cx="5619750" cy="28956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43650" y="1676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17907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66675"/>
                </a:moveTo>
                <a:cubicBezTo>
                  <a:pt x="112335" y="66675"/>
                  <a:pt x="126206" y="52804"/>
                  <a:pt x="126206" y="35719"/>
                </a:cubicBezTo>
                <a:cubicBezTo>
                  <a:pt x="126206" y="18634"/>
                  <a:pt x="112335" y="4763"/>
                  <a:pt x="95250" y="4763"/>
                </a:cubicBezTo>
                <a:cubicBezTo>
                  <a:pt x="78165" y="4763"/>
                  <a:pt x="64294" y="18634"/>
                  <a:pt x="64294" y="35719"/>
                </a:cubicBezTo>
                <a:cubicBezTo>
                  <a:pt x="64294" y="52804"/>
                  <a:pt x="78165" y="66675"/>
                  <a:pt x="95250" y="66675"/>
                </a:cubicBezTo>
                <a:close/>
                <a:moveTo>
                  <a:pt x="28575" y="69056"/>
                </a:moveTo>
                <a:cubicBezTo>
                  <a:pt x="40403" y="69056"/>
                  <a:pt x="50006" y="59453"/>
                  <a:pt x="50006" y="47625"/>
                </a:cubicBezTo>
                <a:cubicBezTo>
                  <a:pt x="50006" y="35797"/>
                  <a:pt x="40403" y="26194"/>
                  <a:pt x="28575" y="26194"/>
                </a:cubicBezTo>
                <a:cubicBezTo>
                  <a:pt x="16747" y="26194"/>
                  <a:pt x="7144" y="35797"/>
                  <a:pt x="7144" y="47625"/>
                </a:cubicBezTo>
                <a:cubicBezTo>
                  <a:pt x="7144" y="59453"/>
                  <a:pt x="16747" y="69056"/>
                  <a:pt x="28575" y="69056"/>
                </a:cubicBezTo>
                <a:close/>
                <a:moveTo>
                  <a:pt x="0" y="123825"/>
                </a:moveTo>
                <a:lnTo>
                  <a:pt x="0" y="133350"/>
                </a:lnTo>
                <a:cubicBezTo>
                  <a:pt x="0" y="138619"/>
                  <a:pt x="4256" y="142875"/>
                  <a:pt x="9525" y="142875"/>
                </a:cubicBezTo>
                <a:lnTo>
                  <a:pt x="35332" y="142875"/>
                </a:lnTo>
                <a:cubicBezTo>
                  <a:pt x="34052" y="139958"/>
                  <a:pt x="33338" y="136743"/>
                  <a:pt x="33338" y="133350"/>
                </a:cubicBezTo>
                <a:lnTo>
                  <a:pt x="33338" y="128588"/>
                </a:lnTo>
                <a:cubicBezTo>
                  <a:pt x="33338" y="112752"/>
                  <a:pt x="39291" y="98286"/>
                  <a:pt x="49084" y="87332"/>
                </a:cubicBezTo>
                <a:cubicBezTo>
                  <a:pt x="45601" y="86291"/>
                  <a:pt x="41910" y="85725"/>
                  <a:pt x="38100" y="85725"/>
                </a:cubicBezTo>
                <a:cubicBezTo>
                  <a:pt x="17056" y="85725"/>
                  <a:pt x="0" y="102781"/>
                  <a:pt x="0" y="123825"/>
                </a:cubicBezTo>
                <a:close/>
                <a:moveTo>
                  <a:pt x="183356" y="47625"/>
                </a:moveTo>
                <a:cubicBezTo>
                  <a:pt x="183356" y="35797"/>
                  <a:pt x="173753" y="26194"/>
                  <a:pt x="161925" y="26194"/>
                </a:cubicBezTo>
                <a:cubicBezTo>
                  <a:pt x="150097" y="26194"/>
                  <a:pt x="140494" y="35797"/>
                  <a:pt x="140494" y="47625"/>
                </a:cubicBezTo>
                <a:cubicBezTo>
                  <a:pt x="140494" y="59453"/>
                  <a:pt x="150097" y="69056"/>
                  <a:pt x="161925" y="69056"/>
                </a:cubicBezTo>
                <a:cubicBezTo>
                  <a:pt x="173753" y="69056"/>
                  <a:pt x="183356" y="59453"/>
                  <a:pt x="183356" y="47625"/>
                </a:cubicBezTo>
                <a:close/>
                <a:moveTo>
                  <a:pt x="47625" y="128588"/>
                </a:moveTo>
                <a:lnTo>
                  <a:pt x="47625" y="133350"/>
                </a:lnTo>
                <a:cubicBezTo>
                  <a:pt x="47625" y="138619"/>
                  <a:pt x="51881" y="142875"/>
                  <a:pt x="57150" y="142875"/>
                </a:cubicBezTo>
                <a:lnTo>
                  <a:pt x="103823" y="142875"/>
                </a:lnTo>
                <a:cubicBezTo>
                  <a:pt x="101709" y="136446"/>
                  <a:pt x="101947" y="129659"/>
                  <a:pt x="107007" y="123825"/>
                </a:cubicBezTo>
                <a:cubicBezTo>
                  <a:pt x="102840" y="119003"/>
                  <a:pt x="100905" y="112008"/>
                  <a:pt x="103614" y="104983"/>
                </a:cubicBezTo>
                <a:cubicBezTo>
                  <a:pt x="105579" y="99893"/>
                  <a:pt x="108347" y="95131"/>
                  <a:pt x="111770" y="90904"/>
                </a:cubicBezTo>
                <a:cubicBezTo>
                  <a:pt x="113377" y="88940"/>
                  <a:pt x="115223" y="87422"/>
                  <a:pt x="117217" y="86320"/>
                </a:cubicBezTo>
                <a:cubicBezTo>
                  <a:pt x="110639" y="82897"/>
                  <a:pt x="103168" y="80962"/>
                  <a:pt x="95250" y="80962"/>
                </a:cubicBezTo>
                <a:cubicBezTo>
                  <a:pt x="68937" y="80962"/>
                  <a:pt x="47625" y="102275"/>
                  <a:pt x="47625" y="128588"/>
                </a:cubicBezTo>
                <a:close/>
                <a:moveTo>
                  <a:pt x="185916" y="115461"/>
                </a:moveTo>
                <a:cubicBezTo>
                  <a:pt x="187791" y="114389"/>
                  <a:pt x="188744" y="112157"/>
                  <a:pt x="187940" y="110103"/>
                </a:cubicBezTo>
                <a:cubicBezTo>
                  <a:pt x="186511" y="106412"/>
                  <a:pt x="184517" y="102930"/>
                  <a:pt x="182017" y="99864"/>
                </a:cubicBezTo>
                <a:cubicBezTo>
                  <a:pt x="180648" y="98167"/>
                  <a:pt x="178237" y="97869"/>
                  <a:pt x="176361" y="98971"/>
                </a:cubicBezTo>
                <a:cubicBezTo>
                  <a:pt x="169872" y="102721"/>
                  <a:pt x="161895" y="98137"/>
                  <a:pt x="161895" y="90607"/>
                </a:cubicBezTo>
                <a:cubicBezTo>
                  <a:pt x="161895" y="88434"/>
                  <a:pt x="160437" y="86499"/>
                  <a:pt x="158294" y="86171"/>
                </a:cubicBezTo>
                <a:cubicBezTo>
                  <a:pt x="154454" y="85576"/>
                  <a:pt x="150316" y="85576"/>
                  <a:pt x="146477" y="86171"/>
                </a:cubicBezTo>
                <a:cubicBezTo>
                  <a:pt x="144334" y="86499"/>
                  <a:pt x="142875" y="88434"/>
                  <a:pt x="142875" y="90607"/>
                </a:cubicBezTo>
                <a:cubicBezTo>
                  <a:pt x="142875" y="98108"/>
                  <a:pt x="134898" y="102721"/>
                  <a:pt x="128409" y="98971"/>
                </a:cubicBezTo>
                <a:cubicBezTo>
                  <a:pt x="126534" y="97899"/>
                  <a:pt x="124123" y="98197"/>
                  <a:pt x="122753" y="99864"/>
                </a:cubicBezTo>
                <a:cubicBezTo>
                  <a:pt x="120253" y="102930"/>
                  <a:pt x="118259" y="106412"/>
                  <a:pt x="116830" y="110103"/>
                </a:cubicBezTo>
                <a:cubicBezTo>
                  <a:pt x="116056" y="112127"/>
                  <a:pt x="116979" y="114360"/>
                  <a:pt x="118854" y="115431"/>
                </a:cubicBezTo>
                <a:cubicBezTo>
                  <a:pt x="125373" y="119182"/>
                  <a:pt x="125373" y="128379"/>
                  <a:pt x="118854" y="132159"/>
                </a:cubicBezTo>
                <a:cubicBezTo>
                  <a:pt x="116979" y="133231"/>
                  <a:pt x="116026" y="135463"/>
                  <a:pt x="116830" y="137487"/>
                </a:cubicBezTo>
                <a:cubicBezTo>
                  <a:pt x="118259" y="141178"/>
                  <a:pt x="120253" y="144661"/>
                  <a:pt x="122753" y="147727"/>
                </a:cubicBezTo>
                <a:cubicBezTo>
                  <a:pt x="124123" y="149423"/>
                  <a:pt x="126534" y="149721"/>
                  <a:pt x="128409" y="148620"/>
                </a:cubicBezTo>
                <a:cubicBezTo>
                  <a:pt x="134898" y="144869"/>
                  <a:pt x="142875" y="149483"/>
                  <a:pt x="142875" y="156984"/>
                </a:cubicBezTo>
                <a:cubicBezTo>
                  <a:pt x="142875" y="159157"/>
                  <a:pt x="144334" y="161092"/>
                  <a:pt x="146477" y="161419"/>
                </a:cubicBezTo>
                <a:cubicBezTo>
                  <a:pt x="150316" y="162014"/>
                  <a:pt x="154454" y="162014"/>
                  <a:pt x="158294" y="161419"/>
                </a:cubicBezTo>
                <a:cubicBezTo>
                  <a:pt x="160437" y="161092"/>
                  <a:pt x="161895" y="159157"/>
                  <a:pt x="161895" y="156984"/>
                </a:cubicBezTo>
                <a:cubicBezTo>
                  <a:pt x="161895" y="149483"/>
                  <a:pt x="169872" y="144869"/>
                  <a:pt x="176361" y="148620"/>
                </a:cubicBezTo>
                <a:cubicBezTo>
                  <a:pt x="178237" y="149691"/>
                  <a:pt x="180648" y="149394"/>
                  <a:pt x="182017" y="147727"/>
                </a:cubicBezTo>
                <a:cubicBezTo>
                  <a:pt x="184517" y="144661"/>
                  <a:pt x="186511" y="141178"/>
                  <a:pt x="187940" y="137487"/>
                </a:cubicBezTo>
                <a:cubicBezTo>
                  <a:pt x="188714" y="135463"/>
                  <a:pt x="187791" y="133231"/>
                  <a:pt x="185916" y="132159"/>
                </a:cubicBezTo>
                <a:cubicBezTo>
                  <a:pt x="179397" y="128409"/>
                  <a:pt x="179397" y="119211"/>
                  <a:pt x="185916" y="115431"/>
                </a:cubicBezTo>
                <a:close/>
                <a:moveTo>
                  <a:pt x="140494" y="123825"/>
                </a:moveTo>
                <a:cubicBezTo>
                  <a:pt x="140494" y="117254"/>
                  <a:pt x="145829" y="111919"/>
                  <a:pt x="152400" y="111919"/>
                </a:cubicBezTo>
                <a:cubicBezTo>
                  <a:pt x="158971" y="111919"/>
                  <a:pt x="164306" y="117254"/>
                  <a:pt x="164306" y="123825"/>
                </a:cubicBezTo>
                <a:cubicBezTo>
                  <a:pt x="164306" y="130396"/>
                  <a:pt x="158971" y="135731"/>
                  <a:pt x="152400" y="135731"/>
                </a:cubicBezTo>
                <a:cubicBezTo>
                  <a:pt x="145829" y="135731"/>
                  <a:pt x="140494" y="130396"/>
                  <a:pt x="140494" y="1238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38950" y="17145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角色体系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62700" y="2171700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571500"/>
                </a:lnTo>
                <a:cubicBezTo>
                  <a:pt x="5295900" y="613556"/>
                  <a:pt x="5261756" y="647700"/>
                  <a:pt x="5219700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6362700" y="2171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496050" y="23050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6" name="Shape 34"/>
          <p:cNvSpPr/>
          <p:nvPr/>
        </p:nvSpPr>
        <p:spPr>
          <a:xfrm>
            <a:off x="6600825" y="2419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91350" y="22860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ADMIN 管理员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91350" y="25146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系统管理、用户管理、全部权限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62700" y="2895600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571500"/>
                </a:lnTo>
                <a:cubicBezTo>
                  <a:pt x="5295900" y="613556"/>
                  <a:pt x="5261756" y="647700"/>
                  <a:pt x="5219700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0" name="Shape 38"/>
          <p:cNvSpPr/>
          <p:nvPr/>
        </p:nvSpPr>
        <p:spPr>
          <a:xfrm>
            <a:off x="6362700" y="2895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1" name="Shape 39"/>
          <p:cNvSpPr/>
          <p:nvPr/>
        </p:nvSpPr>
        <p:spPr>
          <a:xfrm>
            <a:off x="6496050" y="30289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42" name="Shape 40"/>
          <p:cNvSpPr/>
          <p:nvPr/>
        </p:nvSpPr>
        <p:spPr>
          <a:xfrm>
            <a:off x="6619875" y="31432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991350" y="30099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LIBRARIAN 馆员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91350" y="3238500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图书管理、借阅管理、公告发布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62700" y="3619500"/>
            <a:ext cx="5295900" cy="647700"/>
          </a:xfrm>
          <a:custGeom>
            <a:avLst/>
            <a:gdLst/>
            <a:ahLst/>
            <a:cxnLst/>
            <a:rect l="l" t="t" r="r" b="b"/>
            <a:pathLst>
              <a:path w="5295900" h="647700">
                <a:moveTo>
                  <a:pt x="38100" y="0"/>
                </a:moveTo>
                <a:lnTo>
                  <a:pt x="5219700" y="0"/>
                </a:lnTo>
                <a:cubicBezTo>
                  <a:pt x="5261756" y="0"/>
                  <a:pt x="5295900" y="34144"/>
                  <a:pt x="5295900" y="76200"/>
                </a:cubicBezTo>
                <a:lnTo>
                  <a:pt x="5295900" y="571500"/>
                </a:lnTo>
                <a:cubicBezTo>
                  <a:pt x="5295900" y="613556"/>
                  <a:pt x="5261756" y="647700"/>
                  <a:pt x="5219700" y="647700"/>
                </a:cubicBez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362700" y="36195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47" name="Shape 45"/>
          <p:cNvSpPr/>
          <p:nvPr/>
        </p:nvSpPr>
        <p:spPr>
          <a:xfrm>
            <a:off x="6496050" y="3752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48" name="Shape 46"/>
          <p:cNvSpPr/>
          <p:nvPr/>
        </p:nvSpPr>
        <p:spPr>
          <a:xfrm>
            <a:off x="6619875" y="38671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991350" y="373380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普通用户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91350" y="3962400"/>
            <a:ext cx="1800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借阅、预约、评论、个人业务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91250" y="4572000"/>
            <a:ext cx="5619750" cy="19431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43650" y="47244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48387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74384" y="19883"/>
                </a:moveTo>
                <a:cubicBezTo>
                  <a:pt x="77480" y="15627"/>
                  <a:pt x="76527" y="9674"/>
                  <a:pt x="72271" y="6578"/>
                </a:cubicBezTo>
                <a:cubicBezTo>
                  <a:pt x="68014" y="3483"/>
                  <a:pt x="62061" y="4435"/>
                  <a:pt x="58966" y="8692"/>
                </a:cubicBezTo>
                <a:lnTo>
                  <a:pt x="27414" y="52060"/>
                </a:lnTo>
                <a:lnTo>
                  <a:pt x="16252" y="40898"/>
                </a:lnTo>
                <a:cubicBezTo>
                  <a:pt x="12531" y="37177"/>
                  <a:pt x="6489" y="37177"/>
                  <a:pt x="2768" y="40898"/>
                </a:cubicBezTo>
                <a:cubicBezTo>
                  <a:pt x="-952" y="44619"/>
                  <a:pt x="-952" y="50661"/>
                  <a:pt x="2768" y="54382"/>
                </a:cubicBezTo>
                <a:lnTo>
                  <a:pt x="21818" y="73432"/>
                </a:lnTo>
                <a:cubicBezTo>
                  <a:pt x="23783" y="75396"/>
                  <a:pt x="26521" y="76408"/>
                  <a:pt x="29289" y="76200"/>
                </a:cubicBezTo>
                <a:cubicBezTo>
                  <a:pt x="32058" y="75992"/>
                  <a:pt x="34617" y="74563"/>
                  <a:pt x="36255" y="72301"/>
                </a:cubicBezTo>
                <a:lnTo>
                  <a:pt x="74355" y="19913"/>
                </a:lnTo>
                <a:close/>
                <a:moveTo>
                  <a:pt x="112484" y="60365"/>
                </a:moveTo>
                <a:cubicBezTo>
                  <a:pt x="115580" y="56108"/>
                  <a:pt x="114627" y="50155"/>
                  <a:pt x="110371" y="47059"/>
                </a:cubicBezTo>
                <a:cubicBezTo>
                  <a:pt x="106114" y="43964"/>
                  <a:pt x="100161" y="44916"/>
                  <a:pt x="97066" y="49173"/>
                </a:cubicBezTo>
                <a:lnTo>
                  <a:pt x="46464" y="118735"/>
                </a:lnTo>
                <a:lnTo>
                  <a:pt x="25777" y="98048"/>
                </a:lnTo>
                <a:cubicBezTo>
                  <a:pt x="22056" y="94327"/>
                  <a:pt x="16014" y="94327"/>
                  <a:pt x="12293" y="98048"/>
                </a:cubicBezTo>
                <a:cubicBezTo>
                  <a:pt x="8572" y="101769"/>
                  <a:pt x="8572" y="107811"/>
                  <a:pt x="12293" y="111532"/>
                </a:cubicBezTo>
                <a:lnTo>
                  <a:pt x="40868" y="140107"/>
                </a:lnTo>
                <a:cubicBezTo>
                  <a:pt x="42833" y="142071"/>
                  <a:pt x="45571" y="143083"/>
                  <a:pt x="48339" y="142875"/>
                </a:cubicBezTo>
                <a:cubicBezTo>
                  <a:pt x="51108" y="142667"/>
                  <a:pt x="53667" y="141238"/>
                  <a:pt x="55305" y="138976"/>
                </a:cubicBezTo>
                <a:lnTo>
                  <a:pt x="112455" y="6039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6838950" y="4762500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实现效果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72225" y="5257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56" name="Text 54"/>
          <p:cNvSpPr/>
          <p:nvPr/>
        </p:nvSpPr>
        <p:spPr>
          <a:xfrm>
            <a:off x="6610350" y="52197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管理类接口仅管理员或馆员可访问，防止越权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72225" y="5562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58" name="Text 56"/>
          <p:cNvSpPr/>
          <p:nvPr/>
        </p:nvSpPr>
        <p:spPr>
          <a:xfrm>
            <a:off x="6610350" y="55245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普通用户只能访问个人相关业务接口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72225" y="5867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60" name="Text 58"/>
          <p:cNvSpPr/>
          <p:nvPr/>
        </p:nvSpPr>
        <p:spPr>
          <a:xfrm>
            <a:off x="6610350" y="582930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通过@PreAuthorize实现细粒度权限控制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72225" y="617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62" name="Text 60"/>
          <p:cNvSpPr/>
          <p:nvPr/>
        </p:nvSpPr>
        <p:spPr>
          <a:xfrm>
            <a:off x="6610350" y="61341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C3E50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有效避免非法操作和未授权访问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2887" y="332887"/>
            <a:ext cx="66577" cy="33288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499331" y="332887"/>
            <a:ext cx="2246990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关键功能实现二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99331" y="732352"/>
            <a:ext cx="1144300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借阅、预约与通知业务流程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9331" y="965373"/>
            <a:ext cx="1143468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BORROW, RESERVATION &amp; NOTIFICATION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2887" y="1298261"/>
            <a:ext cx="11526225" cy="2163768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042" y="1431416"/>
            <a:ext cx="332887" cy="332887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8" name="Shape 6"/>
          <p:cNvSpPr/>
          <p:nvPr/>
        </p:nvSpPr>
        <p:spPr>
          <a:xfrm>
            <a:off x="565909" y="1531282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66577" y="39530"/>
                </a:moveTo>
                <a:cubicBezTo>
                  <a:pt x="79209" y="39530"/>
                  <a:pt x="89463" y="29275"/>
                  <a:pt x="89463" y="16644"/>
                </a:cubicBezTo>
                <a:cubicBezTo>
                  <a:pt x="89463" y="4013"/>
                  <a:pt x="79209" y="-6242"/>
                  <a:pt x="66577" y="-6242"/>
                </a:cubicBezTo>
                <a:cubicBezTo>
                  <a:pt x="53946" y="-6242"/>
                  <a:pt x="43691" y="4013"/>
                  <a:pt x="43691" y="16644"/>
                </a:cubicBezTo>
                <a:cubicBezTo>
                  <a:pt x="43691" y="29275"/>
                  <a:pt x="53946" y="39530"/>
                  <a:pt x="66577" y="39530"/>
                </a:cubicBezTo>
                <a:close/>
                <a:moveTo>
                  <a:pt x="66577" y="117213"/>
                </a:moveTo>
                <a:lnTo>
                  <a:pt x="66577" y="78385"/>
                </a:lnTo>
                <a:cubicBezTo>
                  <a:pt x="70817" y="76616"/>
                  <a:pt x="75134" y="74822"/>
                  <a:pt x="79503" y="73001"/>
                </a:cubicBezTo>
                <a:cubicBezTo>
                  <a:pt x="89646" y="68788"/>
                  <a:pt x="100516" y="66603"/>
                  <a:pt x="111517" y="66603"/>
                </a:cubicBezTo>
                <a:lnTo>
                  <a:pt x="116511" y="66603"/>
                </a:lnTo>
                <a:lnTo>
                  <a:pt x="116511" y="108214"/>
                </a:lnTo>
                <a:lnTo>
                  <a:pt x="111517" y="108214"/>
                </a:lnTo>
                <a:cubicBezTo>
                  <a:pt x="96147" y="108214"/>
                  <a:pt x="80907" y="111257"/>
                  <a:pt x="66708" y="117187"/>
                </a:cubicBezTo>
                <a:lnTo>
                  <a:pt x="66577" y="117239"/>
                </a:lnTo>
                <a:close/>
                <a:moveTo>
                  <a:pt x="66577" y="60336"/>
                </a:moveTo>
                <a:lnTo>
                  <a:pt x="60050" y="57605"/>
                </a:lnTo>
                <a:cubicBezTo>
                  <a:pt x="47879" y="52534"/>
                  <a:pt x="34823" y="49933"/>
                  <a:pt x="21638" y="49933"/>
                </a:cubicBezTo>
                <a:lnTo>
                  <a:pt x="12483" y="49933"/>
                </a:lnTo>
                <a:cubicBezTo>
                  <a:pt x="5591" y="49933"/>
                  <a:pt x="0" y="55525"/>
                  <a:pt x="0" y="62416"/>
                </a:cubicBezTo>
                <a:lnTo>
                  <a:pt x="0" y="112349"/>
                </a:lnTo>
                <a:cubicBezTo>
                  <a:pt x="0" y="119241"/>
                  <a:pt x="5591" y="124833"/>
                  <a:pt x="12483" y="124833"/>
                </a:cubicBezTo>
                <a:lnTo>
                  <a:pt x="21638" y="124833"/>
                </a:lnTo>
                <a:cubicBezTo>
                  <a:pt x="34823" y="124833"/>
                  <a:pt x="47879" y="127433"/>
                  <a:pt x="60050" y="132505"/>
                </a:cubicBezTo>
                <a:lnTo>
                  <a:pt x="63379" y="133883"/>
                </a:lnTo>
                <a:cubicBezTo>
                  <a:pt x="65433" y="134741"/>
                  <a:pt x="67722" y="134741"/>
                  <a:pt x="69776" y="133883"/>
                </a:cubicBezTo>
                <a:lnTo>
                  <a:pt x="73105" y="132505"/>
                </a:lnTo>
                <a:cubicBezTo>
                  <a:pt x="85276" y="127433"/>
                  <a:pt x="98332" y="124833"/>
                  <a:pt x="111517" y="124833"/>
                </a:cubicBezTo>
                <a:lnTo>
                  <a:pt x="120672" y="124833"/>
                </a:lnTo>
                <a:cubicBezTo>
                  <a:pt x="127563" y="124833"/>
                  <a:pt x="133155" y="119241"/>
                  <a:pt x="133155" y="112349"/>
                </a:cubicBezTo>
                <a:lnTo>
                  <a:pt x="133155" y="62416"/>
                </a:lnTo>
                <a:cubicBezTo>
                  <a:pt x="133155" y="55525"/>
                  <a:pt x="127563" y="49933"/>
                  <a:pt x="120672" y="49933"/>
                </a:cubicBezTo>
                <a:lnTo>
                  <a:pt x="111517" y="49933"/>
                </a:lnTo>
                <a:cubicBezTo>
                  <a:pt x="98332" y="49933"/>
                  <a:pt x="85276" y="52534"/>
                  <a:pt x="73105" y="57605"/>
                </a:cubicBezTo>
                <a:lnTo>
                  <a:pt x="66577" y="6033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98796" y="1464704"/>
            <a:ext cx="89879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借书流程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468" y="1864169"/>
            <a:ext cx="466042" cy="46604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6A085"/>
              </a:gs>
              <a:gs pos="100000">
                <a:srgbClr val="16A085">
                  <a:alpha val="80000"/>
                </a:srgbClr>
              </a:gs>
            </a:gsLst>
            <a:lin ang="2700000" scaled="1"/>
          </a:gradFill>
          <a:ln/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02110" y="1980680"/>
            <a:ext cx="149799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6915" y="2396789"/>
            <a:ext cx="18808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获取登录用户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180843" y="2130479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63388" y="90569"/>
                </a:moveTo>
                <a:cubicBezTo>
                  <a:pt x="167451" y="86505"/>
                  <a:pt x="167451" y="79906"/>
                  <a:pt x="163388" y="75842"/>
                </a:cubicBezTo>
                <a:lnTo>
                  <a:pt x="111374" y="23829"/>
                </a:lnTo>
                <a:cubicBezTo>
                  <a:pt x="107311" y="19765"/>
                  <a:pt x="100711" y="19765"/>
                  <a:pt x="96648" y="23829"/>
                </a:cubicBezTo>
                <a:cubicBezTo>
                  <a:pt x="92584" y="27892"/>
                  <a:pt x="92584" y="34492"/>
                  <a:pt x="96648" y="38555"/>
                </a:cubicBezTo>
                <a:lnTo>
                  <a:pt x="130912" y="72819"/>
                </a:lnTo>
                <a:lnTo>
                  <a:pt x="10403" y="72819"/>
                </a:lnTo>
                <a:cubicBezTo>
                  <a:pt x="4649" y="72819"/>
                  <a:pt x="0" y="77468"/>
                  <a:pt x="0" y="83222"/>
                </a:cubicBezTo>
                <a:cubicBezTo>
                  <a:pt x="0" y="88976"/>
                  <a:pt x="4649" y="93625"/>
                  <a:pt x="10403" y="93625"/>
                </a:cubicBezTo>
                <a:lnTo>
                  <a:pt x="130912" y="93625"/>
                </a:lnTo>
                <a:lnTo>
                  <a:pt x="96648" y="127889"/>
                </a:lnTo>
                <a:cubicBezTo>
                  <a:pt x="92584" y="131952"/>
                  <a:pt x="92584" y="138551"/>
                  <a:pt x="96648" y="142615"/>
                </a:cubicBezTo>
                <a:cubicBezTo>
                  <a:pt x="100711" y="146678"/>
                  <a:pt x="107311" y="146678"/>
                  <a:pt x="111374" y="142615"/>
                </a:cubicBezTo>
                <a:lnTo>
                  <a:pt x="163388" y="9060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4" name="Shape 12"/>
          <p:cNvSpPr/>
          <p:nvPr/>
        </p:nvSpPr>
        <p:spPr>
          <a:xfrm>
            <a:off x="4918619" y="1864169"/>
            <a:ext cx="466042" cy="46604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C3E50"/>
              </a:gs>
              <a:gs pos="100000">
                <a:srgbClr val="2C3E50">
                  <a:alpha val="80000"/>
                </a:srgbClr>
              </a:gs>
            </a:gsLst>
            <a:lin ang="2700000" scaled="1"/>
          </a:gradFill>
          <a:ln/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63217" y="1980680"/>
            <a:ext cx="174766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12066" y="2396789"/>
            <a:ext cx="18808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校验借阅限制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55994" y="2130479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63388" y="90569"/>
                </a:moveTo>
                <a:cubicBezTo>
                  <a:pt x="167451" y="86505"/>
                  <a:pt x="167451" y="79906"/>
                  <a:pt x="163388" y="75842"/>
                </a:cubicBezTo>
                <a:lnTo>
                  <a:pt x="111374" y="23829"/>
                </a:lnTo>
                <a:cubicBezTo>
                  <a:pt x="107311" y="19765"/>
                  <a:pt x="100711" y="19765"/>
                  <a:pt x="96648" y="23829"/>
                </a:cubicBezTo>
                <a:cubicBezTo>
                  <a:pt x="92584" y="27892"/>
                  <a:pt x="92584" y="34492"/>
                  <a:pt x="96648" y="38555"/>
                </a:cubicBezTo>
                <a:lnTo>
                  <a:pt x="130912" y="72819"/>
                </a:lnTo>
                <a:lnTo>
                  <a:pt x="10403" y="72819"/>
                </a:lnTo>
                <a:cubicBezTo>
                  <a:pt x="4649" y="72819"/>
                  <a:pt x="0" y="77468"/>
                  <a:pt x="0" y="83222"/>
                </a:cubicBezTo>
                <a:cubicBezTo>
                  <a:pt x="0" y="88976"/>
                  <a:pt x="4649" y="93625"/>
                  <a:pt x="10403" y="93625"/>
                </a:cubicBezTo>
                <a:lnTo>
                  <a:pt x="130912" y="93625"/>
                </a:lnTo>
                <a:lnTo>
                  <a:pt x="96648" y="127889"/>
                </a:lnTo>
                <a:cubicBezTo>
                  <a:pt x="92584" y="131952"/>
                  <a:pt x="92584" y="138551"/>
                  <a:pt x="96648" y="142615"/>
                </a:cubicBezTo>
                <a:cubicBezTo>
                  <a:pt x="100711" y="146678"/>
                  <a:pt x="107311" y="146678"/>
                  <a:pt x="111374" y="142615"/>
                </a:cubicBezTo>
                <a:lnTo>
                  <a:pt x="163388" y="9060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8" name="Shape 16"/>
          <p:cNvSpPr/>
          <p:nvPr/>
        </p:nvSpPr>
        <p:spPr>
          <a:xfrm>
            <a:off x="8693770" y="1864169"/>
            <a:ext cx="466042" cy="46604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67E22"/>
              </a:gs>
              <a:gs pos="100000">
                <a:srgbClr val="E67E22">
                  <a:alpha val="80000"/>
                </a:srgbClr>
              </a:gs>
            </a:gsLst>
            <a:lin ang="2700000" scaled="1"/>
          </a:gradFill>
          <a:ln/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836184" y="1980680"/>
            <a:ext cx="18308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987216" y="2396789"/>
            <a:ext cx="18808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校验图书库存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31145" y="2130479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63388" y="90569"/>
                </a:moveTo>
                <a:cubicBezTo>
                  <a:pt x="167451" y="86505"/>
                  <a:pt x="167451" y="79906"/>
                  <a:pt x="163388" y="75842"/>
                </a:cubicBezTo>
                <a:lnTo>
                  <a:pt x="111374" y="23829"/>
                </a:lnTo>
                <a:cubicBezTo>
                  <a:pt x="107311" y="19765"/>
                  <a:pt x="100711" y="19765"/>
                  <a:pt x="96648" y="23829"/>
                </a:cubicBezTo>
                <a:cubicBezTo>
                  <a:pt x="92584" y="27892"/>
                  <a:pt x="92584" y="34492"/>
                  <a:pt x="96648" y="38555"/>
                </a:cubicBezTo>
                <a:lnTo>
                  <a:pt x="130912" y="72819"/>
                </a:lnTo>
                <a:lnTo>
                  <a:pt x="10403" y="72819"/>
                </a:lnTo>
                <a:cubicBezTo>
                  <a:pt x="4649" y="72819"/>
                  <a:pt x="0" y="77468"/>
                  <a:pt x="0" y="83222"/>
                </a:cubicBezTo>
                <a:cubicBezTo>
                  <a:pt x="0" y="88976"/>
                  <a:pt x="4649" y="93625"/>
                  <a:pt x="10403" y="93625"/>
                </a:cubicBezTo>
                <a:lnTo>
                  <a:pt x="130912" y="93625"/>
                </a:lnTo>
                <a:lnTo>
                  <a:pt x="96648" y="127889"/>
                </a:lnTo>
                <a:cubicBezTo>
                  <a:pt x="92584" y="131952"/>
                  <a:pt x="92584" y="138551"/>
                  <a:pt x="96648" y="142615"/>
                </a:cubicBezTo>
                <a:cubicBezTo>
                  <a:pt x="100711" y="146678"/>
                  <a:pt x="107311" y="146678"/>
                  <a:pt x="111374" y="142615"/>
                </a:cubicBezTo>
                <a:lnTo>
                  <a:pt x="163388" y="9060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3468" y="2629810"/>
            <a:ext cx="466042" cy="46604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6A085"/>
              </a:gs>
              <a:gs pos="100000">
                <a:srgbClr val="16A085">
                  <a:alpha val="80000"/>
                </a:srgbClr>
              </a:gs>
            </a:gsLst>
            <a:lin ang="2700000" scaled="1"/>
          </a:gradFill>
          <a:ln/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6090" y="2746321"/>
            <a:ext cx="18308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6915" y="3162430"/>
            <a:ext cx="18808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检查重复借阅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180843" y="2896120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63388" y="90569"/>
                </a:moveTo>
                <a:cubicBezTo>
                  <a:pt x="167451" y="86505"/>
                  <a:pt x="167451" y="79906"/>
                  <a:pt x="163388" y="75842"/>
                </a:cubicBezTo>
                <a:lnTo>
                  <a:pt x="111374" y="23829"/>
                </a:lnTo>
                <a:cubicBezTo>
                  <a:pt x="107311" y="19765"/>
                  <a:pt x="100711" y="19765"/>
                  <a:pt x="96648" y="23829"/>
                </a:cubicBezTo>
                <a:cubicBezTo>
                  <a:pt x="92584" y="27892"/>
                  <a:pt x="92584" y="34492"/>
                  <a:pt x="96648" y="38555"/>
                </a:cubicBezTo>
                <a:lnTo>
                  <a:pt x="130912" y="72819"/>
                </a:lnTo>
                <a:lnTo>
                  <a:pt x="10403" y="72819"/>
                </a:lnTo>
                <a:cubicBezTo>
                  <a:pt x="4649" y="72819"/>
                  <a:pt x="0" y="77468"/>
                  <a:pt x="0" y="83222"/>
                </a:cubicBezTo>
                <a:cubicBezTo>
                  <a:pt x="0" y="88976"/>
                  <a:pt x="4649" y="93625"/>
                  <a:pt x="10403" y="93625"/>
                </a:cubicBezTo>
                <a:lnTo>
                  <a:pt x="130912" y="93625"/>
                </a:lnTo>
                <a:lnTo>
                  <a:pt x="96648" y="127889"/>
                </a:lnTo>
                <a:cubicBezTo>
                  <a:pt x="92584" y="131952"/>
                  <a:pt x="92584" y="138551"/>
                  <a:pt x="96648" y="142615"/>
                </a:cubicBezTo>
                <a:cubicBezTo>
                  <a:pt x="100711" y="146678"/>
                  <a:pt x="107311" y="146678"/>
                  <a:pt x="111374" y="142615"/>
                </a:cubicBezTo>
                <a:lnTo>
                  <a:pt x="163388" y="9060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6" name="Shape 24"/>
          <p:cNvSpPr/>
          <p:nvPr/>
        </p:nvSpPr>
        <p:spPr>
          <a:xfrm>
            <a:off x="4918619" y="2629810"/>
            <a:ext cx="466042" cy="46604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C3E50"/>
              </a:gs>
              <a:gs pos="100000">
                <a:srgbClr val="2C3E50">
                  <a:alpha val="80000"/>
                </a:srgbClr>
              </a:gs>
            </a:gsLst>
            <a:lin ang="2700000" scaled="1"/>
          </a:gradFill>
          <a:ln/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60304" y="2746321"/>
            <a:ext cx="18308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12066" y="3162430"/>
            <a:ext cx="18808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扣减可借库存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55994" y="2896120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163388" y="90569"/>
                </a:moveTo>
                <a:cubicBezTo>
                  <a:pt x="167451" y="86505"/>
                  <a:pt x="167451" y="79906"/>
                  <a:pt x="163388" y="75842"/>
                </a:cubicBezTo>
                <a:lnTo>
                  <a:pt x="111374" y="23829"/>
                </a:lnTo>
                <a:cubicBezTo>
                  <a:pt x="107311" y="19765"/>
                  <a:pt x="100711" y="19765"/>
                  <a:pt x="96648" y="23829"/>
                </a:cubicBezTo>
                <a:cubicBezTo>
                  <a:pt x="92584" y="27892"/>
                  <a:pt x="92584" y="34492"/>
                  <a:pt x="96648" y="38555"/>
                </a:cubicBezTo>
                <a:lnTo>
                  <a:pt x="130912" y="72819"/>
                </a:lnTo>
                <a:lnTo>
                  <a:pt x="10403" y="72819"/>
                </a:lnTo>
                <a:cubicBezTo>
                  <a:pt x="4649" y="72819"/>
                  <a:pt x="0" y="77468"/>
                  <a:pt x="0" y="83222"/>
                </a:cubicBezTo>
                <a:cubicBezTo>
                  <a:pt x="0" y="88976"/>
                  <a:pt x="4649" y="93625"/>
                  <a:pt x="10403" y="93625"/>
                </a:cubicBezTo>
                <a:lnTo>
                  <a:pt x="130912" y="93625"/>
                </a:lnTo>
                <a:lnTo>
                  <a:pt x="96648" y="127889"/>
                </a:lnTo>
                <a:cubicBezTo>
                  <a:pt x="92584" y="131952"/>
                  <a:pt x="92584" y="138551"/>
                  <a:pt x="96648" y="142615"/>
                </a:cubicBezTo>
                <a:cubicBezTo>
                  <a:pt x="100711" y="146678"/>
                  <a:pt x="107311" y="146678"/>
                  <a:pt x="111374" y="142615"/>
                </a:cubicBezTo>
                <a:lnTo>
                  <a:pt x="163388" y="90601"/>
                </a:ln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0" name="Shape 28"/>
          <p:cNvSpPr/>
          <p:nvPr/>
        </p:nvSpPr>
        <p:spPr>
          <a:xfrm>
            <a:off x="8693770" y="2629810"/>
            <a:ext cx="466042" cy="46604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67E22"/>
              </a:gs>
              <a:gs pos="100000">
                <a:srgbClr val="E67E22">
                  <a:alpha val="80000"/>
                </a:srgbClr>
              </a:gs>
            </a:gsLst>
            <a:lin ang="2700000" scaled="1"/>
          </a:gradFill>
          <a:ln/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835144" y="2746321"/>
            <a:ext cx="18308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87216" y="3162430"/>
            <a:ext cx="18808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1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生成借阅记录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32887" y="3561895"/>
            <a:ext cx="5692374" cy="2962698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042" y="3695050"/>
            <a:ext cx="332887" cy="332887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35" name="Shape 33"/>
          <p:cNvSpPr/>
          <p:nvPr/>
        </p:nvSpPr>
        <p:spPr>
          <a:xfrm>
            <a:off x="565909" y="3794916"/>
            <a:ext cx="133155" cy="133155"/>
          </a:xfrm>
          <a:custGeom>
            <a:avLst/>
            <a:gdLst/>
            <a:ahLst/>
            <a:cxnLst/>
            <a:rect l="l" t="t" r="r" b="b"/>
            <a:pathLst>
              <a:path w="133155" h="133155">
                <a:moveTo>
                  <a:pt x="66577" y="16644"/>
                </a:moveTo>
                <a:cubicBezTo>
                  <a:pt x="51806" y="16644"/>
                  <a:pt x="38516" y="23068"/>
                  <a:pt x="29362" y="33289"/>
                </a:cubicBezTo>
                <a:lnTo>
                  <a:pt x="41611" y="33289"/>
                </a:lnTo>
                <a:cubicBezTo>
                  <a:pt x="46214" y="33289"/>
                  <a:pt x="49933" y="37008"/>
                  <a:pt x="49933" y="41611"/>
                </a:cubicBezTo>
                <a:cubicBezTo>
                  <a:pt x="49933" y="46214"/>
                  <a:pt x="46214" y="49933"/>
                  <a:pt x="41611" y="49933"/>
                </a:cubicBezTo>
                <a:lnTo>
                  <a:pt x="8322" y="49933"/>
                </a:lnTo>
                <a:cubicBezTo>
                  <a:pt x="3719" y="49933"/>
                  <a:pt x="0" y="46214"/>
                  <a:pt x="0" y="41611"/>
                </a:cubicBezTo>
                <a:lnTo>
                  <a:pt x="0" y="8322"/>
                </a:lnTo>
                <a:cubicBezTo>
                  <a:pt x="0" y="3719"/>
                  <a:pt x="3719" y="0"/>
                  <a:pt x="8322" y="0"/>
                </a:cubicBezTo>
                <a:cubicBezTo>
                  <a:pt x="12925" y="0"/>
                  <a:pt x="16644" y="3719"/>
                  <a:pt x="16644" y="8322"/>
                </a:cubicBezTo>
                <a:lnTo>
                  <a:pt x="16644" y="22548"/>
                </a:lnTo>
                <a:cubicBezTo>
                  <a:pt x="28842" y="8738"/>
                  <a:pt x="46682" y="0"/>
                  <a:pt x="66577" y="0"/>
                </a:cubicBezTo>
                <a:cubicBezTo>
                  <a:pt x="103351" y="0"/>
                  <a:pt x="133155" y="29804"/>
                  <a:pt x="133155" y="66577"/>
                </a:cubicBezTo>
                <a:cubicBezTo>
                  <a:pt x="133155" y="103351"/>
                  <a:pt x="103351" y="133155"/>
                  <a:pt x="66577" y="133155"/>
                </a:cubicBezTo>
                <a:cubicBezTo>
                  <a:pt x="43952" y="133155"/>
                  <a:pt x="23952" y="121868"/>
                  <a:pt x="11937" y="104625"/>
                </a:cubicBezTo>
                <a:cubicBezTo>
                  <a:pt x="9310" y="100854"/>
                  <a:pt x="10221" y="95679"/>
                  <a:pt x="13992" y="93026"/>
                </a:cubicBezTo>
                <a:cubicBezTo>
                  <a:pt x="17763" y="90374"/>
                  <a:pt x="22938" y="91310"/>
                  <a:pt x="25591" y="95081"/>
                </a:cubicBezTo>
                <a:cubicBezTo>
                  <a:pt x="34641" y="108032"/>
                  <a:pt x="49621" y="116485"/>
                  <a:pt x="66577" y="116485"/>
                </a:cubicBezTo>
                <a:cubicBezTo>
                  <a:pt x="94145" y="116485"/>
                  <a:pt x="116511" y="94119"/>
                  <a:pt x="116511" y="66551"/>
                </a:cubicBezTo>
                <a:cubicBezTo>
                  <a:pt x="116511" y="38984"/>
                  <a:pt x="94145" y="16644"/>
                  <a:pt x="66577" y="166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98796" y="3728339"/>
            <a:ext cx="89879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还书流程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6042" y="4127803"/>
            <a:ext cx="5426064" cy="399465"/>
          </a:xfrm>
          <a:prstGeom prst="roundRect">
            <a:avLst>
              <a:gd name="adj" fmla="val 16667"/>
            </a:avLst>
          </a:prstGeom>
          <a:solidFill>
            <a:srgbClr val="16A085">
              <a:alpha val="5098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32620" y="4194381"/>
            <a:ext cx="266310" cy="26631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9" name="Text 37"/>
          <p:cNvSpPr/>
          <p:nvPr/>
        </p:nvSpPr>
        <p:spPr>
          <a:xfrm>
            <a:off x="642785" y="4244314"/>
            <a:ext cx="108188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98796" y="4227670"/>
            <a:ext cx="86550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查询借阅记录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6042" y="4593846"/>
            <a:ext cx="5426064" cy="399465"/>
          </a:xfrm>
          <a:prstGeom prst="roundRect">
            <a:avLst>
              <a:gd name="adj" fmla="val 16667"/>
            </a:avLst>
          </a:prstGeom>
          <a:solidFill>
            <a:srgbClr val="2C3E50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2620" y="4660423"/>
            <a:ext cx="266310" cy="26631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43" name="Text 41"/>
          <p:cNvSpPr/>
          <p:nvPr/>
        </p:nvSpPr>
        <p:spPr>
          <a:xfrm>
            <a:off x="633006" y="4710356"/>
            <a:ext cx="124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98796" y="4693712"/>
            <a:ext cx="86550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校验归还权限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66042" y="5059888"/>
            <a:ext cx="5426064" cy="399465"/>
          </a:xfrm>
          <a:prstGeom prst="roundRect">
            <a:avLst>
              <a:gd name="adj" fmla="val 16667"/>
            </a:avLst>
          </a:prstGeom>
          <a:solidFill>
            <a:srgbClr val="E67E22">
              <a:alpha val="5098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2620" y="5126466"/>
            <a:ext cx="266310" cy="26631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47" name="Text 45"/>
          <p:cNvSpPr/>
          <p:nvPr/>
        </p:nvSpPr>
        <p:spPr>
          <a:xfrm>
            <a:off x="631446" y="5176399"/>
            <a:ext cx="124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8796" y="5159754"/>
            <a:ext cx="1264972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更新状态和归还时间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66042" y="5525930"/>
            <a:ext cx="5426064" cy="399465"/>
          </a:xfrm>
          <a:prstGeom prst="roundRect">
            <a:avLst>
              <a:gd name="adj" fmla="val 16667"/>
            </a:avLst>
          </a:prstGeom>
          <a:solidFill>
            <a:srgbClr val="16A085">
              <a:alpha val="5098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32620" y="5592508"/>
            <a:ext cx="266310" cy="26631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51" name="Text 49"/>
          <p:cNvSpPr/>
          <p:nvPr/>
        </p:nvSpPr>
        <p:spPr>
          <a:xfrm>
            <a:off x="631550" y="5642441"/>
            <a:ext cx="124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98796" y="5625797"/>
            <a:ext cx="86550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恢复可借库存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66042" y="5991973"/>
            <a:ext cx="5426064" cy="399465"/>
          </a:xfrm>
          <a:prstGeom prst="roundRect">
            <a:avLst>
              <a:gd name="adj" fmla="val 16667"/>
            </a:avLst>
          </a:prstGeom>
          <a:solidFill>
            <a:srgbClr val="2C3E50">
              <a:alpha val="5098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32620" y="6058550"/>
            <a:ext cx="266310" cy="266310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55" name="Text 53"/>
          <p:cNvSpPr/>
          <p:nvPr/>
        </p:nvSpPr>
        <p:spPr>
          <a:xfrm>
            <a:off x="630926" y="6108483"/>
            <a:ext cx="12483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98796" y="6091839"/>
            <a:ext cx="1131817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逾期联动罚款逻辑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162057" y="3561895"/>
            <a:ext cx="5692374" cy="2962698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295212" y="3695050"/>
            <a:ext cx="332887" cy="332887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59" name="Shape 57"/>
          <p:cNvSpPr/>
          <p:nvPr/>
        </p:nvSpPr>
        <p:spPr>
          <a:xfrm>
            <a:off x="6386756" y="3794916"/>
            <a:ext cx="149799" cy="133155"/>
          </a:xfrm>
          <a:custGeom>
            <a:avLst/>
            <a:gdLst/>
            <a:ahLst/>
            <a:cxnLst/>
            <a:rect l="l" t="t" r="r" b="b"/>
            <a:pathLst>
              <a:path w="149799" h="133155">
                <a:moveTo>
                  <a:pt x="109099" y="24967"/>
                </a:moveTo>
                <a:cubicBezTo>
                  <a:pt x="104782" y="24967"/>
                  <a:pt x="100594" y="26137"/>
                  <a:pt x="96927" y="28269"/>
                </a:cubicBezTo>
                <a:cubicBezTo>
                  <a:pt x="92818" y="24108"/>
                  <a:pt x="88033" y="20623"/>
                  <a:pt x="82754" y="17997"/>
                </a:cubicBezTo>
                <a:cubicBezTo>
                  <a:pt x="90088" y="11755"/>
                  <a:pt x="99424" y="8322"/>
                  <a:pt x="109099" y="8322"/>
                </a:cubicBezTo>
                <a:cubicBezTo>
                  <a:pt x="131569" y="8322"/>
                  <a:pt x="149799" y="26527"/>
                  <a:pt x="149799" y="49023"/>
                </a:cubicBezTo>
                <a:cubicBezTo>
                  <a:pt x="149799" y="59816"/>
                  <a:pt x="145508" y="70166"/>
                  <a:pt x="137888" y="77786"/>
                </a:cubicBezTo>
                <a:lnTo>
                  <a:pt x="119397" y="96277"/>
                </a:lnTo>
                <a:cubicBezTo>
                  <a:pt x="111777" y="103897"/>
                  <a:pt x="101427" y="108188"/>
                  <a:pt x="90634" y="108188"/>
                </a:cubicBezTo>
                <a:cubicBezTo>
                  <a:pt x="68164" y="108188"/>
                  <a:pt x="49933" y="89984"/>
                  <a:pt x="49933" y="67488"/>
                </a:cubicBezTo>
                <a:cubicBezTo>
                  <a:pt x="49933" y="67098"/>
                  <a:pt x="49933" y="66708"/>
                  <a:pt x="49959" y="66317"/>
                </a:cubicBezTo>
                <a:cubicBezTo>
                  <a:pt x="50089" y="61714"/>
                  <a:pt x="53912" y="58099"/>
                  <a:pt x="58515" y="58229"/>
                </a:cubicBezTo>
                <a:cubicBezTo>
                  <a:pt x="63119" y="58359"/>
                  <a:pt x="66734" y="62182"/>
                  <a:pt x="66603" y="66786"/>
                </a:cubicBezTo>
                <a:cubicBezTo>
                  <a:pt x="66603" y="67020"/>
                  <a:pt x="66603" y="67254"/>
                  <a:pt x="66603" y="67462"/>
                </a:cubicBezTo>
                <a:cubicBezTo>
                  <a:pt x="66603" y="80751"/>
                  <a:pt x="77370" y="91518"/>
                  <a:pt x="90660" y="91518"/>
                </a:cubicBezTo>
                <a:cubicBezTo>
                  <a:pt x="97031" y="91518"/>
                  <a:pt x="103143" y="88995"/>
                  <a:pt x="107668" y="84470"/>
                </a:cubicBezTo>
                <a:lnTo>
                  <a:pt x="126159" y="65979"/>
                </a:lnTo>
                <a:cubicBezTo>
                  <a:pt x="130658" y="61480"/>
                  <a:pt x="133207" y="55343"/>
                  <a:pt x="133207" y="48971"/>
                </a:cubicBezTo>
                <a:cubicBezTo>
                  <a:pt x="133207" y="35681"/>
                  <a:pt x="122440" y="24915"/>
                  <a:pt x="109151" y="24915"/>
                </a:cubicBezTo>
                <a:close/>
                <a:moveTo>
                  <a:pt x="71571" y="45070"/>
                </a:moveTo>
                <a:cubicBezTo>
                  <a:pt x="71077" y="44862"/>
                  <a:pt x="70583" y="44576"/>
                  <a:pt x="70140" y="44264"/>
                </a:cubicBezTo>
                <a:cubicBezTo>
                  <a:pt x="66864" y="42573"/>
                  <a:pt x="63119" y="41611"/>
                  <a:pt x="59192" y="41611"/>
                </a:cubicBezTo>
                <a:cubicBezTo>
                  <a:pt x="52820" y="41611"/>
                  <a:pt x="46708" y="44134"/>
                  <a:pt x="42183" y="48659"/>
                </a:cubicBezTo>
                <a:lnTo>
                  <a:pt x="23692" y="67150"/>
                </a:lnTo>
                <a:cubicBezTo>
                  <a:pt x="19193" y="71649"/>
                  <a:pt x="16644" y="77786"/>
                  <a:pt x="16644" y="84158"/>
                </a:cubicBezTo>
                <a:cubicBezTo>
                  <a:pt x="16644" y="97448"/>
                  <a:pt x="27411" y="108214"/>
                  <a:pt x="40701" y="108214"/>
                </a:cubicBezTo>
                <a:cubicBezTo>
                  <a:pt x="44992" y="108214"/>
                  <a:pt x="49179" y="107070"/>
                  <a:pt x="52846" y="104938"/>
                </a:cubicBezTo>
                <a:cubicBezTo>
                  <a:pt x="56955" y="109099"/>
                  <a:pt x="61740" y="112584"/>
                  <a:pt x="67046" y="115210"/>
                </a:cubicBezTo>
                <a:cubicBezTo>
                  <a:pt x="59712" y="121426"/>
                  <a:pt x="50401" y="124885"/>
                  <a:pt x="40701" y="124885"/>
                </a:cubicBezTo>
                <a:cubicBezTo>
                  <a:pt x="18231" y="124885"/>
                  <a:pt x="0" y="106680"/>
                  <a:pt x="0" y="84184"/>
                </a:cubicBezTo>
                <a:cubicBezTo>
                  <a:pt x="0" y="73391"/>
                  <a:pt x="4291" y="63041"/>
                  <a:pt x="11911" y="55421"/>
                </a:cubicBezTo>
                <a:lnTo>
                  <a:pt x="30402" y="36930"/>
                </a:lnTo>
                <a:cubicBezTo>
                  <a:pt x="38022" y="29310"/>
                  <a:pt x="48373" y="25019"/>
                  <a:pt x="59166" y="25019"/>
                </a:cubicBezTo>
                <a:cubicBezTo>
                  <a:pt x="81687" y="25019"/>
                  <a:pt x="99866" y="43379"/>
                  <a:pt x="99866" y="65823"/>
                </a:cubicBezTo>
                <a:cubicBezTo>
                  <a:pt x="99866" y="66161"/>
                  <a:pt x="99866" y="66499"/>
                  <a:pt x="99866" y="66838"/>
                </a:cubicBezTo>
                <a:cubicBezTo>
                  <a:pt x="99762" y="71441"/>
                  <a:pt x="95939" y="75056"/>
                  <a:pt x="91336" y="74952"/>
                </a:cubicBezTo>
                <a:cubicBezTo>
                  <a:pt x="86733" y="74848"/>
                  <a:pt x="83118" y="71025"/>
                  <a:pt x="83222" y="66421"/>
                </a:cubicBezTo>
                <a:cubicBezTo>
                  <a:pt x="83222" y="66213"/>
                  <a:pt x="83222" y="66031"/>
                  <a:pt x="83222" y="65823"/>
                </a:cubicBezTo>
                <a:cubicBezTo>
                  <a:pt x="83222" y="57059"/>
                  <a:pt x="78541" y="49361"/>
                  <a:pt x="71571" y="451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727966" y="3728339"/>
            <a:ext cx="89879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扩展联动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11857" y="4127803"/>
            <a:ext cx="5409420" cy="565909"/>
          </a:xfrm>
          <a:custGeom>
            <a:avLst/>
            <a:gdLst/>
            <a:ahLst/>
            <a:cxnLst/>
            <a:rect l="l" t="t" r="r" b="b"/>
            <a:pathLst>
              <a:path w="5409420" h="565909">
                <a:moveTo>
                  <a:pt x="33274" y="0"/>
                </a:moveTo>
                <a:lnTo>
                  <a:pt x="5342890" y="0"/>
                </a:lnTo>
                <a:cubicBezTo>
                  <a:pt x="5379643" y="0"/>
                  <a:pt x="5409438" y="29795"/>
                  <a:pt x="5409438" y="66548"/>
                </a:cubicBezTo>
                <a:lnTo>
                  <a:pt x="5409438" y="499364"/>
                </a:lnTo>
                <a:cubicBezTo>
                  <a:pt x="5409438" y="536117"/>
                  <a:pt x="5379643" y="565912"/>
                  <a:pt x="5342890" y="565912"/>
                </a:cubicBezTo>
                <a:lnTo>
                  <a:pt x="33274" y="565912"/>
                </a:lnTo>
                <a:cubicBezTo>
                  <a:pt x="14897" y="565912"/>
                  <a:pt x="0" y="551015"/>
                  <a:pt x="0" y="53263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gradFill flip="none" rotWithShape="1">
            <a:gsLst>
              <a:gs pos="0">
                <a:srgbClr val="16A085">
                  <a:alpha val="10000"/>
                </a:srgbClr>
              </a:gs>
              <a:gs pos="100000">
                <a:srgbClr val="16A085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62" name="Shape 60"/>
          <p:cNvSpPr/>
          <p:nvPr/>
        </p:nvSpPr>
        <p:spPr>
          <a:xfrm>
            <a:off x="6311857" y="4127803"/>
            <a:ext cx="33289" cy="565909"/>
          </a:xfrm>
          <a:custGeom>
            <a:avLst/>
            <a:gdLst/>
            <a:ahLst/>
            <a:cxnLst/>
            <a:rect l="l" t="t" r="r" b="b"/>
            <a:pathLst>
              <a:path w="33289" h="565909">
                <a:moveTo>
                  <a:pt x="33274" y="0"/>
                </a:moveTo>
                <a:lnTo>
                  <a:pt x="33274" y="0"/>
                </a:lnTo>
                <a:lnTo>
                  <a:pt x="33274" y="565912"/>
                </a:lnTo>
                <a:lnTo>
                  <a:pt x="33274" y="565912"/>
                </a:lnTo>
                <a:cubicBezTo>
                  <a:pt x="14897" y="565912"/>
                  <a:pt x="0" y="551015"/>
                  <a:pt x="0" y="53263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63" name="Shape 61"/>
          <p:cNvSpPr/>
          <p:nvPr/>
        </p:nvSpPr>
        <p:spPr>
          <a:xfrm>
            <a:off x="6449173" y="4260958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129153" y="0"/>
                  <a:pt x="166444" y="37290"/>
                  <a:pt x="166444" y="83222"/>
                </a:cubicBezTo>
                <a:cubicBezTo>
                  <a:pt x="166444" y="129153"/>
                  <a:pt x="129153" y="166444"/>
                  <a:pt x="83222" y="166444"/>
                </a:cubicBezTo>
                <a:cubicBezTo>
                  <a:pt x="37290" y="166444"/>
                  <a:pt x="0" y="129153"/>
                  <a:pt x="0" y="83222"/>
                </a:cubicBezTo>
                <a:cubicBezTo>
                  <a:pt x="0" y="37290"/>
                  <a:pt x="37290" y="0"/>
                  <a:pt x="83222" y="0"/>
                </a:cubicBezTo>
                <a:close/>
                <a:moveTo>
                  <a:pt x="75420" y="39010"/>
                </a:moveTo>
                <a:lnTo>
                  <a:pt x="75420" y="83222"/>
                </a:lnTo>
                <a:cubicBezTo>
                  <a:pt x="75420" y="85823"/>
                  <a:pt x="76720" y="88261"/>
                  <a:pt x="78898" y="89724"/>
                </a:cubicBezTo>
                <a:lnTo>
                  <a:pt x="110106" y="110529"/>
                </a:lnTo>
                <a:cubicBezTo>
                  <a:pt x="113682" y="112935"/>
                  <a:pt x="118526" y="111959"/>
                  <a:pt x="120932" y="108351"/>
                </a:cubicBezTo>
                <a:cubicBezTo>
                  <a:pt x="123337" y="104742"/>
                  <a:pt x="122362" y="99931"/>
                  <a:pt x="118754" y="97526"/>
                </a:cubicBezTo>
                <a:lnTo>
                  <a:pt x="91024" y="79061"/>
                </a:lnTo>
                <a:lnTo>
                  <a:pt x="91024" y="39010"/>
                </a:lnTo>
                <a:cubicBezTo>
                  <a:pt x="91024" y="34687"/>
                  <a:pt x="87545" y="31208"/>
                  <a:pt x="83222" y="31208"/>
                </a:cubicBezTo>
                <a:cubicBezTo>
                  <a:pt x="78898" y="31208"/>
                  <a:pt x="75420" y="34687"/>
                  <a:pt x="75420" y="3901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64" name="Text 62"/>
          <p:cNvSpPr/>
          <p:nvPr/>
        </p:nvSpPr>
        <p:spPr>
          <a:xfrm>
            <a:off x="6736288" y="4227670"/>
            <a:ext cx="1464704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预约排队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736288" y="4427402"/>
            <a:ext cx="1456382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热门图书支持预约排队机制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11857" y="4793578"/>
            <a:ext cx="5409420" cy="565909"/>
          </a:xfrm>
          <a:custGeom>
            <a:avLst/>
            <a:gdLst/>
            <a:ahLst/>
            <a:cxnLst/>
            <a:rect l="l" t="t" r="r" b="b"/>
            <a:pathLst>
              <a:path w="5409420" h="565909">
                <a:moveTo>
                  <a:pt x="33274" y="0"/>
                </a:moveTo>
                <a:lnTo>
                  <a:pt x="5342890" y="0"/>
                </a:lnTo>
                <a:cubicBezTo>
                  <a:pt x="5379643" y="0"/>
                  <a:pt x="5409438" y="29795"/>
                  <a:pt x="5409438" y="66548"/>
                </a:cubicBezTo>
                <a:lnTo>
                  <a:pt x="5409438" y="499364"/>
                </a:lnTo>
                <a:cubicBezTo>
                  <a:pt x="5409438" y="536117"/>
                  <a:pt x="5379643" y="565912"/>
                  <a:pt x="5342890" y="565912"/>
                </a:cubicBezTo>
                <a:lnTo>
                  <a:pt x="33274" y="565912"/>
                </a:lnTo>
                <a:cubicBezTo>
                  <a:pt x="14897" y="565912"/>
                  <a:pt x="0" y="551015"/>
                  <a:pt x="0" y="53263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10000"/>
                </a:srgbClr>
              </a:gs>
              <a:gs pos="100000">
                <a:srgbClr val="2C3E50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6311857" y="4793578"/>
            <a:ext cx="33289" cy="565909"/>
          </a:xfrm>
          <a:custGeom>
            <a:avLst/>
            <a:gdLst/>
            <a:ahLst/>
            <a:cxnLst/>
            <a:rect l="l" t="t" r="r" b="b"/>
            <a:pathLst>
              <a:path w="33289" h="565909">
                <a:moveTo>
                  <a:pt x="33274" y="0"/>
                </a:moveTo>
                <a:lnTo>
                  <a:pt x="33274" y="0"/>
                </a:lnTo>
                <a:lnTo>
                  <a:pt x="33274" y="565912"/>
                </a:lnTo>
                <a:lnTo>
                  <a:pt x="33274" y="565912"/>
                </a:lnTo>
                <a:cubicBezTo>
                  <a:pt x="14897" y="565912"/>
                  <a:pt x="0" y="551015"/>
                  <a:pt x="0" y="53263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8" name="Shape 66"/>
          <p:cNvSpPr/>
          <p:nvPr/>
        </p:nvSpPr>
        <p:spPr>
          <a:xfrm>
            <a:off x="6459575" y="4926733"/>
            <a:ext cx="145638" cy="166444"/>
          </a:xfrm>
          <a:custGeom>
            <a:avLst/>
            <a:gdLst/>
            <a:ahLst/>
            <a:cxnLst/>
            <a:rect l="l" t="t" r="r" b="b"/>
            <a:pathLst>
              <a:path w="145638" h="166444">
                <a:moveTo>
                  <a:pt x="72819" y="0"/>
                </a:moveTo>
                <a:cubicBezTo>
                  <a:pt x="67065" y="0"/>
                  <a:pt x="62416" y="4649"/>
                  <a:pt x="62416" y="10403"/>
                </a:cubicBezTo>
                <a:lnTo>
                  <a:pt x="62416" y="11443"/>
                </a:lnTo>
                <a:cubicBezTo>
                  <a:pt x="38685" y="16254"/>
                  <a:pt x="20805" y="37255"/>
                  <a:pt x="20805" y="62416"/>
                </a:cubicBezTo>
                <a:lnTo>
                  <a:pt x="20805" y="69471"/>
                </a:lnTo>
                <a:cubicBezTo>
                  <a:pt x="20805" y="85107"/>
                  <a:pt x="15474" y="100289"/>
                  <a:pt x="5722" y="112512"/>
                </a:cubicBezTo>
                <a:lnTo>
                  <a:pt x="2536" y="116478"/>
                </a:lnTo>
                <a:cubicBezTo>
                  <a:pt x="878" y="118526"/>
                  <a:pt x="0" y="121062"/>
                  <a:pt x="0" y="123695"/>
                </a:cubicBezTo>
                <a:cubicBezTo>
                  <a:pt x="0" y="130067"/>
                  <a:pt x="5169" y="135235"/>
                  <a:pt x="11541" y="135235"/>
                </a:cubicBezTo>
                <a:lnTo>
                  <a:pt x="134065" y="135235"/>
                </a:lnTo>
                <a:cubicBezTo>
                  <a:pt x="140437" y="135235"/>
                  <a:pt x="145606" y="130067"/>
                  <a:pt x="145606" y="123695"/>
                </a:cubicBezTo>
                <a:cubicBezTo>
                  <a:pt x="145606" y="121062"/>
                  <a:pt x="144728" y="118526"/>
                  <a:pt x="143070" y="116478"/>
                </a:cubicBezTo>
                <a:lnTo>
                  <a:pt x="139884" y="112512"/>
                </a:lnTo>
                <a:cubicBezTo>
                  <a:pt x="130164" y="100289"/>
                  <a:pt x="124833" y="85107"/>
                  <a:pt x="124833" y="69471"/>
                </a:cubicBezTo>
                <a:lnTo>
                  <a:pt x="124833" y="62416"/>
                </a:lnTo>
                <a:cubicBezTo>
                  <a:pt x="124833" y="37255"/>
                  <a:pt x="106953" y="16254"/>
                  <a:pt x="83222" y="11443"/>
                </a:cubicBezTo>
                <a:lnTo>
                  <a:pt x="83222" y="10403"/>
                </a:lnTo>
                <a:cubicBezTo>
                  <a:pt x="83222" y="4649"/>
                  <a:pt x="78573" y="0"/>
                  <a:pt x="72819" y="0"/>
                </a:cubicBezTo>
                <a:close/>
                <a:moveTo>
                  <a:pt x="52664" y="150840"/>
                </a:moveTo>
                <a:cubicBezTo>
                  <a:pt x="54972" y="159812"/>
                  <a:pt x="63132" y="166444"/>
                  <a:pt x="72819" y="166444"/>
                </a:cubicBezTo>
                <a:cubicBezTo>
                  <a:pt x="82507" y="166444"/>
                  <a:pt x="90666" y="159812"/>
                  <a:pt x="92974" y="150840"/>
                </a:cubicBezTo>
                <a:lnTo>
                  <a:pt x="52664" y="15084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9" name="Text 67"/>
          <p:cNvSpPr/>
          <p:nvPr/>
        </p:nvSpPr>
        <p:spPr>
          <a:xfrm>
            <a:off x="6736288" y="4893444"/>
            <a:ext cx="1814236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通知提醒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6736288" y="5093177"/>
            <a:ext cx="1805914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到期提醒、逾期提醒、借还书通知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311857" y="5459353"/>
            <a:ext cx="5409420" cy="565909"/>
          </a:xfrm>
          <a:custGeom>
            <a:avLst/>
            <a:gdLst/>
            <a:ahLst/>
            <a:cxnLst/>
            <a:rect l="l" t="t" r="r" b="b"/>
            <a:pathLst>
              <a:path w="5409420" h="565909">
                <a:moveTo>
                  <a:pt x="33274" y="0"/>
                </a:moveTo>
                <a:lnTo>
                  <a:pt x="5342890" y="0"/>
                </a:lnTo>
                <a:cubicBezTo>
                  <a:pt x="5379643" y="0"/>
                  <a:pt x="5409438" y="29795"/>
                  <a:pt x="5409438" y="66548"/>
                </a:cubicBezTo>
                <a:lnTo>
                  <a:pt x="5409438" y="499364"/>
                </a:lnTo>
                <a:cubicBezTo>
                  <a:pt x="5409438" y="536117"/>
                  <a:pt x="5379643" y="565912"/>
                  <a:pt x="5342890" y="565912"/>
                </a:cubicBezTo>
                <a:lnTo>
                  <a:pt x="33274" y="565912"/>
                </a:lnTo>
                <a:cubicBezTo>
                  <a:pt x="14897" y="565912"/>
                  <a:pt x="0" y="551015"/>
                  <a:pt x="0" y="53263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gradFill flip="none" rotWithShape="1">
            <a:gsLst>
              <a:gs pos="0">
                <a:srgbClr val="E67E22">
                  <a:alpha val="10000"/>
                </a:srgbClr>
              </a:gs>
              <a:gs pos="100000">
                <a:srgbClr val="E67E22">
                  <a:alpha val="5000"/>
                </a:srgbClr>
              </a:gs>
            </a:gsLst>
            <a:lin ang="0" scaled="1"/>
          </a:gradFill>
          <a:ln/>
        </p:spPr>
      </p:sp>
      <p:sp>
        <p:nvSpPr>
          <p:cNvPr id="72" name="Shape 70"/>
          <p:cNvSpPr/>
          <p:nvPr/>
        </p:nvSpPr>
        <p:spPr>
          <a:xfrm>
            <a:off x="6311857" y="5459353"/>
            <a:ext cx="33289" cy="565909"/>
          </a:xfrm>
          <a:custGeom>
            <a:avLst/>
            <a:gdLst/>
            <a:ahLst/>
            <a:cxnLst/>
            <a:rect l="l" t="t" r="r" b="b"/>
            <a:pathLst>
              <a:path w="33289" h="565909">
                <a:moveTo>
                  <a:pt x="33274" y="0"/>
                </a:moveTo>
                <a:lnTo>
                  <a:pt x="33274" y="0"/>
                </a:lnTo>
                <a:lnTo>
                  <a:pt x="33274" y="565912"/>
                </a:lnTo>
                <a:lnTo>
                  <a:pt x="33274" y="565912"/>
                </a:lnTo>
                <a:cubicBezTo>
                  <a:pt x="14897" y="565912"/>
                  <a:pt x="0" y="551015"/>
                  <a:pt x="0" y="532638"/>
                </a:cubicBezTo>
                <a:lnTo>
                  <a:pt x="0" y="33274"/>
                </a:lnTo>
                <a:cubicBezTo>
                  <a:pt x="0" y="14910"/>
                  <a:pt x="14910" y="0"/>
                  <a:pt x="33274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73" name="Shape 71"/>
          <p:cNvSpPr/>
          <p:nvPr/>
        </p:nvSpPr>
        <p:spPr>
          <a:xfrm>
            <a:off x="6449173" y="5592508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0" y="136406"/>
                </a:moveTo>
                <a:lnTo>
                  <a:pt x="0" y="35597"/>
                </a:lnTo>
                <a:cubicBezTo>
                  <a:pt x="0" y="28055"/>
                  <a:pt x="7835" y="23049"/>
                  <a:pt x="15051" y="25194"/>
                </a:cubicBezTo>
                <a:cubicBezTo>
                  <a:pt x="43561" y="33711"/>
                  <a:pt x="63717" y="26982"/>
                  <a:pt x="84002" y="20220"/>
                </a:cubicBezTo>
                <a:cubicBezTo>
                  <a:pt x="104970" y="13231"/>
                  <a:pt x="126068" y="6209"/>
                  <a:pt x="156594" y="15962"/>
                </a:cubicBezTo>
                <a:cubicBezTo>
                  <a:pt x="162608" y="17880"/>
                  <a:pt x="166444" y="23699"/>
                  <a:pt x="166444" y="30038"/>
                </a:cubicBezTo>
                <a:lnTo>
                  <a:pt x="166444" y="130847"/>
                </a:lnTo>
                <a:cubicBezTo>
                  <a:pt x="166444" y="138389"/>
                  <a:pt x="158609" y="143395"/>
                  <a:pt x="151425" y="141250"/>
                </a:cubicBezTo>
                <a:cubicBezTo>
                  <a:pt x="122915" y="132732"/>
                  <a:pt x="102727" y="139462"/>
                  <a:pt x="82474" y="146223"/>
                </a:cubicBezTo>
                <a:cubicBezTo>
                  <a:pt x="61506" y="153213"/>
                  <a:pt x="40408" y="160235"/>
                  <a:pt x="9883" y="150482"/>
                </a:cubicBezTo>
                <a:cubicBezTo>
                  <a:pt x="3869" y="148564"/>
                  <a:pt x="33" y="142745"/>
                  <a:pt x="33" y="136406"/>
                </a:cubicBezTo>
                <a:close/>
                <a:moveTo>
                  <a:pt x="109229" y="83222"/>
                </a:moveTo>
                <a:cubicBezTo>
                  <a:pt x="109229" y="65992"/>
                  <a:pt x="97591" y="52014"/>
                  <a:pt x="83222" y="52014"/>
                </a:cubicBezTo>
                <a:cubicBezTo>
                  <a:pt x="68853" y="52014"/>
                  <a:pt x="57215" y="65992"/>
                  <a:pt x="57215" y="83222"/>
                </a:cubicBezTo>
                <a:cubicBezTo>
                  <a:pt x="57215" y="100451"/>
                  <a:pt x="68853" y="114430"/>
                  <a:pt x="83222" y="114430"/>
                </a:cubicBezTo>
                <a:cubicBezTo>
                  <a:pt x="97591" y="114430"/>
                  <a:pt x="109229" y="100451"/>
                  <a:pt x="109229" y="83222"/>
                </a:cubicBezTo>
                <a:close/>
                <a:moveTo>
                  <a:pt x="39010" y="134455"/>
                </a:moveTo>
                <a:cubicBezTo>
                  <a:pt x="40441" y="134455"/>
                  <a:pt x="41578" y="133220"/>
                  <a:pt x="41351" y="131822"/>
                </a:cubicBezTo>
                <a:cubicBezTo>
                  <a:pt x="39855" y="122785"/>
                  <a:pt x="32574" y="115730"/>
                  <a:pt x="23406" y="114593"/>
                </a:cubicBezTo>
                <a:cubicBezTo>
                  <a:pt x="21976" y="114430"/>
                  <a:pt x="20805" y="115600"/>
                  <a:pt x="20805" y="117031"/>
                </a:cubicBezTo>
                <a:lnTo>
                  <a:pt x="20805" y="130002"/>
                </a:lnTo>
                <a:cubicBezTo>
                  <a:pt x="20805" y="131172"/>
                  <a:pt x="21586" y="132212"/>
                  <a:pt x="22756" y="132505"/>
                </a:cubicBezTo>
                <a:cubicBezTo>
                  <a:pt x="28575" y="133870"/>
                  <a:pt x="33906" y="134488"/>
                  <a:pt x="39010" y="134488"/>
                </a:cubicBezTo>
                <a:close/>
                <a:moveTo>
                  <a:pt x="142550" y="117843"/>
                </a:moveTo>
                <a:cubicBezTo>
                  <a:pt x="144175" y="118103"/>
                  <a:pt x="145638" y="116868"/>
                  <a:pt x="145638" y="115243"/>
                </a:cubicBezTo>
                <a:lnTo>
                  <a:pt x="145638" y="101394"/>
                </a:lnTo>
                <a:cubicBezTo>
                  <a:pt x="145638" y="99964"/>
                  <a:pt x="144468" y="98761"/>
                  <a:pt x="143038" y="98956"/>
                </a:cubicBezTo>
                <a:cubicBezTo>
                  <a:pt x="134845" y="99964"/>
                  <a:pt x="128116" y="105750"/>
                  <a:pt x="125743" y="113455"/>
                </a:cubicBezTo>
                <a:cubicBezTo>
                  <a:pt x="125288" y="114983"/>
                  <a:pt x="126491" y="116413"/>
                  <a:pt x="128084" y="116446"/>
                </a:cubicBezTo>
                <a:cubicBezTo>
                  <a:pt x="132700" y="116576"/>
                  <a:pt x="137511" y="116998"/>
                  <a:pt x="142517" y="117843"/>
                </a:cubicBezTo>
                <a:close/>
                <a:moveTo>
                  <a:pt x="145638" y="49413"/>
                </a:moveTo>
                <a:lnTo>
                  <a:pt x="145638" y="36442"/>
                </a:lnTo>
                <a:cubicBezTo>
                  <a:pt x="145638" y="35272"/>
                  <a:pt x="144826" y="34231"/>
                  <a:pt x="143688" y="33939"/>
                </a:cubicBezTo>
                <a:cubicBezTo>
                  <a:pt x="137869" y="32574"/>
                  <a:pt x="132537" y="31956"/>
                  <a:pt x="127433" y="31956"/>
                </a:cubicBezTo>
                <a:cubicBezTo>
                  <a:pt x="126003" y="31956"/>
                  <a:pt x="124865" y="33191"/>
                  <a:pt x="125093" y="34589"/>
                </a:cubicBezTo>
                <a:cubicBezTo>
                  <a:pt x="126588" y="43626"/>
                  <a:pt x="133870" y="50681"/>
                  <a:pt x="143038" y="51819"/>
                </a:cubicBezTo>
                <a:cubicBezTo>
                  <a:pt x="144468" y="51981"/>
                  <a:pt x="145638" y="50811"/>
                  <a:pt x="145638" y="49380"/>
                </a:cubicBezTo>
                <a:close/>
                <a:moveTo>
                  <a:pt x="40701" y="52956"/>
                </a:moveTo>
                <a:cubicBezTo>
                  <a:pt x="41156" y="51428"/>
                  <a:pt x="39953" y="49998"/>
                  <a:pt x="38360" y="49966"/>
                </a:cubicBezTo>
                <a:cubicBezTo>
                  <a:pt x="33744" y="49836"/>
                  <a:pt x="28933" y="49413"/>
                  <a:pt x="23926" y="48568"/>
                </a:cubicBezTo>
                <a:cubicBezTo>
                  <a:pt x="22301" y="48308"/>
                  <a:pt x="20838" y="49543"/>
                  <a:pt x="20838" y="51168"/>
                </a:cubicBezTo>
                <a:lnTo>
                  <a:pt x="20805" y="65017"/>
                </a:lnTo>
                <a:cubicBezTo>
                  <a:pt x="20805" y="66447"/>
                  <a:pt x="21976" y="67650"/>
                  <a:pt x="23406" y="67455"/>
                </a:cubicBezTo>
                <a:cubicBezTo>
                  <a:pt x="31598" y="66447"/>
                  <a:pt x="38328" y="60661"/>
                  <a:pt x="40701" y="52956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74" name="Text 72"/>
          <p:cNvSpPr/>
          <p:nvPr/>
        </p:nvSpPr>
        <p:spPr>
          <a:xfrm>
            <a:off x="6736288" y="5559219"/>
            <a:ext cx="1581215" cy="199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罚款联动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736288" y="5758952"/>
            <a:ext cx="157289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罚款规则与借阅状态联动处理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20314-013E-23E8-451D-779042A32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C4A29A-211C-1F16-3DF6-6532CDD8FE82}"/>
              </a:ext>
            </a:extLst>
          </p:cNvPr>
          <p:cNvSpPr/>
          <p:nvPr/>
        </p:nvSpPr>
        <p:spPr>
          <a:xfrm>
            <a:off x="332887" y="332887"/>
            <a:ext cx="66577" cy="33288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33F67D-E4BC-2307-EDD3-665579C54C82}"/>
              </a:ext>
            </a:extLst>
          </p:cNvPr>
          <p:cNvSpPr/>
          <p:nvPr/>
        </p:nvSpPr>
        <p:spPr>
          <a:xfrm>
            <a:off x="499331" y="332887"/>
            <a:ext cx="2246990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 err="1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关键功能实现</a:t>
            </a:r>
            <a:r>
              <a:rPr lang="zh-CN" altLang="en-US" sz="2359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7BF3A5-320C-6D0E-812F-26B3FD308833}"/>
              </a:ext>
            </a:extLst>
          </p:cNvPr>
          <p:cNvSpPr/>
          <p:nvPr/>
        </p:nvSpPr>
        <p:spPr>
          <a:xfrm>
            <a:off x="499331" y="732352"/>
            <a:ext cx="1144300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311" b="1" dirty="0" err="1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Noto Sans SC"/>
              </a:rPr>
              <a:t>统计分析与数据可视化</a:t>
            </a:r>
            <a:endParaRPr lang="en-US" sz="1311" b="1" dirty="0">
              <a:solidFill>
                <a:srgbClr val="16A08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482171-8452-2188-BE2B-94BEDB67EAC3}"/>
              </a:ext>
            </a:extLst>
          </p:cNvPr>
          <p:cNvSpPr/>
          <p:nvPr/>
        </p:nvSpPr>
        <p:spPr>
          <a:xfrm>
            <a:off x="499331" y="965373"/>
            <a:ext cx="1143468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Statistical, Analysis &amp; Data Visualization</a:t>
            </a:r>
            <a:endParaRPr lang="en-US" sz="1600" dirty="0"/>
          </a:p>
        </p:txBody>
      </p:sp>
      <p:sp>
        <p:nvSpPr>
          <p:cNvPr id="243" name="AutoShape 4">
            <a:extLst>
              <a:ext uri="{FF2B5EF4-FFF2-40B4-BE49-F238E27FC236}">
                <a16:creationId xmlns:a16="http://schemas.microsoft.com/office/drawing/2014/main" id="{3274654A-4B07-23FA-9A1C-48237DC4B640}"/>
              </a:ext>
            </a:extLst>
          </p:cNvPr>
          <p:cNvSpPr/>
          <p:nvPr/>
        </p:nvSpPr>
        <p:spPr>
          <a:xfrm>
            <a:off x="762000" y="1270000"/>
            <a:ext cx="4572000" cy="1079500"/>
          </a:xfrm>
          <a:prstGeom prst="roundRect">
            <a:avLst>
              <a:gd name="adj" fmla="val 94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4" name="AutoShape 5">
            <a:extLst>
              <a:ext uri="{FF2B5EF4-FFF2-40B4-BE49-F238E27FC236}">
                <a16:creationId xmlns:a16="http://schemas.microsoft.com/office/drawing/2014/main" id="{64762315-AD2F-05E1-A01C-1546A020B0AE}"/>
              </a:ext>
            </a:extLst>
          </p:cNvPr>
          <p:cNvSpPr/>
          <p:nvPr/>
        </p:nvSpPr>
        <p:spPr>
          <a:xfrm>
            <a:off x="952500" y="1397000"/>
            <a:ext cx="4191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系统内置统计分析模块，整合核心运营数据，通过多维度可视化呈现，帮助管理者全方位掌握馆内状况，实现从“业务处理”到“数据驱动决策”的战略升级。</a:t>
            </a:r>
            <a:endParaRPr lang="en-US" sz="1100"/>
          </a:p>
        </p:txBody>
      </p:sp>
      <p:sp>
        <p:nvSpPr>
          <p:cNvPr id="245" name="AutoShape 6">
            <a:extLst>
              <a:ext uri="{FF2B5EF4-FFF2-40B4-BE49-F238E27FC236}">
                <a16:creationId xmlns:a16="http://schemas.microsoft.com/office/drawing/2014/main" id="{DD5A2571-99F1-BD11-2AC4-8630F6B9253D}"/>
              </a:ext>
            </a:extLst>
          </p:cNvPr>
          <p:cNvSpPr/>
          <p:nvPr/>
        </p:nvSpPr>
        <p:spPr>
          <a:xfrm>
            <a:off x="762000" y="25400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6" name="Picture 7">
            <a:extLst>
              <a:ext uri="{FF2B5EF4-FFF2-40B4-BE49-F238E27FC236}">
                <a16:creationId xmlns:a16="http://schemas.microsoft.com/office/drawing/2014/main" id="{75D9DBDF-ECE9-1B6A-7834-561AC8A5F6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457200" cy="457200"/>
          </a:xfrm>
          <a:prstGeom prst="rect">
            <a:avLst/>
          </a:prstGeom>
        </p:spPr>
      </p:pic>
      <p:sp>
        <p:nvSpPr>
          <p:cNvPr id="247" name="AutoShape 8">
            <a:extLst>
              <a:ext uri="{FF2B5EF4-FFF2-40B4-BE49-F238E27FC236}">
                <a16:creationId xmlns:a16="http://schemas.microsoft.com/office/drawing/2014/main" id="{E71836CA-3C1A-F91A-A777-D0C577120B8B}"/>
              </a:ext>
            </a:extLst>
          </p:cNvPr>
          <p:cNvSpPr/>
          <p:nvPr/>
        </p:nvSpPr>
        <p:spPr>
          <a:xfrm>
            <a:off x="1524000" y="2730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馆藏与用户</a:t>
            </a:r>
            <a:endParaRPr lang="en-US" sz="1100"/>
          </a:p>
        </p:txBody>
      </p:sp>
      <p:sp>
        <p:nvSpPr>
          <p:cNvPr id="248" name="AutoShape 9">
            <a:extLst>
              <a:ext uri="{FF2B5EF4-FFF2-40B4-BE49-F238E27FC236}">
                <a16:creationId xmlns:a16="http://schemas.microsoft.com/office/drawing/2014/main" id="{C455C036-27F2-446F-B871-182E9E58E725}"/>
              </a:ext>
            </a:extLst>
          </p:cNvPr>
          <p:cNvSpPr/>
          <p:nvPr/>
        </p:nvSpPr>
        <p:spPr>
          <a:xfrm>
            <a:off x="9525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实时掌握图书资源总量与用户覆盖范围，反映服务能力。</a:t>
            </a:r>
            <a:endParaRPr lang="en-US" sz="1100"/>
          </a:p>
        </p:txBody>
      </p:sp>
      <p:sp>
        <p:nvSpPr>
          <p:cNvPr id="249" name="AutoShape 10">
            <a:extLst>
              <a:ext uri="{FF2B5EF4-FFF2-40B4-BE49-F238E27FC236}">
                <a16:creationId xmlns:a16="http://schemas.microsoft.com/office/drawing/2014/main" id="{0E82A445-D458-4157-7987-1F7FEC083141}"/>
              </a:ext>
            </a:extLst>
          </p:cNvPr>
          <p:cNvSpPr/>
          <p:nvPr/>
        </p:nvSpPr>
        <p:spPr>
          <a:xfrm>
            <a:off x="3175000" y="25400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0" name="Picture 11">
            <a:extLst>
              <a:ext uri="{FF2B5EF4-FFF2-40B4-BE49-F238E27FC236}">
                <a16:creationId xmlns:a16="http://schemas.microsoft.com/office/drawing/2014/main" id="{055F57BF-9937-FD20-B8A6-47D7ABA66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5500" y="2730500"/>
            <a:ext cx="457200" cy="457200"/>
          </a:xfrm>
          <a:prstGeom prst="rect">
            <a:avLst/>
          </a:prstGeom>
        </p:spPr>
      </p:pic>
      <p:sp>
        <p:nvSpPr>
          <p:cNvPr id="251" name="AutoShape 12">
            <a:extLst>
              <a:ext uri="{FF2B5EF4-FFF2-40B4-BE49-F238E27FC236}">
                <a16:creationId xmlns:a16="http://schemas.microsoft.com/office/drawing/2014/main" id="{75BC651E-6E09-38AB-5920-48A01E2780DE}"/>
              </a:ext>
            </a:extLst>
          </p:cNvPr>
          <p:cNvSpPr/>
          <p:nvPr/>
        </p:nvSpPr>
        <p:spPr>
          <a:xfrm>
            <a:off x="3937000" y="2730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库存与流通</a:t>
            </a:r>
            <a:endParaRPr lang="en-US" sz="1100"/>
          </a:p>
        </p:txBody>
      </p:sp>
      <p:sp>
        <p:nvSpPr>
          <p:cNvPr id="252" name="AutoShape 13">
            <a:extLst>
              <a:ext uri="{FF2B5EF4-FFF2-40B4-BE49-F238E27FC236}">
                <a16:creationId xmlns:a16="http://schemas.microsoft.com/office/drawing/2014/main" id="{AEF75772-53FC-A981-C0F6-5949D95838B4}"/>
              </a:ext>
            </a:extLst>
          </p:cNvPr>
          <p:cNvSpPr/>
          <p:nvPr/>
        </p:nvSpPr>
        <p:spPr>
          <a:xfrm>
            <a:off x="3365500" y="3302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监控可借图书余量与总借阅量，衡量图书馆整体流通活跃度。</a:t>
            </a:r>
            <a:endParaRPr lang="en-US" sz="1100"/>
          </a:p>
        </p:txBody>
      </p:sp>
      <p:sp>
        <p:nvSpPr>
          <p:cNvPr id="253" name="AutoShape 14">
            <a:extLst>
              <a:ext uri="{FF2B5EF4-FFF2-40B4-BE49-F238E27FC236}">
                <a16:creationId xmlns:a16="http://schemas.microsoft.com/office/drawing/2014/main" id="{3CD1C710-DAEE-2341-DA02-1613B40D9189}"/>
              </a:ext>
            </a:extLst>
          </p:cNvPr>
          <p:cNvSpPr/>
          <p:nvPr/>
        </p:nvSpPr>
        <p:spPr>
          <a:xfrm>
            <a:off x="762000" y="41910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4" name="Picture 15">
            <a:extLst>
              <a:ext uri="{FF2B5EF4-FFF2-40B4-BE49-F238E27FC236}">
                <a16:creationId xmlns:a16="http://schemas.microsoft.com/office/drawing/2014/main" id="{2AE33BC8-B600-CD87-1597-B1D1E9E78E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81500"/>
            <a:ext cx="457200" cy="457200"/>
          </a:xfrm>
          <a:prstGeom prst="rect">
            <a:avLst/>
          </a:prstGeom>
        </p:spPr>
      </p:pic>
      <p:sp>
        <p:nvSpPr>
          <p:cNvPr id="255" name="AutoShape 16">
            <a:extLst>
              <a:ext uri="{FF2B5EF4-FFF2-40B4-BE49-F238E27FC236}">
                <a16:creationId xmlns:a16="http://schemas.microsoft.com/office/drawing/2014/main" id="{1DD9DF88-125C-1354-059F-A3C58B2230FC}"/>
              </a:ext>
            </a:extLst>
          </p:cNvPr>
          <p:cNvSpPr/>
          <p:nvPr/>
        </p:nvSpPr>
        <p:spPr>
          <a:xfrm>
            <a:off x="1524000" y="4381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实时运营状态</a:t>
            </a:r>
            <a:endParaRPr lang="en-US" sz="1100"/>
          </a:p>
        </p:txBody>
      </p:sp>
      <p:sp>
        <p:nvSpPr>
          <p:cNvPr id="256" name="AutoShape 17">
            <a:extLst>
              <a:ext uri="{FF2B5EF4-FFF2-40B4-BE49-F238E27FC236}">
                <a16:creationId xmlns:a16="http://schemas.microsoft.com/office/drawing/2014/main" id="{0DF3CBE6-E31F-1EB4-A2C1-EB51C602D320}"/>
              </a:ext>
            </a:extLst>
          </p:cNvPr>
          <p:cNvSpPr/>
          <p:nvPr/>
        </p:nvSpPr>
        <p:spPr>
          <a:xfrm>
            <a:off x="952500" y="4953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追踪当前借出负载与逾期数量，及时发现并处理超期问题。</a:t>
            </a:r>
            <a:endParaRPr lang="en-US" sz="1100"/>
          </a:p>
        </p:txBody>
      </p:sp>
      <p:sp>
        <p:nvSpPr>
          <p:cNvPr id="257" name="AutoShape 18">
            <a:extLst>
              <a:ext uri="{FF2B5EF4-FFF2-40B4-BE49-F238E27FC236}">
                <a16:creationId xmlns:a16="http://schemas.microsoft.com/office/drawing/2014/main" id="{AABDD882-3442-9F8D-1279-620362872C51}"/>
              </a:ext>
            </a:extLst>
          </p:cNvPr>
          <p:cNvSpPr/>
          <p:nvPr/>
        </p:nvSpPr>
        <p:spPr>
          <a:xfrm>
            <a:off x="3175000" y="4191000"/>
            <a:ext cx="2159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381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8" name="Picture 19">
            <a:extLst>
              <a:ext uri="{FF2B5EF4-FFF2-40B4-BE49-F238E27FC236}">
                <a16:creationId xmlns:a16="http://schemas.microsoft.com/office/drawing/2014/main" id="{8B3AFD42-72BA-B38F-1DB2-08ABFF069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65500" y="4381500"/>
            <a:ext cx="457200" cy="457200"/>
          </a:xfrm>
          <a:prstGeom prst="rect">
            <a:avLst/>
          </a:prstGeom>
        </p:spPr>
      </p:pic>
      <p:sp>
        <p:nvSpPr>
          <p:cNvPr id="259" name="AutoShape 20">
            <a:extLst>
              <a:ext uri="{FF2B5EF4-FFF2-40B4-BE49-F238E27FC236}">
                <a16:creationId xmlns:a16="http://schemas.microsoft.com/office/drawing/2014/main" id="{791F7D97-EF87-CE4F-B120-3D43F60066C1}"/>
              </a:ext>
            </a:extLst>
          </p:cNvPr>
          <p:cNvSpPr/>
          <p:nvPr/>
        </p:nvSpPr>
        <p:spPr>
          <a:xfrm>
            <a:off x="3937000" y="4381500"/>
            <a:ext cx="127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今日业务快照</a:t>
            </a:r>
            <a:endParaRPr lang="en-US" sz="1100"/>
          </a:p>
        </p:txBody>
      </p:sp>
      <p:sp>
        <p:nvSpPr>
          <p:cNvPr id="260" name="AutoShape 21">
            <a:extLst>
              <a:ext uri="{FF2B5EF4-FFF2-40B4-BE49-F238E27FC236}">
                <a16:creationId xmlns:a16="http://schemas.microsoft.com/office/drawing/2014/main" id="{D468527C-0F25-A5F5-F938-E4CD71C460A4}"/>
              </a:ext>
            </a:extLst>
          </p:cNvPr>
          <p:cNvSpPr/>
          <p:nvPr/>
        </p:nvSpPr>
        <p:spPr>
          <a:xfrm>
            <a:off x="3365500" y="4953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聚焦当日借阅与归还数据，快速反映当天的业务高峰与回流。</a:t>
            </a:r>
            <a:endParaRPr lang="en-US" sz="1100"/>
          </a:p>
        </p:txBody>
      </p:sp>
      <p:pic>
        <p:nvPicPr>
          <p:cNvPr id="261" name="Picture 22">
            <a:extLst>
              <a:ext uri="{FF2B5EF4-FFF2-40B4-BE49-F238E27FC236}">
                <a16:creationId xmlns:a16="http://schemas.microsoft.com/office/drawing/2014/main" id="{BEE77623-675C-18B6-A9EE-8E8408E775F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588000" y="1270000"/>
            <a:ext cx="609600" cy="609600"/>
          </a:xfrm>
          <a:prstGeom prst="ellipse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2" name="AutoShape 23">
            <a:extLst>
              <a:ext uri="{FF2B5EF4-FFF2-40B4-BE49-F238E27FC236}">
                <a16:creationId xmlns:a16="http://schemas.microsoft.com/office/drawing/2014/main" id="{72C9A86D-55D2-B751-9BA8-5E85AC8969CB}"/>
              </a:ext>
            </a:extLst>
          </p:cNvPr>
          <p:cNvSpPr/>
          <p:nvPr/>
        </p:nvSpPr>
        <p:spPr>
          <a:xfrm>
            <a:off x="6350000" y="1333500"/>
            <a:ext cx="482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深度数据可视化洞察</a:t>
            </a:r>
            <a:endParaRPr lang="en-US" sz="1100"/>
          </a:p>
        </p:txBody>
      </p:sp>
      <p:sp>
        <p:nvSpPr>
          <p:cNvPr id="263" name="AutoShape 24">
            <a:extLst>
              <a:ext uri="{FF2B5EF4-FFF2-40B4-BE49-F238E27FC236}">
                <a16:creationId xmlns:a16="http://schemas.microsoft.com/office/drawing/2014/main" id="{D620B5F1-8FB2-A19F-974C-23C4C96AB9CF}"/>
              </a:ext>
            </a:extLst>
          </p:cNvPr>
          <p:cNvSpPr/>
          <p:nvPr/>
        </p:nvSpPr>
        <p:spPr>
          <a:xfrm>
            <a:off x="5588000" y="2095500"/>
            <a:ext cx="5842000" cy="1651000"/>
          </a:xfrm>
          <a:prstGeom prst="roundRect">
            <a:avLst>
              <a:gd name="adj" fmla="val 6153"/>
            </a:avLst>
          </a:prstGeom>
          <a:solidFill>
            <a:srgbClr val="F0FDFA">
              <a:alpha val="100000"/>
            </a:srgbClr>
          </a:solidFill>
          <a:ln w="25400" cap="flat" cmpd="sng">
            <a:solidFill>
              <a:srgbClr val="14B8A6">
                <a:alpha val="6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4" name="AutoShape 25">
            <a:extLst>
              <a:ext uri="{FF2B5EF4-FFF2-40B4-BE49-F238E27FC236}">
                <a16:creationId xmlns:a16="http://schemas.microsoft.com/office/drawing/2014/main" id="{90381C8E-A055-12CD-399A-D65FC4D46F3B}"/>
              </a:ext>
            </a:extLst>
          </p:cNvPr>
          <p:cNvSpPr/>
          <p:nvPr/>
        </p:nvSpPr>
        <p:spPr>
          <a:xfrm>
            <a:off x="5588000" y="2476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统计分析仪表盘截图位</a:t>
            </a:r>
            <a:endParaRPr lang="en-US" sz="1100"/>
          </a:p>
        </p:txBody>
      </p:sp>
      <p:sp>
        <p:nvSpPr>
          <p:cNvPr id="265" name="AutoShape 26">
            <a:extLst>
              <a:ext uri="{FF2B5EF4-FFF2-40B4-BE49-F238E27FC236}">
                <a16:creationId xmlns:a16="http://schemas.microsoft.com/office/drawing/2014/main" id="{2372BD5B-721C-61B5-A006-6E08643B29C8}"/>
              </a:ext>
            </a:extLst>
          </p:cNvPr>
          <p:cNvSpPr/>
          <p:nvPr/>
        </p:nvSpPr>
        <p:spPr>
          <a:xfrm>
            <a:off x="5588000" y="29845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建议放置：包含趋势折线图、馆藏饼图、热门排行柱状图的真实界面</a:t>
            </a:r>
            <a:endParaRPr lang="en-US" sz="1100"/>
          </a:p>
        </p:txBody>
      </p:sp>
      <p:sp>
        <p:nvSpPr>
          <p:cNvPr id="266" name="AutoShape 27">
            <a:extLst>
              <a:ext uri="{FF2B5EF4-FFF2-40B4-BE49-F238E27FC236}">
                <a16:creationId xmlns:a16="http://schemas.microsoft.com/office/drawing/2014/main" id="{82B203C7-56F9-5E53-52D6-7FB86E108DF5}"/>
              </a:ext>
            </a:extLst>
          </p:cNvPr>
          <p:cNvSpPr/>
          <p:nvPr/>
        </p:nvSpPr>
        <p:spPr>
          <a:xfrm>
            <a:off x="5588000" y="3937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7" name="Picture 28">
            <a:extLst>
              <a:ext uri="{FF2B5EF4-FFF2-40B4-BE49-F238E27FC236}">
                <a16:creationId xmlns:a16="http://schemas.microsoft.com/office/drawing/2014/main" id="{2DDE0C02-131E-3986-A417-5AFFFC7BA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0400" y="4127500"/>
            <a:ext cx="355600" cy="355600"/>
          </a:xfrm>
          <a:prstGeom prst="rect">
            <a:avLst/>
          </a:prstGeom>
        </p:spPr>
      </p:pic>
      <p:sp>
        <p:nvSpPr>
          <p:cNvPr id="268" name="AutoShape 29">
            <a:extLst>
              <a:ext uri="{FF2B5EF4-FFF2-40B4-BE49-F238E27FC236}">
                <a16:creationId xmlns:a16="http://schemas.microsoft.com/office/drawing/2014/main" id="{10018097-E212-1107-8909-B393165DC9CF}"/>
              </a:ext>
            </a:extLst>
          </p:cNvPr>
          <p:cNvSpPr/>
          <p:nvPr/>
        </p:nvSpPr>
        <p:spPr>
          <a:xfrm>
            <a:off x="6223000" y="4064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7日借阅趋势分析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识别高峰期，辅助人员排班与资源调配。</a:t>
            </a:r>
          </a:p>
        </p:txBody>
      </p:sp>
      <p:sp>
        <p:nvSpPr>
          <p:cNvPr id="269" name="AutoShape 30">
            <a:extLst>
              <a:ext uri="{FF2B5EF4-FFF2-40B4-BE49-F238E27FC236}">
                <a16:creationId xmlns:a16="http://schemas.microsoft.com/office/drawing/2014/main" id="{5C99992D-1B25-78EC-8E1B-89B560126460}"/>
              </a:ext>
            </a:extLst>
          </p:cNvPr>
          <p:cNvSpPr/>
          <p:nvPr/>
        </p:nvSpPr>
        <p:spPr>
          <a:xfrm>
            <a:off x="8636000" y="3937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0" name="Picture 31">
            <a:extLst>
              <a:ext uri="{FF2B5EF4-FFF2-40B4-BE49-F238E27FC236}">
                <a16:creationId xmlns:a16="http://schemas.microsoft.com/office/drawing/2014/main" id="{E2C558C1-AE1E-98FC-E69F-D312924AD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88400" y="4127500"/>
            <a:ext cx="355600" cy="355600"/>
          </a:xfrm>
          <a:prstGeom prst="rect">
            <a:avLst/>
          </a:prstGeom>
        </p:spPr>
      </p:pic>
      <p:sp>
        <p:nvSpPr>
          <p:cNvPr id="271" name="AutoShape 32">
            <a:extLst>
              <a:ext uri="{FF2B5EF4-FFF2-40B4-BE49-F238E27FC236}">
                <a16:creationId xmlns:a16="http://schemas.microsoft.com/office/drawing/2014/main" id="{7328FC49-8DD0-4638-ACA4-938E917DDBF8}"/>
              </a:ext>
            </a:extLst>
          </p:cNvPr>
          <p:cNvSpPr/>
          <p:nvPr/>
        </p:nvSpPr>
        <p:spPr>
          <a:xfrm>
            <a:off x="9271000" y="4064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馆藏图书分类统计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直观了解馆藏结构，科学指导新书采购。</a:t>
            </a:r>
          </a:p>
        </p:txBody>
      </p:sp>
      <p:sp>
        <p:nvSpPr>
          <p:cNvPr id="272" name="AutoShape 33">
            <a:extLst>
              <a:ext uri="{FF2B5EF4-FFF2-40B4-BE49-F238E27FC236}">
                <a16:creationId xmlns:a16="http://schemas.microsoft.com/office/drawing/2014/main" id="{2630DE45-F2ED-2309-1793-20F3B34EFA43}"/>
              </a:ext>
            </a:extLst>
          </p:cNvPr>
          <p:cNvSpPr/>
          <p:nvPr/>
        </p:nvSpPr>
        <p:spPr>
          <a:xfrm>
            <a:off x="5588000" y="5080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3" name="Picture 34">
            <a:extLst>
              <a:ext uri="{FF2B5EF4-FFF2-40B4-BE49-F238E27FC236}">
                <a16:creationId xmlns:a16="http://schemas.microsoft.com/office/drawing/2014/main" id="{478E93AC-D10B-35F9-808F-D8366BF6C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40400" y="5270500"/>
            <a:ext cx="355600" cy="355600"/>
          </a:xfrm>
          <a:prstGeom prst="rect">
            <a:avLst/>
          </a:prstGeom>
        </p:spPr>
      </p:pic>
      <p:sp>
        <p:nvSpPr>
          <p:cNvPr id="274" name="AutoShape 35">
            <a:extLst>
              <a:ext uri="{FF2B5EF4-FFF2-40B4-BE49-F238E27FC236}">
                <a16:creationId xmlns:a16="http://schemas.microsoft.com/office/drawing/2014/main" id="{DC156560-5DDF-F764-BD8B-2E9F52D5B63C}"/>
              </a:ext>
            </a:extLst>
          </p:cNvPr>
          <p:cNvSpPr/>
          <p:nvPr/>
        </p:nvSpPr>
        <p:spPr>
          <a:xfrm>
            <a:off x="6223000" y="5207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热门图书 TOP 10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发现用户阅读偏好，提供精准热门推荐。</a:t>
            </a:r>
          </a:p>
        </p:txBody>
      </p:sp>
      <p:sp>
        <p:nvSpPr>
          <p:cNvPr id="275" name="AutoShape 36">
            <a:extLst>
              <a:ext uri="{FF2B5EF4-FFF2-40B4-BE49-F238E27FC236}">
                <a16:creationId xmlns:a16="http://schemas.microsoft.com/office/drawing/2014/main" id="{8F41E604-A3FF-EDA5-3C61-C2267CE91333}"/>
              </a:ext>
            </a:extLst>
          </p:cNvPr>
          <p:cNvSpPr/>
          <p:nvPr/>
        </p:nvSpPr>
        <p:spPr>
          <a:xfrm>
            <a:off x="8636000" y="5080000"/>
            <a:ext cx="2794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6" name="Picture 37">
            <a:extLst>
              <a:ext uri="{FF2B5EF4-FFF2-40B4-BE49-F238E27FC236}">
                <a16:creationId xmlns:a16="http://schemas.microsoft.com/office/drawing/2014/main" id="{0E2C115D-D0D2-B02C-8ED4-49073E0D44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8400" y="5270500"/>
            <a:ext cx="355600" cy="355600"/>
          </a:xfrm>
          <a:prstGeom prst="rect">
            <a:avLst/>
          </a:prstGeom>
        </p:spPr>
      </p:pic>
      <p:sp>
        <p:nvSpPr>
          <p:cNvPr id="277" name="AutoShape 38">
            <a:extLst>
              <a:ext uri="{FF2B5EF4-FFF2-40B4-BE49-F238E27FC236}">
                <a16:creationId xmlns:a16="http://schemas.microsoft.com/office/drawing/2014/main" id="{F1BCCB53-CAC8-450F-1966-C789B65774BF}"/>
              </a:ext>
            </a:extLst>
          </p:cNvPr>
          <p:cNvSpPr/>
          <p:nvPr/>
        </p:nvSpPr>
        <p:spPr>
          <a:xfrm>
            <a:off x="9271000" y="52070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活跃用户 TOP 10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识别核心用户群体，辅助开展分层运营。</a:t>
            </a:r>
          </a:p>
        </p:txBody>
      </p:sp>
      <p:sp>
        <p:nvSpPr>
          <p:cNvPr id="278" name="AutoShape 39">
            <a:extLst>
              <a:ext uri="{FF2B5EF4-FFF2-40B4-BE49-F238E27FC236}">
                <a16:creationId xmlns:a16="http://schemas.microsoft.com/office/drawing/2014/main" id="{20E3DC60-A729-C41B-2392-CAC7DE2FEF13}"/>
              </a:ext>
            </a:extLst>
          </p:cNvPr>
          <p:cNvSpPr/>
          <p:nvPr/>
        </p:nvSpPr>
        <p:spPr>
          <a:xfrm>
            <a:off x="762000" y="6223000"/>
            <a:ext cx="10668000" cy="508000"/>
          </a:xfrm>
          <a:prstGeom prst="roundRect">
            <a:avLst>
              <a:gd name="adj" fmla="val 20000"/>
            </a:avLst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9" name="Picture 40">
            <a:extLst>
              <a:ext uri="{FF2B5EF4-FFF2-40B4-BE49-F238E27FC236}">
                <a16:creationId xmlns:a16="http://schemas.microsoft.com/office/drawing/2014/main" id="{37B95165-15F3-A4B3-2B3E-69113FA85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6324600"/>
            <a:ext cx="304800" cy="304800"/>
          </a:xfrm>
          <a:prstGeom prst="rect">
            <a:avLst/>
          </a:prstGeom>
        </p:spPr>
      </p:pic>
      <p:sp>
        <p:nvSpPr>
          <p:cNvPr id="280" name="AutoShape 41">
            <a:extLst>
              <a:ext uri="{FF2B5EF4-FFF2-40B4-BE49-F238E27FC236}">
                <a16:creationId xmlns:a16="http://schemas.microsoft.com/office/drawing/2014/main" id="{50653104-892E-F244-4A79-788BBEEE5B2E}"/>
              </a:ext>
            </a:extLst>
          </p:cNvPr>
          <p:cNvSpPr/>
          <p:nvPr/>
        </p:nvSpPr>
        <p:spPr>
          <a:xfrm>
            <a:off x="1397000" y="628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全局掌控：一站式掌握核心运营指标</a:t>
            </a:r>
            <a:endParaRPr lang="en-US" sz="1100"/>
          </a:p>
        </p:txBody>
      </p:sp>
      <p:pic>
        <p:nvPicPr>
          <p:cNvPr id="281" name="Picture 42">
            <a:extLst>
              <a:ext uri="{FF2B5EF4-FFF2-40B4-BE49-F238E27FC236}">
                <a16:creationId xmlns:a16="http://schemas.microsoft.com/office/drawing/2014/main" id="{73A50438-CB58-448E-93A8-7E856C48C3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72000" y="6324600"/>
            <a:ext cx="304800" cy="304800"/>
          </a:xfrm>
          <a:prstGeom prst="rect">
            <a:avLst/>
          </a:prstGeom>
        </p:spPr>
      </p:pic>
      <p:sp>
        <p:nvSpPr>
          <p:cNvPr id="282" name="AutoShape 43">
            <a:extLst>
              <a:ext uri="{FF2B5EF4-FFF2-40B4-BE49-F238E27FC236}">
                <a16:creationId xmlns:a16="http://schemas.microsoft.com/office/drawing/2014/main" id="{3EFD4DD4-2F98-6B5E-4A5B-5F45BB497FAE}"/>
              </a:ext>
            </a:extLst>
          </p:cNvPr>
          <p:cNvSpPr/>
          <p:nvPr/>
        </p:nvSpPr>
        <p:spPr>
          <a:xfrm>
            <a:off x="4953000" y="6286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效率提升：可视化图表加速数据理解</a:t>
            </a:r>
            <a:endParaRPr lang="en-US" sz="1100"/>
          </a:p>
        </p:txBody>
      </p:sp>
      <p:pic>
        <p:nvPicPr>
          <p:cNvPr id="283" name="Picture 44">
            <a:extLst>
              <a:ext uri="{FF2B5EF4-FFF2-40B4-BE49-F238E27FC236}">
                <a16:creationId xmlns:a16="http://schemas.microsoft.com/office/drawing/2014/main" id="{4A494225-E105-6DA1-1BDE-1E04E408A4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28000" y="6324600"/>
            <a:ext cx="304800" cy="304800"/>
          </a:xfrm>
          <a:prstGeom prst="rect">
            <a:avLst/>
          </a:prstGeom>
        </p:spPr>
      </p:pic>
      <p:sp>
        <p:nvSpPr>
          <p:cNvPr id="284" name="AutoShape 45">
            <a:extLst>
              <a:ext uri="{FF2B5EF4-FFF2-40B4-BE49-F238E27FC236}">
                <a16:creationId xmlns:a16="http://schemas.microsoft.com/office/drawing/2014/main" id="{08C7BE1B-B702-A9E6-A616-9E222AF0ADAD}"/>
              </a:ext>
            </a:extLst>
          </p:cNvPr>
          <p:cNvSpPr/>
          <p:nvPr/>
        </p:nvSpPr>
        <p:spPr>
          <a:xfrm>
            <a:off x="8509000" y="62865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决策支持：数据驱动的业务增长策略</a:t>
            </a:r>
            <a:endParaRPr lang="en-US" sz="1100"/>
          </a:p>
        </p:txBody>
      </p:sp>
      <p:pic>
        <p:nvPicPr>
          <p:cNvPr id="286" name="图片 285">
            <a:extLst>
              <a:ext uri="{FF2B5EF4-FFF2-40B4-BE49-F238E27FC236}">
                <a16:creationId xmlns:a16="http://schemas.microsoft.com/office/drawing/2014/main" id="{11D6D58E-9F07-F7D4-66E7-54B880691C1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7954" y="2159000"/>
            <a:ext cx="5782091" cy="151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520735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4B97EC-D0CE-2F69-BF95-1074DB532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B902D4-9AF2-10A4-2015-BF6B67662980}"/>
              </a:ext>
            </a:extLst>
          </p:cNvPr>
          <p:cNvSpPr/>
          <p:nvPr/>
        </p:nvSpPr>
        <p:spPr>
          <a:xfrm>
            <a:off x="332887" y="332887"/>
            <a:ext cx="66577" cy="332887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C9C12AB-ED13-5FFE-6147-0B284FDEACE9}"/>
              </a:ext>
            </a:extLst>
          </p:cNvPr>
          <p:cNvSpPr/>
          <p:nvPr/>
        </p:nvSpPr>
        <p:spPr>
          <a:xfrm>
            <a:off x="499331" y="332887"/>
            <a:ext cx="2246990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 err="1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关键功能实现</a:t>
            </a:r>
            <a:r>
              <a:rPr lang="zh-CN" altLang="en-US" sz="2359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981A2F3-66BC-78FB-9969-D27FFC4545EE}"/>
              </a:ext>
            </a:extLst>
          </p:cNvPr>
          <p:cNvSpPr/>
          <p:nvPr/>
        </p:nvSpPr>
        <p:spPr>
          <a:xfrm>
            <a:off x="499331" y="732352"/>
            <a:ext cx="11443003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altLang="zh-CN" sz="1311" b="1" dirty="0" err="1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  <a:sym typeface="Noto Sans SC"/>
              </a:rPr>
              <a:t>系统治理与辅助业务</a:t>
            </a:r>
            <a:endParaRPr lang="en-US" sz="1311" b="1" dirty="0">
              <a:solidFill>
                <a:srgbClr val="16A085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2B9706-4611-6C1C-B348-2AB0239A067E}"/>
              </a:ext>
            </a:extLst>
          </p:cNvPr>
          <p:cNvSpPr/>
          <p:nvPr/>
        </p:nvSpPr>
        <p:spPr>
          <a:xfrm>
            <a:off x="499331" y="965373"/>
            <a:ext cx="1143468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governance &amp; auxiliary services</a:t>
            </a:r>
            <a:endParaRPr lang="en-US" sz="1600" dirty="0"/>
          </a:p>
        </p:txBody>
      </p:sp>
      <p:sp>
        <p:nvSpPr>
          <p:cNvPr id="111" name="AutoShape 3">
            <a:extLst>
              <a:ext uri="{FF2B5EF4-FFF2-40B4-BE49-F238E27FC236}">
                <a16:creationId xmlns:a16="http://schemas.microsoft.com/office/drawing/2014/main" id="{6491DF4F-EB67-519D-1205-A4CA8BA0C417}"/>
              </a:ext>
            </a:extLst>
          </p:cNvPr>
          <p:cNvSpPr/>
          <p:nvPr/>
        </p:nvSpPr>
        <p:spPr>
          <a:xfrm>
            <a:off x="508000" y="1270000"/>
            <a:ext cx="3556000" cy="5207000"/>
          </a:xfrm>
          <a:prstGeom prst="roundRect">
            <a:avLst>
              <a:gd name="adj" fmla="val 428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2" name="AutoShape 4">
            <a:extLst>
              <a:ext uri="{FF2B5EF4-FFF2-40B4-BE49-F238E27FC236}">
                <a16:creationId xmlns:a16="http://schemas.microsoft.com/office/drawing/2014/main" id="{61C98E95-502E-285C-5C9A-20A850841BF1}"/>
              </a:ext>
            </a:extLst>
          </p:cNvPr>
          <p:cNvSpPr/>
          <p:nvPr/>
        </p:nvSpPr>
        <p:spPr>
          <a:xfrm>
            <a:off x="1651000" y="1587500"/>
            <a:ext cx="1016000" cy="1016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3" name="Picture 5">
            <a:extLst>
              <a:ext uri="{FF2B5EF4-FFF2-40B4-BE49-F238E27FC236}">
                <a16:creationId xmlns:a16="http://schemas.microsoft.com/office/drawing/2014/main" id="{3906A423-216A-199E-BD7D-9AAB168244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54200" y="1790700"/>
            <a:ext cx="609600" cy="609600"/>
          </a:xfrm>
          <a:prstGeom prst="rect">
            <a:avLst/>
          </a:prstGeom>
        </p:spPr>
      </p:pic>
      <p:sp>
        <p:nvSpPr>
          <p:cNvPr id="114" name="AutoShape 6">
            <a:extLst>
              <a:ext uri="{FF2B5EF4-FFF2-40B4-BE49-F238E27FC236}">
                <a16:creationId xmlns:a16="http://schemas.microsoft.com/office/drawing/2014/main" id="{6E297E78-EA3C-5EEB-8622-8B3D90205548}"/>
              </a:ext>
            </a:extLst>
          </p:cNvPr>
          <p:cNvSpPr/>
          <p:nvPr/>
        </p:nvSpPr>
        <p:spPr>
          <a:xfrm>
            <a:off x="635000" y="279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公告与通知</a:t>
            </a:r>
            <a:endParaRPr lang="en-US" sz="1100"/>
          </a:p>
        </p:txBody>
      </p:sp>
      <p:sp>
        <p:nvSpPr>
          <p:cNvPr id="115" name="AutoShape 7">
            <a:extLst>
              <a:ext uri="{FF2B5EF4-FFF2-40B4-BE49-F238E27FC236}">
                <a16:creationId xmlns:a16="http://schemas.microsoft.com/office/drawing/2014/main" id="{D7B10E18-FC2F-B980-0D72-F7E25B691009}"/>
              </a:ext>
            </a:extLst>
          </p:cNvPr>
          <p:cNvSpPr/>
          <p:nvPr/>
        </p:nvSpPr>
        <p:spPr>
          <a:xfrm>
            <a:off x="1905000" y="3365500"/>
            <a:ext cx="762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6" name="AutoShape 8">
            <a:extLst>
              <a:ext uri="{FF2B5EF4-FFF2-40B4-BE49-F238E27FC236}">
                <a16:creationId xmlns:a16="http://schemas.microsoft.com/office/drawing/2014/main" id="{34FC8932-7A6D-A58F-EED9-EDAC66C34C16}"/>
              </a:ext>
            </a:extLst>
          </p:cNvPr>
          <p:cNvSpPr/>
          <p:nvPr/>
        </p:nvSpPr>
        <p:spPr>
          <a:xfrm>
            <a:off x="4318000" y="1270000"/>
            <a:ext cx="3556000" cy="5207000"/>
          </a:xfrm>
          <a:prstGeom prst="roundRect">
            <a:avLst>
              <a:gd name="adj" fmla="val 428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7" name="AutoShape 9">
            <a:extLst>
              <a:ext uri="{FF2B5EF4-FFF2-40B4-BE49-F238E27FC236}">
                <a16:creationId xmlns:a16="http://schemas.microsoft.com/office/drawing/2014/main" id="{346BEDD8-1F8F-490E-F72E-334D2DA86C9C}"/>
              </a:ext>
            </a:extLst>
          </p:cNvPr>
          <p:cNvSpPr/>
          <p:nvPr/>
        </p:nvSpPr>
        <p:spPr>
          <a:xfrm>
            <a:off x="5461000" y="1587500"/>
            <a:ext cx="1016000" cy="1016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18" name="Picture 10">
            <a:extLst>
              <a:ext uri="{FF2B5EF4-FFF2-40B4-BE49-F238E27FC236}">
                <a16:creationId xmlns:a16="http://schemas.microsoft.com/office/drawing/2014/main" id="{BDD9D4A5-55A1-01A2-DFEB-266FC064B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200" y="1790700"/>
            <a:ext cx="609600" cy="609600"/>
          </a:xfrm>
          <a:prstGeom prst="rect">
            <a:avLst/>
          </a:prstGeom>
        </p:spPr>
      </p:pic>
      <p:sp>
        <p:nvSpPr>
          <p:cNvPr id="119" name="AutoShape 11">
            <a:extLst>
              <a:ext uri="{FF2B5EF4-FFF2-40B4-BE49-F238E27FC236}">
                <a16:creationId xmlns:a16="http://schemas.microsoft.com/office/drawing/2014/main" id="{67A4DD9C-D779-FA61-A050-1DDDC5F0ABA7}"/>
              </a:ext>
            </a:extLst>
          </p:cNvPr>
          <p:cNvSpPr/>
          <p:nvPr/>
        </p:nvSpPr>
        <p:spPr>
          <a:xfrm>
            <a:off x="4445000" y="279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日志审计体系</a:t>
            </a:r>
            <a:endParaRPr lang="en-US" sz="1100"/>
          </a:p>
        </p:txBody>
      </p:sp>
      <p:sp>
        <p:nvSpPr>
          <p:cNvPr id="120" name="AutoShape 12">
            <a:extLst>
              <a:ext uri="{FF2B5EF4-FFF2-40B4-BE49-F238E27FC236}">
                <a16:creationId xmlns:a16="http://schemas.microsoft.com/office/drawing/2014/main" id="{FF570B97-C0AC-D17F-0670-EE7CA7FF3928}"/>
              </a:ext>
            </a:extLst>
          </p:cNvPr>
          <p:cNvSpPr/>
          <p:nvPr/>
        </p:nvSpPr>
        <p:spPr>
          <a:xfrm>
            <a:off x="5715000" y="3365500"/>
            <a:ext cx="762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1" name="AutoShape 13">
            <a:extLst>
              <a:ext uri="{FF2B5EF4-FFF2-40B4-BE49-F238E27FC236}">
                <a16:creationId xmlns:a16="http://schemas.microsoft.com/office/drawing/2014/main" id="{CED17C9C-2201-F238-347E-EFA5B4F8913D}"/>
              </a:ext>
            </a:extLst>
          </p:cNvPr>
          <p:cNvSpPr/>
          <p:nvPr/>
        </p:nvSpPr>
        <p:spPr>
          <a:xfrm>
            <a:off x="8128000" y="1270000"/>
            <a:ext cx="3556000" cy="5207000"/>
          </a:xfrm>
          <a:prstGeom prst="roundRect">
            <a:avLst>
              <a:gd name="adj" fmla="val 428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2" name="AutoShape 14">
            <a:extLst>
              <a:ext uri="{FF2B5EF4-FFF2-40B4-BE49-F238E27FC236}">
                <a16:creationId xmlns:a16="http://schemas.microsoft.com/office/drawing/2014/main" id="{5C9F4B9E-A08F-CFFA-7D1F-F0A5F0D158AE}"/>
              </a:ext>
            </a:extLst>
          </p:cNvPr>
          <p:cNvSpPr/>
          <p:nvPr/>
        </p:nvSpPr>
        <p:spPr>
          <a:xfrm>
            <a:off x="9271000" y="1587500"/>
            <a:ext cx="1016000" cy="1016000"/>
          </a:xfrm>
          <a:prstGeom prst="ellipse">
            <a:avLst/>
          </a:prstGeom>
          <a:solidFill>
            <a:srgbClr val="D1FAE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3" name="Picture 15">
            <a:extLst>
              <a:ext uri="{FF2B5EF4-FFF2-40B4-BE49-F238E27FC236}">
                <a16:creationId xmlns:a16="http://schemas.microsoft.com/office/drawing/2014/main" id="{A8D86178-B1DA-CD9E-FD19-596DA2FCAD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74200" y="1790700"/>
            <a:ext cx="609600" cy="609600"/>
          </a:xfrm>
          <a:prstGeom prst="rect">
            <a:avLst/>
          </a:prstGeom>
        </p:spPr>
      </p:pic>
      <p:sp>
        <p:nvSpPr>
          <p:cNvPr id="124" name="AutoShape 16">
            <a:extLst>
              <a:ext uri="{FF2B5EF4-FFF2-40B4-BE49-F238E27FC236}">
                <a16:creationId xmlns:a16="http://schemas.microsoft.com/office/drawing/2014/main" id="{494F4846-1E7E-E141-168C-E9629F52F14B}"/>
              </a:ext>
            </a:extLst>
          </p:cNvPr>
          <p:cNvSpPr/>
          <p:nvPr/>
        </p:nvSpPr>
        <p:spPr>
          <a:xfrm>
            <a:off x="8255000" y="2794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逾期罚款管理</a:t>
            </a:r>
            <a:endParaRPr lang="en-US" sz="1100"/>
          </a:p>
        </p:txBody>
      </p:sp>
      <p:sp>
        <p:nvSpPr>
          <p:cNvPr id="125" name="AutoShape 17">
            <a:extLst>
              <a:ext uri="{FF2B5EF4-FFF2-40B4-BE49-F238E27FC236}">
                <a16:creationId xmlns:a16="http://schemas.microsoft.com/office/drawing/2014/main" id="{156966D9-B5A9-0E50-626C-1D7803465510}"/>
              </a:ext>
            </a:extLst>
          </p:cNvPr>
          <p:cNvSpPr/>
          <p:nvPr/>
        </p:nvSpPr>
        <p:spPr>
          <a:xfrm>
            <a:off x="9525000" y="3365500"/>
            <a:ext cx="762000" cy="508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6" name="AutoShape 18">
            <a:extLst>
              <a:ext uri="{FF2B5EF4-FFF2-40B4-BE49-F238E27FC236}">
                <a16:creationId xmlns:a16="http://schemas.microsoft.com/office/drawing/2014/main" id="{3355A686-FAD8-7AF0-E2F2-F6E42CB78353}"/>
              </a:ext>
            </a:extLst>
          </p:cNvPr>
          <p:cNvSpPr/>
          <p:nvPr/>
        </p:nvSpPr>
        <p:spPr>
          <a:xfrm>
            <a:off x="762000" y="3683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7" name="AutoShape 19">
            <a:extLst>
              <a:ext uri="{FF2B5EF4-FFF2-40B4-BE49-F238E27FC236}">
                <a16:creationId xmlns:a16="http://schemas.microsoft.com/office/drawing/2014/main" id="{73378E1A-526C-7E00-463C-49ADEF8970F8}"/>
              </a:ext>
            </a:extLst>
          </p:cNvPr>
          <p:cNvSpPr/>
          <p:nvPr/>
        </p:nvSpPr>
        <p:spPr>
          <a:xfrm>
            <a:off x="952500" y="3810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📢 公告发布</a:t>
            </a:r>
            <a:endParaRPr lang="en-US" sz="1100"/>
          </a:p>
        </p:txBody>
      </p:sp>
      <p:sp>
        <p:nvSpPr>
          <p:cNvPr id="128" name="AutoShape 20">
            <a:extLst>
              <a:ext uri="{FF2B5EF4-FFF2-40B4-BE49-F238E27FC236}">
                <a16:creationId xmlns:a16="http://schemas.microsoft.com/office/drawing/2014/main" id="{BEA412C2-8726-0637-402A-637FD66FE228}"/>
              </a:ext>
            </a:extLst>
          </p:cNvPr>
          <p:cNvSpPr/>
          <p:nvPr/>
        </p:nvSpPr>
        <p:spPr>
          <a:xfrm>
            <a:off x="952500" y="419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支持公告发布、置顶、下线，系统自动发送借还书、预约、罚款等通知。</a:t>
            </a:r>
            <a:endParaRPr lang="en-US" sz="1100"/>
          </a:p>
        </p:txBody>
      </p:sp>
      <p:sp>
        <p:nvSpPr>
          <p:cNvPr id="129" name="AutoShape 21">
            <a:extLst>
              <a:ext uri="{FF2B5EF4-FFF2-40B4-BE49-F238E27FC236}">
                <a16:creationId xmlns:a16="http://schemas.microsoft.com/office/drawing/2014/main" id="{00A818DB-374B-8991-CB87-ABEEECD7A8FD}"/>
              </a:ext>
            </a:extLst>
          </p:cNvPr>
          <p:cNvSpPr/>
          <p:nvPr/>
        </p:nvSpPr>
        <p:spPr>
          <a:xfrm>
            <a:off x="762000" y="5207000"/>
            <a:ext cx="3048000" cy="12192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0" name="AutoShape 22">
            <a:extLst>
              <a:ext uri="{FF2B5EF4-FFF2-40B4-BE49-F238E27FC236}">
                <a16:creationId xmlns:a16="http://schemas.microsoft.com/office/drawing/2014/main" id="{875B96AD-3CFA-8F46-D658-F71FEC4732FA}"/>
              </a:ext>
            </a:extLst>
          </p:cNvPr>
          <p:cNvSpPr/>
          <p:nvPr/>
        </p:nvSpPr>
        <p:spPr>
          <a:xfrm>
            <a:off x="952500" y="5334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🔔 系统通知</a:t>
            </a:r>
            <a:endParaRPr lang="en-US" sz="1100"/>
          </a:p>
        </p:txBody>
      </p:sp>
      <p:sp>
        <p:nvSpPr>
          <p:cNvPr id="131" name="AutoShape 23">
            <a:extLst>
              <a:ext uri="{FF2B5EF4-FFF2-40B4-BE49-F238E27FC236}">
                <a16:creationId xmlns:a16="http://schemas.microsoft.com/office/drawing/2014/main" id="{FE98F519-3CF6-ABA5-CF65-6B8DD18D2490}"/>
              </a:ext>
            </a:extLst>
          </p:cNvPr>
          <p:cNvSpPr/>
          <p:nvPr/>
        </p:nvSpPr>
        <p:spPr>
          <a:xfrm>
            <a:off x="952500" y="5715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自动触发送还书提醒、预约成功及罚款催缴等事务性消息。</a:t>
            </a:r>
            <a:endParaRPr lang="en-US" sz="1100"/>
          </a:p>
        </p:txBody>
      </p:sp>
      <p:sp>
        <p:nvSpPr>
          <p:cNvPr id="132" name="AutoShape 24">
            <a:extLst>
              <a:ext uri="{FF2B5EF4-FFF2-40B4-BE49-F238E27FC236}">
                <a16:creationId xmlns:a16="http://schemas.microsoft.com/office/drawing/2014/main" id="{52EB48C2-5E1F-1515-4D4E-AD983EB5C659}"/>
              </a:ext>
            </a:extLst>
          </p:cNvPr>
          <p:cNvSpPr/>
          <p:nvPr/>
        </p:nvSpPr>
        <p:spPr>
          <a:xfrm>
            <a:off x="4572000" y="3683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3" name="AutoShape 25">
            <a:extLst>
              <a:ext uri="{FF2B5EF4-FFF2-40B4-BE49-F238E27FC236}">
                <a16:creationId xmlns:a16="http://schemas.microsoft.com/office/drawing/2014/main" id="{67221135-4484-C267-287F-0F3B2F6364CC}"/>
              </a:ext>
            </a:extLst>
          </p:cNvPr>
          <p:cNvSpPr/>
          <p:nvPr/>
        </p:nvSpPr>
        <p:spPr>
          <a:xfrm>
            <a:off x="4762500" y="3810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AOP 技术拦截</a:t>
            </a:r>
            <a:endParaRPr lang="en-US" sz="1100"/>
          </a:p>
        </p:txBody>
      </p:sp>
      <p:sp>
        <p:nvSpPr>
          <p:cNvPr id="134" name="AutoShape 26">
            <a:extLst>
              <a:ext uri="{FF2B5EF4-FFF2-40B4-BE49-F238E27FC236}">
                <a16:creationId xmlns:a16="http://schemas.microsoft.com/office/drawing/2014/main" id="{671C0001-A0D0-6CCE-4C93-B22C38B92626}"/>
              </a:ext>
            </a:extLst>
          </p:cNvPr>
          <p:cNvSpPr/>
          <p:nvPr/>
        </p:nvSpPr>
        <p:spPr>
          <a:xfrm>
            <a:off x="4762500" y="419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 Spring AOP 自动拦截 Controller 核心方法，无感埋点。</a:t>
            </a:r>
            <a:endParaRPr lang="en-US" sz="1100"/>
          </a:p>
        </p:txBody>
      </p:sp>
      <p:sp>
        <p:nvSpPr>
          <p:cNvPr id="135" name="AutoShape 27">
            <a:extLst>
              <a:ext uri="{FF2B5EF4-FFF2-40B4-BE49-F238E27FC236}">
                <a16:creationId xmlns:a16="http://schemas.microsoft.com/office/drawing/2014/main" id="{670D860B-CF3A-2762-19CA-831558990AA0}"/>
              </a:ext>
            </a:extLst>
          </p:cNvPr>
          <p:cNvSpPr/>
          <p:nvPr/>
        </p:nvSpPr>
        <p:spPr>
          <a:xfrm>
            <a:off x="4572000" y="5207000"/>
            <a:ext cx="3048000" cy="12192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6" name="AutoShape 28">
            <a:extLst>
              <a:ext uri="{FF2B5EF4-FFF2-40B4-BE49-F238E27FC236}">
                <a16:creationId xmlns:a16="http://schemas.microsoft.com/office/drawing/2014/main" id="{25837793-4664-4D48-E1F6-1C237DCF3673}"/>
              </a:ext>
            </a:extLst>
          </p:cNvPr>
          <p:cNvSpPr/>
          <p:nvPr/>
        </p:nvSpPr>
        <p:spPr>
          <a:xfrm>
            <a:off x="4762500" y="5334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🔍 全链路数据记录</a:t>
            </a:r>
            <a:endParaRPr lang="en-US" sz="1100"/>
          </a:p>
        </p:txBody>
      </p:sp>
      <p:sp>
        <p:nvSpPr>
          <p:cNvPr id="137" name="AutoShape 29">
            <a:extLst>
              <a:ext uri="{FF2B5EF4-FFF2-40B4-BE49-F238E27FC236}">
                <a16:creationId xmlns:a16="http://schemas.microsoft.com/office/drawing/2014/main" id="{9A8DABE6-8AE0-D481-455E-C42224F520A0}"/>
              </a:ext>
            </a:extLst>
          </p:cNvPr>
          <p:cNvSpPr/>
          <p:nvPr/>
        </p:nvSpPr>
        <p:spPr>
          <a:xfrm>
            <a:off x="4762500" y="5715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使用AOP自动记录操作人、时间、请求参数、执行结果等信息，便于审计与追溯。</a:t>
            </a:r>
            <a:endParaRPr lang="en-US" sz="1100"/>
          </a:p>
        </p:txBody>
      </p:sp>
      <p:sp>
        <p:nvSpPr>
          <p:cNvPr id="138" name="AutoShape 30">
            <a:extLst>
              <a:ext uri="{FF2B5EF4-FFF2-40B4-BE49-F238E27FC236}">
                <a16:creationId xmlns:a16="http://schemas.microsoft.com/office/drawing/2014/main" id="{34F6E2A6-6E39-A775-8E52-0630AB21F3C3}"/>
              </a:ext>
            </a:extLst>
          </p:cNvPr>
          <p:cNvSpPr/>
          <p:nvPr/>
        </p:nvSpPr>
        <p:spPr>
          <a:xfrm>
            <a:off x="8382000" y="3683000"/>
            <a:ext cx="3048000" cy="13970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9" name="AutoShape 31">
            <a:extLst>
              <a:ext uri="{FF2B5EF4-FFF2-40B4-BE49-F238E27FC236}">
                <a16:creationId xmlns:a16="http://schemas.microsoft.com/office/drawing/2014/main" id="{9D863530-4369-A1A6-1A46-D141C67F53FD}"/>
              </a:ext>
            </a:extLst>
          </p:cNvPr>
          <p:cNvSpPr/>
          <p:nvPr/>
        </p:nvSpPr>
        <p:spPr>
          <a:xfrm>
            <a:off x="8572500" y="3810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灵活规则配置</a:t>
            </a:r>
            <a:endParaRPr lang="en-US" sz="1100"/>
          </a:p>
        </p:txBody>
      </p:sp>
      <p:sp>
        <p:nvSpPr>
          <p:cNvPr id="140" name="AutoShape 32">
            <a:extLst>
              <a:ext uri="{FF2B5EF4-FFF2-40B4-BE49-F238E27FC236}">
                <a16:creationId xmlns:a16="http://schemas.microsoft.com/office/drawing/2014/main" id="{6D7A6807-A35E-65F1-231F-000C066E6944}"/>
              </a:ext>
            </a:extLst>
          </p:cNvPr>
          <p:cNvSpPr/>
          <p:nvPr/>
        </p:nvSpPr>
        <p:spPr>
          <a:xfrm>
            <a:off x="8572500" y="4191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管理员可后台动态配置逾期天数阈值及每册每日的罚款金额。</a:t>
            </a:r>
            <a:endParaRPr lang="en-US" sz="1100"/>
          </a:p>
        </p:txBody>
      </p:sp>
      <p:sp>
        <p:nvSpPr>
          <p:cNvPr id="141" name="AutoShape 33">
            <a:extLst>
              <a:ext uri="{FF2B5EF4-FFF2-40B4-BE49-F238E27FC236}">
                <a16:creationId xmlns:a16="http://schemas.microsoft.com/office/drawing/2014/main" id="{06031C1B-5FD1-AFE9-D347-9C5E05EEA753}"/>
              </a:ext>
            </a:extLst>
          </p:cNvPr>
          <p:cNvSpPr/>
          <p:nvPr/>
        </p:nvSpPr>
        <p:spPr>
          <a:xfrm>
            <a:off x="8382000" y="5207000"/>
            <a:ext cx="3048000" cy="12192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2" name="AutoShape 34">
            <a:extLst>
              <a:ext uri="{FF2B5EF4-FFF2-40B4-BE49-F238E27FC236}">
                <a16:creationId xmlns:a16="http://schemas.microsoft.com/office/drawing/2014/main" id="{B1F0091C-2921-9AA5-BD7A-D8D40B61D89F}"/>
              </a:ext>
            </a:extLst>
          </p:cNvPr>
          <p:cNvSpPr/>
          <p:nvPr/>
        </p:nvSpPr>
        <p:spPr>
          <a:xfrm>
            <a:off x="8572500" y="5334000"/>
            <a:ext cx="266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💸 自动核算与处理</a:t>
            </a:r>
            <a:endParaRPr lang="en-US" sz="1100"/>
          </a:p>
        </p:txBody>
      </p:sp>
      <p:sp>
        <p:nvSpPr>
          <p:cNvPr id="143" name="AutoShape 35">
            <a:extLst>
              <a:ext uri="{FF2B5EF4-FFF2-40B4-BE49-F238E27FC236}">
                <a16:creationId xmlns:a16="http://schemas.microsoft.com/office/drawing/2014/main" id="{DE855E73-D3C7-4E99-7489-A51BF87E5023}"/>
              </a:ext>
            </a:extLst>
          </p:cNvPr>
          <p:cNvSpPr/>
          <p:nvPr/>
        </p:nvSpPr>
        <p:spPr>
          <a:xfrm>
            <a:off x="8572500" y="5715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支持罚款规则配置，自动计算逾期费用，提供查询、支付与减免功能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5269947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EA09E-C530-30F6-9952-70E5303F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7659D7F-52D5-973C-470C-3795D2A10B39}"/>
              </a:ext>
            </a:extLst>
          </p:cNvPr>
          <p:cNvSpPr/>
          <p:nvPr/>
        </p:nvSpPr>
        <p:spPr>
          <a:xfrm>
            <a:off x="0" y="1651000"/>
            <a:ext cx="1219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0" b="1" i="0" u="none" strike="noStrike" dirty="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85A84191-66C4-C0F7-C573-71DEE365C0DA}"/>
              </a:ext>
            </a:extLst>
          </p:cNvPr>
          <p:cNvSpPr/>
          <p:nvPr/>
        </p:nvSpPr>
        <p:spPr>
          <a:xfrm>
            <a:off x="0" y="368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4000" b="1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测试、总结与展望</a:t>
            </a:r>
            <a:endParaRPr lang="en-US" altLang="zh-CN" sz="11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43C8740-6DF5-DBDA-60C3-ACA4CA0B26C1}"/>
              </a:ext>
            </a:extLst>
          </p:cNvPr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2000" dirty="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TESTING, SUMMARY &amp; OUTLOOK</a:t>
            </a:r>
            <a:endParaRPr lang="en-US" altLang="zh-CN" sz="1100" dirty="0"/>
          </a:p>
        </p:txBody>
      </p:sp>
    </p:spTree>
    <p:extLst>
      <p:ext uri="{BB962C8B-B14F-4D97-AF65-F5344CB8AC3E}">
        <p14:creationId xmlns:p14="http://schemas.microsoft.com/office/powerpoint/2010/main" val="499712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75376" cy="37687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65317" y="376878"/>
            <a:ext cx="3222306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系统测试与运行结果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5317" y="829131"/>
            <a:ext cx="1133460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TESTING &amp; RESULTS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6878" y="1206009"/>
            <a:ext cx="5643747" cy="200687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7629" y="1356760"/>
            <a:ext cx="376878" cy="376878"/>
          </a:xfrm>
          <a:prstGeom prst="roundRect">
            <a:avLst>
              <a:gd name="adj" fmla="val 20000"/>
            </a:avLst>
          </a:prstGeom>
          <a:solidFill>
            <a:srgbClr val="16A085"/>
          </a:solidFill>
          <a:ln/>
        </p:spPr>
      </p:sp>
      <p:sp>
        <p:nvSpPr>
          <p:cNvPr id="7" name="Shape 5"/>
          <p:cNvSpPr/>
          <p:nvPr/>
        </p:nvSpPr>
        <p:spPr>
          <a:xfrm>
            <a:off x="640692" y="1469824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39396" y="10688"/>
                </a:moveTo>
                <a:cubicBezTo>
                  <a:pt x="42605" y="12926"/>
                  <a:pt x="43370" y="17342"/>
                  <a:pt x="41133" y="20522"/>
                </a:cubicBezTo>
                <a:lnTo>
                  <a:pt x="24644" y="44077"/>
                </a:lnTo>
                <a:cubicBezTo>
                  <a:pt x="23437" y="45785"/>
                  <a:pt x="21553" y="46874"/>
                  <a:pt x="19462" y="47051"/>
                </a:cubicBezTo>
                <a:cubicBezTo>
                  <a:pt x="17372" y="47228"/>
                  <a:pt x="15311" y="46521"/>
                  <a:pt x="13838" y="45049"/>
                </a:cubicBezTo>
                <a:lnTo>
                  <a:pt x="2061" y="33271"/>
                </a:lnTo>
                <a:cubicBezTo>
                  <a:pt x="-677" y="30504"/>
                  <a:pt x="-677" y="26028"/>
                  <a:pt x="2061" y="23260"/>
                </a:cubicBezTo>
                <a:cubicBezTo>
                  <a:pt x="4799" y="20493"/>
                  <a:pt x="9304" y="20522"/>
                  <a:pt x="12072" y="23260"/>
                </a:cubicBezTo>
                <a:lnTo>
                  <a:pt x="17902" y="29090"/>
                </a:lnTo>
                <a:lnTo>
                  <a:pt x="29561" y="12425"/>
                </a:lnTo>
                <a:cubicBezTo>
                  <a:pt x="31799" y="9216"/>
                  <a:pt x="36216" y="8450"/>
                  <a:pt x="39396" y="10688"/>
                </a:cubicBezTo>
                <a:close/>
                <a:moveTo>
                  <a:pt x="39396" y="57798"/>
                </a:moveTo>
                <a:cubicBezTo>
                  <a:pt x="42605" y="60035"/>
                  <a:pt x="43370" y="64452"/>
                  <a:pt x="41133" y="67632"/>
                </a:cubicBezTo>
                <a:lnTo>
                  <a:pt x="24644" y="91187"/>
                </a:lnTo>
                <a:cubicBezTo>
                  <a:pt x="23437" y="92895"/>
                  <a:pt x="21553" y="93984"/>
                  <a:pt x="19462" y="94161"/>
                </a:cubicBezTo>
                <a:cubicBezTo>
                  <a:pt x="17372" y="94337"/>
                  <a:pt x="15311" y="93631"/>
                  <a:pt x="13838" y="92158"/>
                </a:cubicBezTo>
                <a:lnTo>
                  <a:pt x="2061" y="80381"/>
                </a:lnTo>
                <a:cubicBezTo>
                  <a:pt x="-707" y="77613"/>
                  <a:pt x="-707" y="73138"/>
                  <a:pt x="2061" y="70400"/>
                </a:cubicBezTo>
                <a:cubicBezTo>
                  <a:pt x="4829" y="67661"/>
                  <a:pt x="9304" y="67632"/>
                  <a:pt x="12042" y="70400"/>
                </a:cubicBezTo>
                <a:lnTo>
                  <a:pt x="17872" y="76229"/>
                </a:lnTo>
                <a:lnTo>
                  <a:pt x="29532" y="59564"/>
                </a:lnTo>
                <a:cubicBezTo>
                  <a:pt x="31770" y="56355"/>
                  <a:pt x="36186" y="55589"/>
                  <a:pt x="39366" y="57827"/>
                </a:cubicBezTo>
                <a:close/>
                <a:moveTo>
                  <a:pt x="65954" y="28266"/>
                </a:moveTo>
                <a:cubicBezTo>
                  <a:pt x="65954" y="23054"/>
                  <a:pt x="70164" y="18844"/>
                  <a:pt x="75376" y="18844"/>
                </a:cubicBezTo>
                <a:lnTo>
                  <a:pt x="141329" y="18844"/>
                </a:lnTo>
                <a:cubicBezTo>
                  <a:pt x="146541" y="18844"/>
                  <a:pt x="150751" y="23054"/>
                  <a:pt x="150751" y="28266"/>
                </a:cubicBezTo>
                <a:cubicBezTo>
                  <a:pt x="150751" y="33477"/>
                  <a:pt x="146541" y="37688"/>
                  <a:pt x="141329" y="37688"/>
                </a:cubicBezTo>
                <a:lnTo>
                  <a:pt x="75376" y="37688"/>
                </a:lnTo>
                <a:cubicBezTo>
                  <a:pt x="70164" y="37688"/>
                  <a:pt x="65954" y="33477"/>
                  <a:pt x="65954" y="28266"/>
                </a:cubicBezTo>
                <a:close/>
                <a:moveTo>
                  <a:pt x="65954" y="75376"/>
                </a:moveTo>
                <a:cubicBezTo>
                  <a:pt x="65954" y="70164"/>
                  <a:pt x="70164" y="65954"/>
                  <a:pt x="75376" y="65954"/>
                </a:cubicBezTo>
                <a:lnTo>
                  <a:pt x="141329" y="65954"/>
                </a:lnTo>
                <a:cubicBezTo>
                  <a:pt x="146541" y="65954"/>
                  <a:pt x="150751" y="70164"/>
                  <a:pt x="150751" y="75376"/>
                </a:cubicBezTo>
                <a:cubicBezTo>
                  <a:pt x="150751" y="80587"/>
                  <a:pt x="146541" y="84798"/>
                  <a:pt x="141329" y="84798"/>
                </a:cubicBezTo>
                <a:lnTo>
                  <a:pt x="75376" y="84798"/>
                </a:lnTo>
                <a:cubicBezTo>
                  <a:pt x="70164" y="84798"/>
                  <a:pt x="65954" y="80587"/>
                  <a:pt x="65954" y="75376"/>
                </a:cubicBezTo>
                <a:close/>
                <a:moveTo>
                  <a:pt x="47110" y="122485"/>
                </a:moveTo>
                <a:cubicBezTo>
                  <a:pt x="47110" y="117274"/>
                  <a:pt x="51320" y="113063"/>
                  <a:pt x="56532" y="113063"/>
                </a:cubicBezTo>
                <a:lnTo>
                  <a:pt x="141329" y="113063"/>
                </a:lnTo>
                <a:cubicBezTo>
                  <a:pt x="146541" y="113063"/>
                  <a:pt x="150751" y="117274"/>
                  <a:pt x="150751" y="122485"/>
                </a:cubicBezTo>
                <a:cubicBezTo>
                  <a:pt x="150751" y="127697"/>
                  <a:pt x="146541" y="131907"/>
                  <a:pt x="141329" y="131907"/>
                </a:cubicBezTo>
                <a:lnTo>
                  <a:pt x="56532" y="131907"/>
                </a:lnTo>
                <a:cubicBezTo>
                  <a:pt x="51320" y="131907"/>
                  <a:pt x="47110" y="127697"/>
                  <a:pt x="47110" y="122485"/>
                </a:cubicBezTo>
                <a:close/>
                <a:moveTo>
                  <a:pt x="18844" y="110708"/>
                </a:moveTo>
                <a:cubicBezTo>
                  <a:pt x="25344" y="110708"/>
                  <a:pt x="30621" y="115985"/>
                  <a:pt x="30621" y="122485"/>
                </a:cubicBezTo>
                <a:cubicBezTo>
                  <a:pt x="30621" y="128985"/>
                  <a:pt x="25344" y="134263"/>
                  <a:pt x="18844" y="134263"/>
                </a:cubicBezTo>
                <a:cubicBezTo>
                  <a:pt x="12344" y="134263"/>
                  <a:pt x="7066" y="128985"/>
                  <a:pt x="7066" y="122485"/>
                </a:cubicBezTo>
                <a:cubicBezTo>
                  <a:pt x="7066" y="115985"/>
                  <a:pt x="12344" y="110708"/>
                  <a:pt x="18844" y="1107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17570" y="1394448"/>
            <a:ext cx="101757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测试内容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1398" y="1850470"/>
            <a:ext cx="2626839" cy="346728"/>
          </a:xfrm>
          <a:prstGeom prst="roundRect">
            <a:avLst>
              <a:gd name="adj" fmla="val 21739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9386" y="1948461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874357" y="1929618"/>
            <a:ext cx="72549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登录与权限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40679" y="1850470"/>
            <a:ext cx="2626839" cy="346728"/>
          </a:xfrm>
          <a:prstGeom prst="roundRect">
            <a:avLst>
              <a:gd name="adj" fmla="val 21739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8667" y="1948461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3583638" y="1929618"/>
            <a:ext cx="59358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图书管理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1398" y="2280112"/>
            <a:ext cx="2626839" cy="346728"/>
          </a:xfrm>
          <a:prstGeom prst="roundRect">
            <a:avLst>
              <a:gd name="adj" fmla="val 21739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386" y="2378099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874357" y="2359255"/>
            <a:ext cx="85739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借阅归还续借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40679" y="2280112"/>
            <a:ext cx="2626839" cy="346728"/>
          </a:xfrm>
          <a:prstGeom prst="roundRect">
            <a:avLst>
              <a:gd name="adj" fmla="val 21739"/>
            </a:avLst>
          </a:prstGeom>
          <a:solidFill>
            <a:srgbClr val="16A085">
              <a:alpha val="5098"/>
            </a:srgbClr>
          </a:solidFill>
          <a:ln w="10160">
            <a:solidFill>
              <a:srgbClr val="16A08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8667" y="2378099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20" name="Text 18"/>
          <p:cNvSpPr/>
          <p:nvPr/>
        </p:nvSpPr>
        <p:spPr>
          <a:xfrm>
            <a:off x="3583638" y="2359255"/>
            <a:ext cx="857397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评论收藏预约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1398" y="2709754"/>
            <a:ext cx="2626839" cy="346728"/>
          </a:xfrm>
          <a:prstGeom prst="roundRect">
            <a:avLst>
              <a:gd name="adj" fmla="val 21739"/>
            </a:avLst>
          </a:prstGeom>
          <a:solidFill>
            <a:srgbClr val="2C3E50">
              <a:alpha val="5098"/>
            </a:srgbClr>
          </a:solidFill>
          <a:ln w="10160">
            <a:solidFill>
              <a:srgbClr val="2C3E50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9386" y="2807740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3" name="Text 21"/>
          <p:cNvSpPr/>
          <p:nvPr/>
        </p:nvSpPr>
        <p:spPr>
          <a:xfrm>
            <a:off x="874357" y="2788896"/>
            <a:ext cx="59358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通知公告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40679" y="2709754"/>
            <a:ext cx="2626839" cy="346728"/>
          </a:xfrm>
          <a:prstGeom prst="roundRect">
            <a:avLst>
              <a:gd name="adj" fmla="val 21739"/>
            </a:avLst>
          </a:prstGeom>
          <a:solidFill>
            <a:srgbClr val="E67E22">
              <a:alpha val="5098"/>
            </a:srgbClr>
          </a:solidFill>
          <a:ln w="10160">
            <a:solidFill>
              <a:srgbClr val="E67E22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8667" y="2807740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75376" y="150751"/>
                </a:moveTo>
                <a:cubicBezTo>
                  <a:pt x="116976" y="150751"/>
                  <a:pt x="150751" y="116976"/>
                  <a:pt x="150751" y="75376"/>
                </a:cubicBezTo>
                <a:cubicBezTo>
                  <a:pt x="150751" y="33775"/>
                  <a:pt x="116976" y="0"/>
                  <a:pt x="75376" y="0"/>
                </a:cubicBezTo>
                <a:cubicBezTo>
                  <a:pt x="33775" y="0"/>
                  <a:pt x="0" y="33775"/>
                  <a:pt x="0" y="75376"/>
                </a:cubicBezTo>
                <a:cubicBezTo>
                  <a:pt x="0" y="116976"/>
                  <a:pt x="33775" y="150751"/>
                  <a:pt x="75376" y="150751"/>
                </a:cubicBezTo>
                <a:close/>
                <a:moveTo>
                  <a:pt x="100226" y="62627"/>
                </a:moveTo>
                <a:lnTo>
                  <a:pt x="76671" y="100314"/>
                </a:lnTo>
                <a:cubicBezTo>
                  <a:pt x="75434" y="102287"/>
                  <a:pt x="73315" y="103524"/>
                  <a:pt x="70988" y="103641"/>
                </a:cubicBezTo>
                <a:cubicBezTo>
                  <a:pt x="68662" y="103759"/>
                  <a:pt x="66425" y="102699"/>
                  <a:pt x="65041" y="100815"/>
                </a:cubicBezTo>
                <a:lnTo>
                  <a:pt x="50908" y="81971"/>
                </a:lnTo>
                <a:cubicBezTo>
                  <a:pt x="48552" y="78850"/>
                  <a:pt x="49200" y="74433"/>
                  <a:pt x="52321" y="72078"/>
                </a:cubicBezTo>
                <a:cubicBezTo>
                  <a:pt x="55442" y="69722"/>
                  <a:pt x="59859" y="70370"/>
                  <a:pt x="62214" y="73491"/>
                </a:cubicBezTo>
                <a:lnTo>
                  <a:pt x="70164" y="84091"/>
                </a:lnTo>
                <a:lnTo>
                  <a:pt x="88242" y="55148"/>
                </a:lnTo>
                <a:cubicBezTo>
                  <a:pt x="90303" y="51850"/>
                  <a:pt x="94661" y="50820"/>
                  <a:pt x="97988" y="52910"/>
                </a:cubicBezTo>
                <a:cubicBezTo>
                  <a:pt x="101315" y="55001"/>
                  <a:pt x="102316" y="59329"/>
                  <a:pt x="100226" y="62656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3583638" y="2788896"/>
            <a:ext cx="59358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罚款统计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76878" y="3324066"/>
            <a:ext cx="5643747" cy="286427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7629" y="3474817"/>
            <a:ext cx="376878" cy="376878"/>
          </a:xfrm>
          <a:prstGeom prst="roundRect">
            <a:avLst>
              <a:gd name="adj" fmla="val 20000"/>
            </a:avLst>
          </a:prstGeom>
          <a:solidFill>
            <a:srgbClr val="2C3E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692" y="3587880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00874" y="2768"/>
                </a:moveTo>
                <a:cubicBezTo>
                  <a:pt x="97193" y="-913"/>
                  <a:pt x="91216" y="-913"/>
                  <a:pt x="87536" y="2768"/>
                </a:cubicBezTo>
                <a:cubicBezTo>
                  <a:pt x="83855" y="6448"/>
                  <a:pt x="83855" y="12425"/>
                  <a:pt x="87536" y="16106"/>
                </a:cubicBezTo>
                <a:lnTo>
                  <a:pt x="90303" y="18844"/>
                </a:lnTo>
                <a:lnTo>
                  <a:pt x="8274" y="100874"/>
                </a:lnTo>
                <a:cubicBezTo>
                  <a:pt x="2974" y="106174"/>
                  <a:pt x="0" y="113358"/>
                  <a:pt x="0" y="120866"/>
                </a:cubicBezTo>
                <a:lnTo>
                  <a:pt x="0" y="122485"/>
                </a:lnTo>
                <a:cubicBezTo>
                  <a:pt x="0" y="138090"/>
                  <a:pt x="12661" y="150751"/>
                  <a:pt x="28266" y="150751"/>
                </a:cubicBezTo>
                <a:lnTo>
                  <a:pt x="29885" y="150751"/>
                </a:lnTo>
                <a:cubicBezTo>
                  <a:pt x="37393" y="150751"/>
                  <a:pt x="44578" y="147777"/>
                  <a:pt x="49877" y="142478"/>
                </a:cubicBezTo>
                <a:lnTo>
                  <a:pt x="131907" y="60448"/>
                </a:lnTo>
                <a:lnTo>
                  <a:pt x="134675" y="63215"/>
                </a:lnTo>
                <a:cubicBezTo>
                  <a:pt x="138355" y="66896"/>
                  <a:pt x="144332" y="66896"/>
                  <a:pt x="148013" y="63215"/>
                </a:cubicBezTo>
                <a:cubicBezTo>
                  <a:pt x="151693" y="59535"/>
                  <a:pt x="151693" y="53558"/>
                  <a:pt x="148013" y="49877"/>
                </a:cubicBezTo>
                <a:lnTo>
                  <a:pt x="100903" y="2768"/>
                </a:lnTo>
                <a:close/>
                <a:moveTo>
                  <a:pt x="60448" y="75376"/>
                </a:moveTo>
                <a:lnTo>
                  <a:pt x="103641" y="32182"/>
                </a:lnTo>
                <a:lnTo>
                  <a:pt x="118569" y="47110"/>
                </a:lnTo>
                <a:lnTo>
                  <a:pt x="90303" y="75376"/>
                </a:lnTo>
                <a:lnTo>
                  <a:pt x="60418" y="7537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1017570" y="3512505"/>
            <a:ext cx="101757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测试方式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6473" y="3964758"/>
            <a:ext cx="5323400" cy="640692"/>
          </a:xfrm>
          <a:custGeom>
            <a:avLst/>
            <a:gdLst/>
            <a:ahLst/>
            <a:cxnLst/>
            <a:rect l="l" t="t" r="r" b="b"/>
            <a:pathLst>
              <a:path w="5323400" h="640692">
                <a:moveTo>
                  <a:pt x="37719" y="0"/>
                </a:moveTo>
                <a:lnTo>
                  <a:pt x="5248021" y="0"/>
                </a:lnTo>
                <a:cubicBezTo>
                  <a:pt x="5289656" y="0"/>
                  <a:pt x="5323459" y="33803"/>
                  <a:pt x="5323459" y="75438"/>
                </a:cubicBezTo>
                <a:lnTo>
                  <a:pt x="5323459" y="565277"/>
                </a:lnTo>
                <a:cubicBezTo>
                  <a:pt x="5323459" y="606940"/>
                  <a:pt x="5289684" y="640715"/>
                  <a:pt x="5248021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16A085">
              <a:alpha val="5098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46473" y="3964758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713" y="4115509"/>
            <a:ext cx="164884" cy="188439"/>
          </a:xfrm>
          <a:custGeom>
            <a:avLst/>
            <a:gdLst/>
            <a:ahLst/>
            <a:cxnLst/>
            <a:rect l="l" t="t" r="r" b="b"/>
            <a:pathLst>
              <a:path w="164884" h="188439">
                <a:moveTo>
                  <a:pt x="105997" y="0"/>
                </a:moveTo>
                <a:lnTo>
                  <a:pt x="47110" y="0"/>
                </a:lnTo>
                <a:cubicBezTo>
                  <a:pt x="40595" y="0"/>
                  <a:pt x="35332" y="5263"/>
                  <a:pt x="35332" y="11777"/>
                </a:cubicBezTo>
                <a:cubicBezTo>
                  <a:pt x="35332" y="18292"/>
                  <a:pt x="40595" y="23555"/>
                  <a:pt x="47110" y="23555"/>
                </a:cubicBezTo>
                <a:lnTo>
                  <a:pt x="47110" y="79314"/>
                </a:lnTo>
                <a:lnTo>
                  <a:pt x="2760" y="156898"/>
                </a:lnTo>
                <a:cubicBezTo>
                  <a:pt x="957" y="160099"/>
                  <a:pt x="0" y="163670"/>
                  <a:pt x="0" y="167350"/>
                </a:cubicBezTo>
                <a:cubicBezTo>
                  <a:pt x="0" y="179017"/>
                  <a:pt x="9422" y="188439"/>
                  <a:pt x="21089" y="188439"/>
                </a:cubicBezTo>
                <a:lnTo>
                  <a:pt x="143795" y="188439"/>
                </a:lnTo>
                <a:cubicBezTo>
                  <a:pt x="155425" y="188439"/>
                  <a:pt x="164884" y="179017"/>
                  <a:pt x="164884" y="167350"/>
                </a:cubicBezTo>
                <a:cubicBezTo>
                  <a:pt x="164884" y="163670"/>
                  <a:pt x="163927" y="160063"/>
                  <a:pt x="162124" y="156898"/>
                </a:cubicBezTo>
                <a:lnTo>
                  <a:pt x="117774" y="79314"/>
                </a:lnTo>
                <a:lnTo>
                  <a:pt x="117774" y="23555"/>
                </a:lnTo>
                <a:cubicBezTo>
                  <a:pt x="124289" y="23555"/>
                  <a:pt x="129552" y="18292"/>
                  <a:pt x="129552" y="11777"/>
                </a:cubicBezTo>
                <a:cubicBezTo>
                  <a:pt x="129552" y="5263"/>
                  <a:pt x="124289" y="0"/>
                  <a:pt x="117774" y="0"/>
                </a:cubicBezTo>
                <a:lnTo>
                  <a:pt x="105997" y="0"/>
                </a:lnTo>
                <a:close/>
                <a:moveTo>
                  <a:pt x="70665" y="79314"/>
                </a:moveTo>
                <a:lnTo>
                  <a:pt x="70665" y="23555"/>
                </a:lnTo>
                <a:lnTo>
                  <a:pt x="94219" y="23555"/>
                </a:lnTo>
                <a:lnTo>
                  <a:pt x="94219" y="79314"/>
                </a:lnTo>
                <a:cubicBezTo>
                  <a:pt x="94219" y="83399"/>
                  <a:pt x="95287" y="87447"/>
                  <a:pt x="97311" y="91017"/>
                </a:cubicBezTo>
                <a:lnTo>
                  <a:pt x="112622" y="117774"/>
                </a:lnTo>
                <a:lnTo>
                  <a:pt x="52262" y="117774"/>
                </a:lnTo>
                <a:lnTo>
                  <a:pt x="67573" y="91017"/>
                </a:lnTo>
                <a:cubicBezTo>
                  <a:pt x="69597" y="87447"/>
                  <a:pt x="70665" y="83436"/>
                  <a:pt x="70665" y="79314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34" name="Text 32"/>
          <p:cNvSpPr/>
          <p:nvPr/>
        </p:nvSpPr>
        <p:spPr>
          <a:xfrm>
            <a:off x="1026992" y="4077822"/>
            <a:ext cx="233664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Swagger 接口调试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26992" y="4303948"/>
            <a:ext cx="232722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使用SpringDoc OpenAPI进行接口测试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6473" y="4680826"/>
            <a:ext cx="5323400" cy="640692"/>
          </a:xfrm>
          <a:custGeom>
            <a:avLst/>
            <a:gdLst/>
            <a:ahLst/>
            <a:cxnLst/>
            <a:rect l="l" t="t" r="r" b="b"/>
            <a:pathLst>
              <a:path w="5323400" h="640692">
                <a:moveTo>
                  <a:pt x="37719" y="0"/>
                </a:moveTo>
                <a:lnTo>
                  <a:pt x="5248021" y="0"/>
                </a:lnTo>
                <a:cubicBezTo>
                  <a:pt x="5289656" y="0"/>
                  <a:pt x="5323459" y="33803"/>
                  <a:pt x="5323459" y="75438"/>
                </a:cubicBezTo>
                <a:lnTo>
                  <a:pt x="5323459" y="565277"/>
                </a:lnTo>
                <a:cubicBezTo>
                  <a:pt x="5323459" y="606940"/>
                  <a:pt x="5289684" y="640715"/>
                  <a:pt x="5248021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2C3E50">
              <a:alpha val="5098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46473" y="4680826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8" name="Shape 36"/>
          <p:cNvSpPr/>
          <p:nvPr/>
        </p:nvSpPr>
        <p:spPr>
          <a:xfrm>
            <a:off x="701935" y="4831577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184979" y="55428"/>
                </a:moveTo>
                <a:lnTo>
                  <a:pt x="149647" y="90760"/>
                </a:lnTo>
                <a:cubicBezTo>
                  <a:pt x="146261" y="94146"/>
                  <a:pt x="141219" y="95140"/>
                  <a:pt x="136802" y="93299"/>
                </a:cubicBezTo>
                <a:cubicBezTo>
                  <a:pt x="132386" y="91459"/>
                  <a:pt x="129552" y="87190"/>
                  <a:pt x="129552" y="82442"/>
                </a:cubicBezTo>
                <a:lnTo>
                  <a:pt x="129552" y="58887"/>
                </a:lnTo>
                <a:lnTo>
                  <a:pt x="11777" y="58887"/>
                </a:lnTo>
                <a:cubicBezTo>
                  <a:pt x="5263" y="58887"/>
                  <a:pt x="0" y="53624"/>
                  <a:pt x="0" y="47110"/>
                </a:cubicBezTo>
                <a:cubicBezTo>
                  <a:pt x="0" y="40595"/>
                  <a:pt x="5263" y="35332"/>
                  <a:pt x="11777" y="35332"/>
                </a:cubicBezTo>
                <a:lnTo>
                  <a:pt x="129552" y="35332"/>
                </a:lnTo>
                <a:lnTo>
                  <a:pt x="129552" y="11777"/>
                </a:lnTo>
                <a:cubicBezTo>
                  <a:pt x="129552" y="7030"/>
                  <a:pt x="132423" y="2724"/>
                  <a:pt x="136839" y="883"/>
                </a:cubicBezTo>
                <a:cubicBezTo>
                  <a:pt x="141256" y="-957"/>
                  <a:pt x="146298" y="74"/>
                  <a:pt x="149684" y="3423"/>
                </a:cubicBezTo>
                <a:lnTo>
                  <a:pt x="185016" y="38755"/>
                </a:lnTo>
                <a:cubicBezTo>
                  <a:pt x="189617" y="43356"/>
                  <a:pt x="189617" y="50827"/>
                  <a:pt x="185016" y="55428"/>
                </a:cubicBezTo>
                <a:close/>
                <a:moveTo>
                  <a:pt x="38755" y="184979"/>
                </a:moveTo>
                <a:lnTo>
                  <a:pt x="3423" y="149647"/>
                </a:lnTo>
                <a:cubicBezTo>
                  <a:pt x="-1178" y="145046"/>
                  <a:pt x="-1178" y="137575"/>
                  <a:pt x="3423" y="132975"/>
                </a:cubicBezTo>
                <a:lnTo>
                  <a:pt x="38755" y="97642"/>
                </a:lnTo>
                <a:cubicBezTo>
                  <a:pt x="42141" y="94256"/>
                  <a:pt x="47183" y="93263"/>
                  <a:pt x="51600" y="95103"/>
                </a:cubicBezTo>
                <a:cubicBezTo>
                  <a:pt x="56016" y="96943"/>
                  <a:pt x="58887" y="101249"/>
                  <a:pt x="58887" y="105997"/>
                </a:cubicBezTo>
                <a:lnTo>
                  <a:pt x="58887" y="129552"/>
                </a:lnTo>
                <a:lnTo>
                  <a:pt x="176662" y="129552"/>
                </a:lnTo>
                <a:cubicBezTo>
                  <a:pt x="183176" y="129552"/>
                  <a:pt x="188439" y="134815"/>
                  <a:pt x="188439" y="141329"/>
                </a:cubicBezTo>
                <a:cubicBezTo>
                  <a:pt x="188439" y="147844"/>
                  <a:pt x="183176" y="153107"/>
                  <a:pt x="176662" y="153107"/>
                </a:cubicBezTo>
                <a:lnTo>
                  <a:pt x="58887" y="153107"/>
                </a:lnTo>
                <a:lnTo>
                  <a:pt x="58887" y="176662"/>
                </a:lnTo>
                <a:cubicBezTo>
                  <a:pt x="58887" y="181409"/>
                  <a:pt x="56016" y="185715"/>
                  <a:pt x="51600" y="187556"/>
                </a:cubicBezTo>
                <a:cubicBezTo>
                  <a:pt x="47183" y="189396"/>
                  <a:pt x="42141" y="188365"/>
                  <a:pt x="38755" y="18501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9" name="Text 37"/>
          <p:cNvSpPr/>
          <p:nvPr/>
        </p:nvSpPr>
        <p:spPr>
          <a:xfrm>
            <a:off x="1026992" y="4793890"/>
            <a:ext cx="165826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前后端联调测试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6992" y="5020016"/>
            <a:ext cx="1648841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验证完整业务流程的正确性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46473" y="5396894"/>
            <a:ext cx="5323400" cy="640692"/>
          </a:xfrm>
          <a:custGeom>
            <a:avLst/>
            <a:gdLst/>
            <a:ahLst/>
            <a:cxnLst/>
            <a:rect l="l" t="t" r="r" b="b"/>
            <a:pathLst>
              <a:path w="5323400" h="640692">
                <a:moveTo>
                  <a:pt x="37719" y="0"/>
                </a:moveTo>
                <a:lnTo>
                  <a:pt x="5248021" y="0"/>
                </a:lnTo>
                <a:cubicBezTo>
                  <a:pt x="5289656" y="0"/>
                  <a:pt x="5323459" y="33803"/>
                  <a:pt x="5323459" y="75438"/>
                </a:cubicBezTo>
                <a:lnTo>
                  <a:pt x="5323459" y="565277"/>
                </a:lnTo>
                <a:cubicBezTo>
                  <a:pt x="5323459" y="606940"/>
                  <a:pt x="5289684" y="640715"/>
                  <a:pt x="5248021" y="640715"/>
                </a:cubicBez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E67E22">
              <a:alpha val="5098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46473" y="5396894"/>
            <a:ext cx="37688" cy="640692"/>
          </a:xfrm>
          <a:custGeom>
            <a:avLst/>
            <a:gdLst/>
            <a:ahLst/>
            <a:cxnLst/>
            <a:rect l="l" t="t" r="r" b="b"/>
            <a:pathLst>
              <a:path w="37688" h="640692">
                <a:moveTo>
                  <a:pt x="37719" y="0"/>
                </a:moveTo>
                <a:lnTo>
                  <a:pt x="37719" y="0"/>
                </a:lnTo>
                <a:lnTo>
                  <a:pt x="37719" y="640715"/>
                </a:lnTo>
                <a:lnTo>
                  <a:pt x="37719" y="640715"/>
                </a:lnTo>
                <a:cubicBezTo>
                  <a:pt x="16887" y="640715"/>
                  <a:pt x="0" y="623828"/>
                  <a:pt x="0" y="602996"/>
                </a:cubicBezTo>
                <a:lnTo>
                  <a:pt x="0" y="37719"/>
                </a:lnTo>
                <a:cubicBezTo>
                  <a:pt x="0" y="16901"/>
                  <a:pt x="16901" y="0"/>
                  <a:pt x="37719" y="0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3" name="Shape 41"/>
          <p:cNvSpPr/>
          <p:nvPr/>
        </p:nvSpPr>
        <p:spPr>
          <a:xfrm>
            <a:off x="701935" y="5547645"/>
            <a:ext cx="188439" cy="188439"/>
          </a:xfrm>
          <a:custGeom>
            <a:avLst/>
            <a:gdLst/>
            <a:ahLst/>
            <a:cxnLst/>
            <a:rect l="l" t="t" r="r" b="b"/>
            <a:pathLst>
              <a:path w="188439" h="188439">
                <a:moveTo>
                  <a:pt x="64776" y="0"/>
                </a:moveTo>
                <a:cubicBezTo>
                  <a:pt x="55023" y="0"/>
                  <a:pt x="47110" y="7913"/>
                  <a:pt x="47110" y="17666"/>
                </a:cubicBezTo>
                <a:lnTo>
                  <a:pt x="47110" y="94219"/>
                </a:lnTo>
                <a:cubicBezTo>
                  <a:pt x="47110" y="103973"/>
                  <a:pt x="55023" y="111886"/>
                  <a:pt x="64776" y="111886"/>
                </a:cubicBezTo>
                <a:lnTo>
                  <a:pt x="88331" y="111886"/>
                </a:lnTo>
                <a:cubicBezTo>
                  <a:pt x="98084" y="111886"/>
                  <a:pt x="105997" y="103973"/>
                  <a:pt x="105997" y="94219"/>
                </a:cubicBezTo>
                <a:lnTo>
                  <a:pt x="105997" y="70665"/>
                </a:lnTo>
                <a:lnTo>
                  <a:pt x="117774" y="70665"/>
                </a:lnTo>
                <a:cubicBezTo>
                  <a:pt x="143795" y="70665"/>
                  <a:pt x="164884" y="91754"/>
                  <a:pt x="164884" y="117774"/>
                </a:cubicBezTo>
                <a:cubicBezTo>
                  <a:pt x="164884" y="143795"/>
                  <a:pt x="143795" y="164884"/>
                  <a:pt x="117774" y="164884"/>
                </a:cubicBezTo>
                <a:lnTo>
                  <a:pt x="11777" y="164884"/>
                </a:lnTo>
                <a:cubicBezTo>
                  <a:pt x="5263" y="164884"/>
                  <a:pt x="0" y="170147"/>
                  <a:pt x="0" y="176662"/>
                </a:cubicBezTo>
                <a:cubicBezTo>
                  <a:pt x="0" y="183176"/>
                  <a:pt x="5263" y="188439"/>
                  <a:pt x="11777" y="188439"/>
                </a:cubicBezTo>
                <a:lnTo>
                  <a:pt x="176662" y="188439"/>
                </a:lnTo>
                <a:cubicBezTo>
                  <a:pt x="183176" y="188439"/>
                  <a:pt x="188439" y="183176"/>
                  <a:pt x="188439" y="176662"/>
                </a:cubicBezTo>
                <a:cubicBezTo>
                  <a:pt x="188439" y="170147"/>
                  <a:pt x="183176" y="164884"/>
                  <a:pt x="176662" y="164884"/>
                </a:cubicBezTo>
                <a:lnTo>
                  <a:pt x="170442" y="164884"/>
                </a:lnTo>
                <a:cubicBezTo>
                  <a:pt x="181630" y="152371"/>
                  <a:pt x="188439" y="135882"/>
                  <a:pt x="188439" y="117774"/>
                </a:cubicBezTo>
                <a:cubicBezTo>
                  <a:pt x="188439" y="78762"/>
                  <a:pt x="156787" y="47110"/>
                  <a:pt x="117774" y="47110"/>
                </a:cubicBezTo>
                <a:lnTo>
                  <a:pt x="105997" y="47110"/>
                </a:lnTo>
                <a:lnTo>
                  <a:pt x="105997" y="17666"/>
                </a:lnTo>
                <a:cubicBezTo>
                  <a:pt x="105997" y="7913"/>
                  <a:pt x="98084" y="0"/>
                  <a:pt x="88331" y="0"/>
                </a:cubicBezTo>
                <a:lnTo>
                  <a:pt x="64776" y="0"/>
                </a:lnTo>
                <a:close/>
                <a:moveTo>
                  <a:pt x="44165" y="129552"/>
                </a:moveTo>
                <a:cubicBezTo>
                  <a:pt x="39270" y="129552"/>
                  <a:pt x="35332" y="133490"/>
                  <a:pt x="35332" y="138385"/>
                </a:cubicBezTo>
                <a:cubicBezTo>
                  <a:pt x="35332" y="143280"/>
                  <a:pt x="39270" y="147218"/>
                  <a:pt x="44165" y="147218"/>
                </a:cubicBezTo>
                <a:lnTo>
                  <a:pt x="108941" y="147218"/>
                </a:lnTo>
                <a:cubicBezTo>
                  <a:pt x="113836" y="147218"/>
                  <a:pt x="117774" y="143280"/>
                  <a:pt x="117774" y="138385"/>
                </a:cubicBezTo>
                <a:cubicBezTo>
                  <a:pt x="117774" y="133490"/>
                  <a:pt x="113836" y="129552"/>
                  <a:pt x="108941" y="129552"/>
                </a:cubicBezTo>
                <a:lnTo>
                  <a:pt x="44165" y="129552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4" name="Text 42"/>
          <p:cNvSpPr/>
          <p:nvPr/>
        </p:nvSpPr>
        <p:spPr>
          <a:xfrm>
            <a:off x="1026992" y="5509958"/>
            <a:ext cx="3881842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服务层单元测试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6992" y="5736084"/>
            <a:ext cx="3872420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BorrowServiceTest、ReservationServiceTest、UserServiceTest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69020" y="940311"/>
            <a:ext cx="5630556" cy="5460961"/>
          </a:xfrm>
          <a:prstGeom prst="roundRect">
            <a:avLst>
              <a:gd name="adj" fmla="val 2070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2C3E50">
                  <a:alpha val="5000"/>
                </a:srgbClr>
              </a:gs>
            </a:gsLst>
            <a:lin ang="2700000" scaled="1"/>
          </a:gra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308" y="1098600"/>
            <a:ext cx="376878" cy="376878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/>
        </p:spPr>
      </p:sp>
      <p:sp>
        <p:nvSpPr>
          <p:cNvPr id="48" name="Shape 46"/>
          <p:cNvSpPr/>
          <p:nvPr/>
        </p:nvSpPr>
        <p:spPr>
          <a:xfrm>
            <a:off x="6459215" y="1211664"/>
            <a:ext cx="113063" cy="150751"/>
          </a:xfrm>
          <a:custGeom>
            <a:avLst/>
            <a:gdLst/>
            <a:ahLst/>
            <a:cxnLst/>
            <a:rect l="l" t="t" r="r" b="b"/>
            <a:pathLst>
              <a:path w="113063" h="150751">
                <a:moveTo>
                  <a:pt x="91687" y="9422"/>
                </a:moveTo>
                <a:lnTo>
                  <a:pt x="94219" y="9422"/>
                </a:lnTo>
                <a:cubicBezTo>
                  <a:pt x="104613" y="9422"/>
                  <a:pt x="113063" y="17872"/>
                  <a:pt x="113063" y="28266"/>
                </a:cubicBezTo>
                <a:lnTo>
                  <a:pt x="113063" y="131907"/>
                </a:lnTo>
                <a:cubicBezTo>
                  <a:pt x="113063" y="142301"/>
                  <a:pt x="104613" y="150751"/>
                  <a:pt x="94219" y="150751"/>
                </a:cubicBezTo>
                <a:lnTo>
                  <a:pt x="18844" y="150751"/>
                </a:lnTo>
                <a:cubicBezTo>
                  <a:pt x="8450" y="150751"/>
                  <a:pt x="0" y="142301"/>
                  <a:pt x="0" y="131907"/>
                </a:cubicBezTo>
                <a:lnTo>
                  <a:pt x="0" y="28266"/>
                </a:lnTo>
                <a:cubicBezTo>
                  <a:pt x="0" y="17872"/>
                  <a:pt x="8450" y="9422"/>
                  <a:pt x="18844" y="9422"/>
                </a:cubicBezTo>
                <a:lnTo>
                  <a:pt x="21376" y="9422"/>
                </a:lnTo>
                <a:cubicBezTo>
                  <a:pt x="24615" y="3798"/>
                  <a:pt x="30710" y="0"/>
                  <a:pt x="37688" y="0"/>
                </a:cubicBezTo>
                <a:lnTo>
                  <a:pt x="75376" y="0"/>
                </a:lnTo>
                <a:cubicBezTo>
                  <a:pt x="82354" y="0"/>
                  <a:pt x="88449" y="3798"/>
                  <a:pt x="91687" y="9422"/>
                </a:cubicBezTo>
                <a:close/>
                <a:moveTo>
                  <a:pt x="73020" y="32977"/>
                </a:moveTo>
                <a:cubicBezTo>
                  <a:pt x="76936" y="32977"/>
                  <a:pt x="80087" y="29826"/>
                  <a:pt x="80087" y="25910"/>
                </a:cubicBezTo>
                <a:cubicBezTo>
                  <a:pt x="80087" y="21994"/>
                  <a:pt x="76936" y="18844"/>
                  <a:pt x="73020" y="18844"/>
                </a:cubicBezTo>
                <a:lnTo>
                  <a:pt x="40043" y="18844"/>
                </a:lnTo>
                <a:cubicBezTo>
                  <a:pt x="36127" y="18844"/>
                  <a:pt x="32977" y="21994"/>
                  <a:pt x="32977" y="25910"/>
                </a:cubicBezTo>
                <a:cubicBezTo>
                  <a:pt x="32977" y="29826"/>
                  <a:pt x="36127" y="32977"/>
                  <a:pt x="40043" y="32977"/>
                </a:cubicBezTo>
                <a:lnTo>
                  <a:pt x="73020" y="32977"/>
                </a:lnTo>
                <a:close/>
                <a:moveTo>
                  <a:pt x="81382" y="76759"/>
                </a:moveTo>
                <a:cubicBezTo>
                  <a:pt x="83443" y="73462"/>
                  <a:pt x="82442" y="69104"/>
                  <a:pt x="79144" y="67014"/>
                </a:cubicBezTo>
                <a:cubicBezTo>
                  <a:pt x="75847" y="64923"/>
                  <a:pt x="71489" y="65954"/>
                  <a:pt x="69399" y="69251"/>
                </a:cubicBezTo>
                <a:lnTo>
                  <a:pt x="51320" y="98194"/>
                </a:lnTo>
                <a:lnTo>
                  <a:pt x="43370" y="87595"/>
                </a:lnTo>
                <a:cubicBezTo>
                  <a:pt x="41015" y="84474"/>
                  <a:pt x="36598" y="83826"/>
                  <a:pt x="33477" y="86181"/>
                </a:cubicBezTo>
                <a:cubicBezTo>
                  <a:pt x="30356" y="88537"/>
                  <a:pt x="29709" y="92953"/>
                  <a:pt x="32064" y="96074"/>
                </a:cubicBezTo>
                <a:lnTo>
                  <a:pt x="46197" y="114918"/>
                </a:lnTo>
                <a:cubicBezTo>
                  <a:pt x="47581" y="116773"/>
                  <a:pt x="49819" y="117833"/>
                  <a:pt x="52145" y="117745"/>
                </a:cubicBezTo>
                <a:cubicBezTo>
                  <a:pt x="54471" y="117657"/>
                  <a:pt x="56591" y="116420"/>
                  <a:pt x="57827" y="114418"/>
                </a:cubicBezTo>
                <a:lnTo>
                  <a:pt x="81382" y="7673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17249" y="1136288"/>
            <a:ext cx="101757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测试结论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27308" y="1626230"/>
            <a:ext cx="5313978" cy="113063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78059" y="1776981"/>
            <a:ext cx="527629" cy="5276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6A085"/>
              </a:gs>
              <a:gs pos="100000">
                <a:srgbClr val="16A085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6657076" y="1927732"/>
            <a:ext cx="169595" cy="226127"/>
          </a:xfrm>
          <a:custGeom>
            <a:avLst/>
            <a:gdLst/>
            <a:ahLst/>
            <a:cxnLst/>
            <a:rect l="l" t="t" r="r" b="b"/>
            <a:pathLst>
              <a:path w="169595" h="226127">
                <a:moveTo>
                  <a:pt x="110369" y="29502"/>
                </a:moveTo>
                <a:cubicBezTo>
                  <a:pt x="114962" y="23187"/>
                  <a:pt x="113549" y="14354"/>
                  <a:pt x="107234" y="9761"/>
                </a:cubicBezTo>
                <a:cubicBezTo>
                  <a:pt x="100918" y="5167"/>
                  <a:pt x="92085" y="6581"/>
                  <a:pt x="87492" y="12896"/>
                </a:cubicBezTo>
                <a:lnTo>
                  <a:pt x="40676" y="77245"/>
                </a:lnTo>
                <a:lnTo>
                  <a:pt x="24114" y="60683"/>
                </a:lnTo>
                <a:cubicBezTo>
                  <a:pt x="18594" y="55163"/>
                  <a:pt x="9628" y="55163"/>
                  <a:pt x="4107" y="60683"/>
                </a:cubicBezTo>
                <a:cubicBezTo>
                  <a:pt x="-1413" y="66204"/>
                  <a:pt x="-1413" y="75169"/>
                  <a:pt x="4107" y="80690"/>
                </a:cubicBezTo>
                <a:lnTo>
                  <a:pt x="32373" y="108956"/>
                </a:lnTo>
                <a:cubicBezTo>
                  <a:pt x="35288" y="111871"/>
                  <a:pt x="39351" y="113373"/>
                  <a:pt x="43459" y="113063"/>
                </a:cubicBezTo>
                <a:cubicBezTo>
                  <a:pt x="47566" y="112754"/>
                  <a:pt x="51364" y="110634"/>
                  <a:pt x="53793" y="107278"/>
                </a:cubicBezTo>
                <a:lnTo>
                  <a:pt x="110325" y="29547"/>
                </a:lnTo>
                <a:close/>
                <a:moveTo>
                  <a:pt x="166901" y="89567"/>
                </a:moveTo>
                <a:cubicBezTo>
                  <a:pt x="171494" y="83252"/>
                  <a:pt x="170081" y="74419"/>
                  <a:pt x="163765" y="69825"/>
                </a:cubicBezTo>
                <a:cubicBezTo>
                  <a:pt x="157450" y="65232"/>
                  <a:pt x="148616" y="66646"/>
                  <a:pt x="144023" y="72961"/>
                </a:cubicBezTo>
                <a:lnTo>
                  <a:pt x="68942" y="176176"/>
                </a:lnTo>
                <a:lnTo>
                  <a:pt x="38247" y="145481"/>
                </a:lnTo>
                <a:cubicBezTo>
                  <a:pt x="32727" y="139960"/>
                  <a:pt x="23761" y="139960"/>
                  <a:pt x="18240" y="145481"/>
                </a:cubicBezTo>
                <a:cubicBezTo>
                  <a:pt x="12720" y="151001"/>
                  <a:pt x="12720" y="159967"/>
                  <a:pt x="18240" y="165488"/>
                </a:cubicBezTo>
                <a:lnTo>
                  <a:pt x="60639" y="207886"/>
                </a:lnTo>
                <a:cubicBezTo>
                  <a:pt x="63554" y="210801"/>
                  <a:pt x="67617" y="212303"/>
                  <a:pt x="71725" y="211994"/>
                </a:cubicBezTo>
                <a:cubicBezTo>
                  <a:pt x="75832" y="211685"/>
                  <a:pt x="79630" y="209565"/>
                  <a:pt x="82059" y="206208"/>
                </a:cubicBezTo>
                <a:lnTo>
                  <a:pt x="166857" y="8961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7156440" y="1776981"/>
            <a:ext cx="441889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业务流程正常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156440" y="2116171"/>
            <a:ext cx="440947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主要业务流程能够正常运行，借书、还书、预约、罚款等核心功能验证通过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7308" y="2869927"/>
            <a:ext cx="5313978" cy="113063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478059" y="3020678"/>
            <a:ext cx="527629" cy="5276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C3E50"/>
              </a:gs>
              <a:gs pos="100000">
                <a:srgbClr val="2C3E50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57" name="Shape 55"/>
          <p:cNvSpPr/>
          <p:nvPr/>
        </p:nvSpPr>
        <p:spPr>
          <a:xfrm>
            <a:off x="6628810" y="3171429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13063" y="0"/>
                </a:moveTo>
                <a:cubicBezTo>
                  <a:pt x="115095" y="0"/>
                  <a:pt x="117127" y="442"/>
                  <a:pt x="118982" y="1281"/>
                </a:cubicBezTo>
                <a:lnTo>
                  <a:pt x="202189" y="36569"/>
                </a:lnTo>
                <a:cubicBezTo>
                  <a:pt x="211905" y="40676"/>
                  <a:pt x="219149" y="50260"/>
                  <a:pt x="219104" y="61832"/>
                </a:cubicBezTo>
                <a:cubicBezTo>
                  <a:pt x="218884" y="105644"/>
                  <a:pt x="200864" y="185804"/>
                  <a:pt x="124767" y="222240"/>
                </a:cubicBezTo>
                <a:cubicBezTo>
                  <a:pt x="117392" y="225773"/>
                  <a:pt x="108823" y="225773"/>
                  <a:pt x="101448" y="222240"/>
                </a:cubicBezTo>
                <a:cubicBezTo>
                  <a:pt x="25307" y="185804"/>
                  <a:pt x="7331" y="105644"/>
                  <a:pt x="7111" y="61832"/>
                </a:cubicBezTo>
                <a:cubicBezTo>
                  <a:pt x="7066" y="50260"/>
                  <a:pt x="14310" y="40676"/>
                  <a:pt x="24026" y="36569"/>
                </a:cubicBezTo>
                <a:lnTo>
                  <a:pt x="107189" y="1281"/>
                </a:lnTo>
                <a:cubicBezTo>
                  <a:pt x="109044" y="442"/>
                  <a:pt x="111032" y="0"/>
                  <a:pt x="113063" y="0"/>
                </a:cubicBezTo>
                <a:close/>
                <a:moveTo>
                  <a:pt x="113063" y="29502"/>
                </a:moveTo>
                <a:lnTo>
                  <a:pt x="113063" y="196492"/>
                </a:lnTo>
                <a:cubicBezTo>
                  <a:pt x="174012" y="166989"/>
                  <a:pt x="190397" y="101625"/>
                  <a:pt x="190794" y="62494"/>
                </a:cubicBezTo>
                <a:lnTo>
                  <a:pt x="113063" y="29547"/>
                </a:lnTo>
                <a:lnTo>
                  <a:pt x="113063" y="2954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7156440" y="3020678"/>
            <a:ext cx="441889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权限控制有效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156440" y="3359868"/>
            <a:ext cx="440947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角色权限控制机制有效，不同角色只能访问授权范围内的接口和功能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27308" y="4113624"/>
            <a:ext cx="5313978" cy="113063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478059" y="4264375"/>
            <a:ext cx="527629" cy="5276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E67E22"/>
              </a:gs>
              <a:gs pos="100000">
                <a:srgbClr val="E67E22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62" name="Shape 60"/>
          <p:cNvSpPr/>
          <p:nvPr/>
        </p:nvSpPr>
        <p:spPr>
          <a:xfrm>
            <a:off x="6628810" y="4415126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212038" y="84798"/>
                </a:moveTo>
                <a:lnTo>
                  <a:pt x="215527" y="84798"/>
                </a:lnTo>
                <a:cubicBezTo>
                  <a:pt x="221401" y="84798"/>
                  <a:pt x="226127" y="80072"/>
                  <a:pt x="226127" y="74198"/>
                </a:cubicBezTo>
                <a:lnTo>
                  <a:pt x="226127" y="10600"/>
                </a:lnTo>
                <a:cubicBezTo>
                  <a:pt x="226127" y="6316"/>
                  <a:pt x="223565" y="2429"/>
                  <a:pt x="219590" y="795"/>
                </a:cubicBezTo>
                <a:cubicBezTo>
                  <a:pt x="215615" y="-839"/>
                  <a:pt x="211066" y="88"/>
                  <a:pt x="208019" y="3092"/>
                </a:cubicBezTo>
                <a:lnTo>
                  <a:pt x="185185" y="25969"/>
                </a:lnTo>
                <a:cubicBezTo>
                  <a:pt x="165620" y="9761"/>
                  <a:pt x="140446" y="0"/>
                  <a:pt x="113063" y="0"/>
                </a:cubicBezTo>
                <a:cubicBezTo>
                  <a:pt x="56090" y="0"/>
                  <a:pt x="8966" y="42134"/>
                  <a:pt x="1148" y="96943"/>
                </a:cubicBezTo>
                <a:cubicBezTo>
                  <a:pt x="44" y="104672"/>
                  <a:pt x="5388" y="111827"/>
                  <a:pt x="13117" y="112931"/>
                </a:cubicBezTo>
                <a:cubicBezTo>
                  <a:pt x="20846" y="114035"/>
                  <a:pt x="28001" y="108647"/>
                  <a:pt x="29105" y="100962"/>
                </a:cubicBezTo>
                <a:cubicBezTo>
                  <a:pt x="34979" y="59844"/>
                  <a:pt x="70355" y="28266"/>
                  <a:pt x="113063" y="28266"/>
                </a:cubicBezTo>
                <a:cubicBezTo>
                  <a:pt x="132673" y="28266"/>
                  <a:pt x="150692" y="34891"/>
                  <a:pt x="165046" y="46064"/>
                </a:cubicBezTo>
                <a:lnTo>
                  <a:pt x="144421" y="66690"/>
                </a:lnTo>
                <a:cubicBezTo>
                  <a:pt x="141373" y="69737"/>
                  <a:pt x="140490" y="74286"/>
                  <a:pt x="142124" y="78261"/>
                </a:cubicBezTo>
                <a:cubicBezTo>
                  <a:pt x="143758" y="82236"/>
                  <a:pt x="147645" y="84798"/>
                  <a:pt x="151929" y="84798"/>
                </a:cubicBezTo>
                <a:lnTo>
                  <a:pt x="212038" y="84798"/>
                </a:lnTo>
                <a:close/>
                <a:moveTo>
                  <a:pt x="225023" y="129184"/>
                </a:moveTo>
                <a:cubicBezTo>
                  <a:pt x="226127" y="121455"/>
                  <a:pt x="220739" y="114300"/>
                  <a:pt x="213054" y="113196"/>
                </a:cubicBezTo>
                <a:cubicBezTo>
                  <a:pt x="205369" y="112092"/>
                  <a:pt x="198170" y="117480"/>
                  <a:pt x="197066" y="125165"/>
                </a:cubicBezTo>
                <a:cubicBezTo>
                  <a:pt x="191192" y="166238"/>
                  <a:pt x="155815" y="197817"/>
                  <a:pt x="113108" y="197817"/>
                </a:cubicBezTo>
                <a:cubicBezTo>
                  <a:pt x="93498" y="197817"/>
                  <a:pt x="75479" y="191192"/>
                  <a:pt x="61125" y="180018"/>
                </a:cubicBezTo>
                <a:lnTo>
                  <a:pt x="81706" y="159437"/>
                </a:lnTo>
                <a:cubicBezTo>
                  <a:pt x="84753" y="156390"/>
                  <a:pt x="85637" y="151841"/>
                  <a:pt x="84003" y="147866"/>
                </a:cubicBezTo>
                <a:cubicBezTo>
                  <a:pt x="82368" y="143891"/>
                  <a:pt x="78482" y="141329"/>
                  <a:pt x="74198" y="141329"/>
                </a:cubicBezTo>
                <a:lnTo>
                  <a:pt x="10600" y="141329"/>
                </a:lnTo>
                <a:cubicBezTo>
                  <a:pt x="4726" y="141329"/>
                  <a:pt x="0" y="146055"/>
                  <a:pt x="0" y="151929"/>
                </a:cubicBezTo>
                <a:lnTo>
                  <a:pt x="0" y="215527"/>
                </a:lnTo>
                <a:cubicBezTo>
                  <a:pt x="0" y="219811"/>
                  <a:pt x="2562" y="223698"/>
                  <a:pt x="6536" y="225332"/>
                </a:cubicBezTo>
                <a:cubicBezTo>
                  <a:pt x="10511" y="226966"/>
                  <a:pt x="15060" y="226038"/>
                  <a:pt x="18108" y="223035"/>
                </a:cubicBezTo>
                <a:lnTo>
                  <a:pt x="40985" y="200157"/>
                </a:lnTo>
                <a:cubicBezTo>
                  <a:pt x="60507" y="216366"/>
                  <a:pt x="85681" y="226127"/>
                  <a:pt x="113063" y="226127"/>
                </a:cubicBezTo>
                <a:cubicBezTo>
                  <a:pt x="170037" y="226127"/>
                  <a:pt x="217161" y="183993"/>
                  <a:pt x="224978" y="1291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7156440" y="4264375"/>
            <a:ext cx="441889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状态联动正确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156440" y="4603565"/>
            <a:ext cx="4409471" cy="489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库存变化与借阅状态能够正确联动，还书后库存恢复，逾期自动触发罚款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7308" y="5357321"/>
            <a:ext cx="5313978" cy="885663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/>
          <a:effectLst>
            <a:outerShdw blurRad="141329" dist="9421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78059" y="5508072"/>
            <a:ext cx="527629" cy="52762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16A085"/>
              </a:gs>
              <a:gs pos="100000">
                <a:srgbClr val="16A085">
                  <a:alpha val="80000"/>
                </a:srgbClr>
              </a:gs>
            </a:gsLst>
            <a:lin ang="2700000" scaled="1"/>
          </a:gradFill>
          <a:ln/>
        </p:spPr>
      </p:sp>
      <p:sp>
        <p:nvSpPr>
          <p:cNvPr id="67" name="Shape 65"/>
          <p:cNvSpPr/>
          <p:nvPr/>
        </p:nvSpPr>
        <p:spPr>
          <a:xfrm>
            <a:off x="6628810" y="5658823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56532" y="141329"/>
                </a:moveTo>
                <a:lnTo>
                  <a:pt x="10821" y="141329"/>
                </a:lnTo>
                <a:cubicBezTo>
                  <a:pt x="-177" y="141329"/>
                  <a:pt x="-6934" y="129360"/>
                  <a:pt x="-1281" y="119909"/>
                </a:cubicBezTo>
                <a:lnTo>
                  <a:pt x="22083" y="80955"/>
                </a:lnTo>
                <a:cubicBezTo>
                  <a:pt x="25925" y="74551"/>
                  <a:pt x="32815" y="70665"/>
                  <a:pt x="40279" y="70665"/>
                </a:cubicBezTo>
                <a:lnTo>
                  <a:pt x="82236" y="70665"/>
                </a:lnTo>
                <a:cubicBezTo>
                  <a:pt x="115846" y="13735"/>
                  <a:pt x="165973" y="10865"/>
                  <a:pt x="199495" y="15767"/>
                </a:cubicBezTo>
                <a:cubicBezTo>
                  <a:pt x="205148" y="16606"/>
                  <a:pt x="209565" y="21023"/>
                  <a:pt x="210360" y="26632"/>
                </a:cubicBezTo>
                <a:cubicBezTo>
                  <a:pt x="215262" y="60153"/>
                  <a:pt x="212391" y="110281"/>
                  <a:pt x="155462" y="143891"/>
                </a:cubicBezTo>
                <a:lnTo>
                  <a:pt x="155462" y="185848"/>
                </a:lnTo>
                <a:cubicBezTo>
                  <a:pt x="155462" y="193312"/>
                  <a:pt x="151576" y="200202"/>
                  <a:pt x="145172" y="204044"/>
                </a:cubicBezTo>
                <a:lnTo>
                  <a:pt x="106218" y="227408"/>
                </a:lnTo>
                <a:cubicBezTo>
                  <a:pt x="96811" y="233061"/>
                  <a:pt x="84798" y="226259"/>
                  <a:pt x="84798" y="215306"/>
                </a:cubicBezTo>
                <a:lnTo>
                  <a:pt x="84798" y="169595"/>
                </a:lnTo>
                <a:cubicBezTo>
                  <a:pt x="84798" y="154005"/>
                  <a:pt x="72122" y="141329"/>
                  <a:pt x="56532" y="141329"/>
                </a:cubicBezTo>
                <a:lnTo>
                  <a:pt x="56488" y="141329"/>
                </a:lnTo>
                <a:close/>
                <a:moveTo>
                  <a:pt x="176662" y="70665"/>
                </a:moveTo>
                <a:cubicBezTo>
                  <a:pt x="176662" y="58964"/>
                  <a:pt x="167162" y="49465"/>
                  <a:pt x="155462" y="49465"/>
                </a:cubicBezTo>
                <a:cubicBezTo>
                  <a:pt x="143762" y="49465"/>
                  <a:pt x="134263" y="58964"/>
                  <a:pt x="134263" y="70665"/>
                </a:cubicBezTo>
                <a:cubicBezTo>
                  <a:pt x="134263" y="82365"/>
                  <a:pt x="143762" y="91864"/>
                  <a:pt x="155462" y="91864"/>
                </a:cubicBezTo>
                <a:cubicBezTo>
                  <a:pt x="167162" y="91864"/>
                  <a:pt x="176662" y="82365"/>
                  <a:pt x="176662" y="706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7156440" y="5508072"/>
            <a:ext cx="4155079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系统稳定可用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156440" y="5847262"/>
            <a:ext cx="4145657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系统具备基本稳定性和可用性，能够支撑图书馆日常业务运营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878" y="376878"/>
            <a:ext cx="75376" cy="37687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65317" y="376878"/>
            <a:ext cx="3900686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7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项目亮点、创新点与不足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5317" y="829131"/>
            <a:ext cx="11334603" cy="263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5" dirty="0">
                <a:solidFill>
                  <a:srgbClr val="2C3E50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HIGHLIGHTS, INNOVATIONS &amp; LIMITATIONS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415" y="1213547"/>
            <a:ext cx="5630556" cy="5263100"/>
          </a:xfrm>
          <a:prstGeom prst="roundRect">
            <a:avLst>
              <a:gd name="adj" fmla="val 2148"/>
            </a:avLst>
          </a:prstGeom>
          <a:gradFill flip="none" rotWithShape="1">
            <a:gsLst>
              <a:gs pos="0">
                <a:srgbClr val="16A085">
                  <a:alpha val="5000"/>
                </a:srgbClr>
              </a:gs>
              <a:gs pos="100000">
                <a:srgbClr val="16A085">
                  <a:alpha val="10000"/>
                </a:srgbClr>
              </a:gs>
            </a:gsLst>
            <a:lin ang="2700000" scaled="1"/>
          </a:gradFill>
          <a:ln w="20320">
            <a:solidFill>
              <a:srgbClr val="16A08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704" y="1371836"/>
            <a:ext cx="452253" cy="452253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7" name="Shape 5"/>
          <p:cNvSpPr/>
          <p:nvPr/>
        </p:nvSpPr>
        <p:spPr>
          <a:xfrm>
            <a:off x="655768" y="1484900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63731" y="0"/>
                </a:moveTo>
                <a:lnTo>
                  <a:pt x="162661" y="0"/>
                </a:lnTo>
                <a:cubicBezTo>
                  <a:pt x="174365" y="0"/>
                  <a:pt x="183905" y="9628"/>
                  <a:pt x="183463" y="21288"/>
                </a:cubicBezTo>
                <a:cubicBezTo>
                  <a:pt x="183375" y="23628"/>
                  <a:pt x="183286" y="25969"/>
                  <a:pt x="183154" y="28266"/>
                </a:cubicBezTo>
                <a:lnTo>
                  <a:pt x="205060" y="28266"/>
                </a:lnTo>
                <a:cubicBezTo>
                  <a:pt x="216587" y="28266"/>
                  <a:pt x="226745" y="37806"/>
                  <a:pt x="225862" y="50260"/>
                </a:cubicBezTo>
                <a:cubicBezTo>
                  <a:pt x="222549" y="96060"/>
                  <a:pt x="199142" y="121234"/>
                  <a:pt x="173747" y="134395"/>
                </a:cubicBezTo>
                <a:cubicBezTo>
                  <a:pt x="166768" y="138017"/>
                  <a:pt x="159658" y="140711"/>
                  <a:pt x="152901" y="142698"/>
                </a:cubicBezTo>
                <a:cubicBezTo>
                  <a:pt x="143979" y="155330"/>
                  <a:pt x="134704" y="161999"/>
                  <a:pt x="127329" y="165576"/>
                </a:cubicBezTo>
                <a:lnTo>
                  <a:pt x="127329" y="197861"/>
                </a:lnTo>
                <a:lnTo>
                  <a:pt x="155595" y="197861"/>
                </a:lnTo>
                <a:cubicBezTo>
                  <a:pt x="163412" y="197861"/>
                  <a:pt x="169728" y="204177"/>
                  <a:pt x="169728" y="211994"/>
                </a:cubicBezTo>
                <a:cubicBezTo>
                  <a:pt x="169728" y="219811"/>
                  <a:pt x="163412" y="226127"/>
                  <a:pt x="155595" y="226127"/>
                </a:cubicBezTo>
                <a:lnTo>
                  <a:pt x="70797" y="226127"/>
                </a:lnTo>
                <a:cubicBezTo>
                  <a:pt x="62980" y="226127"/>
                  <a:pt x="56664" y="219811"/>
                  <a:pt x="56664" y="211994"/>
                </a:cubicBezTo>
                <a:cubicBezTo>
                  <a:pt x="56664" y="204177"/>
                  <a:pt x="62980" y="197861"/>
                  <a:pt x="70797" y="197861"/>
                </a:cubicBezTo>
                <a:lnTo>
                  <a:pt x="99063" y="197861"/>
                </a:lnTo>
                <a:lnTo>
                  <a:pt x="99063" y="165576"/>
                </a:lnTo>
                <a:cubicBezTo>
                  <a:pt x="91996" y="162175"/>
                  <a:pt x="83208" y="155860"/>
                  <a:pt x="74639" y="144244"/>
                </a:cubicBezTo>
                <a:cubicBezTo>
                  <a:pt x="66513" y="142124"/>
                  <a:pt x="57680" y="138900"/>
                  <a:pt x="49068" y="134042"/>
                </a:cubicBezTo>
                <a:cubicBezTo>
                  <a:pt x="25174" y="120660"/>
                  <a:pt x="3622" y="95441"/>
                  <a:pt x="530" y="50172"/>
                </a:cubicBezTo>
                <a:cubicBezTo>
                  <a:pt x="-309" y="37761"/>
                  <a:pt x="9805" y="28222"/>
                  <a:pt x="21332" y="28222"/>
                </a:cubicBezTo>
                <a:lnTo>
                  <a:pt x="43238" y="28222"/>
                </a:lnTo>
                <a:cubicBezTo>
                  <a:pt x="43105" y="25925"/>
                  <a:pt x="43017" y="23628"/>
                  <a:pt x="42929" y="21244"/>
                </a:cubicBezTo>
                <a:cubicBezTo>
                  <a:pt x="42487" y="9540"/>
                  <a:pt x="52027" y="-44"/>
                  <a:pt x="63731" y="-44"/>
                </a:cubicBezTo>
                <a:close/>
                <a:moveTo>
                  <a:pt x="44828" y="49465"/>
                </a:moveTo>
                <a:lnTo>
                  <a:pt x="21685" y="49465"/>
                </a:lnTo>
                <a:cubicBezTo>
                  <a:pt x="24423" y="86873"/>
                  <a:pt x="41604" y="105599"/>
                  <a:pt x="59314" y="115537"/>
                </a:cubicBezTo>
                <a:cubicBezTo>
                  <a:pt x="52954" y="99063"/>
                  <a:pt x="47699" y="77554"/>
                  <a:pt x="44828" y="49465"/>
                </a:cubicBezTo>
                <a:close/>
                <a:moveTo>
                  <a:pt x="167828" y="113417"/>
                </a:moveTo>
                <a:cubicBezTo>
                  <a:pt x="185715" y="102905"/>
                  <a:pt x="201880" y="84223"/>
                  <a:pt x="204618" y="49465"/>
                </a:cubicBezTo>
                <a:lnTo>
                  <a:pt x="181520" y="49465"/>
                </a:lnTo>
                <a:cubicBezTo>
                  <a:pt x="178781" y="76362"/>
                  <a:pt x="173835" y="97252"/>
                  <a:pt x="167828" y="1134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108021" y="1447212"/>
            <a:ext cx="101757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2704" y="1937153"/>
            <a:ext cx="5313978" cy="866819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768" y="2050217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11" name="Shape 9"/>
          <p:cNvSpPr/>
          <p:nvPr/>
        </p:nvSpPr>
        <p:spPr>
          <a:xfrm>
            <a:off x="759409" y="2163280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91128" y="-5565"/>
                </a:moveTo>
                <a:cubicBezTo>
                  <a:pt x="89921" y="-7920"/>
                  <a:pt x="87477" y="-9422"/>
                  <a:pt x="84827" y="-9422"/>
                </a:cubicBezTo>
                <a:cubicBezTo>
                  <a:pt x="82177" y="-9422"/>
                  <a:pt x="79733" y="-7920"/>
                  <a:pt x="78526" y="-5565"/>
                </a:cubicBezTo>
                <a:lnTo>
                  <a:pt x="56856" y="36893"/>
                </a:lnTo>
                <a:lnTo>
                  <a:pt x="9775" y="44371"/>
                </a:lnTo>
                <a:cubicBezTo>
                  <a:pt x="7155" y="44784"/>
                  <a:pt x="4976" y="46639"/>
                  <a:pt x="4152" y="49171"/>
                </a:cubicBezTo>
                <a:cubicBezTo>
                  <a:pt x="3327" y="51703"/>
                  <a:pt x="4004" y="54471"/>
                  <a:pt x="5859" y="56355"/>
                </a:cubicBezTo>
                <a:lnTo>
                  <a:pt x="39543" y="90068"/>
                </a:lnTo>
                <a:lnTo>
                  <a:pt x="32123" y="137148"/>
                </a:lnTo>
                <a:cubicBezTo>
                  <a:pt x="31711" y="139769"/>
                  <a:pt x="32800" y="142419"/>
                  <a:pt x="34950" y="143979"/>
                </a:cubicBezTo>
                <a:cubicBezTo>
                  <a:pt x="37099" y="145540"/>
                  <a:pt x="39926" y="145775"/>
                  <a:pt x="42310" y="144568"/>
                </a:cubicBezTo>
                <a:lnTo>
                  <a:pt x="84827" y="122956"/>
                </a:lnTo>
                <a:lnTo>
                  <a:pt x="127314" y="144568"/>
                </a:lnTo>
                <a:cubicBezTo>
                  <a:pt x="129670" y="145775"/>
                  <a:pt x="132526" y="145540"/>
                  <a:pt x="134675" y="143979"/>
                </a:cubicBezTo>
                <a:cubicBezTo>
                  <a:pt x="136824" y="142419"/>
                  <a:pt x="137914" y="139798"/>
                  <a:pt x="137502" y="137148"/>
                </a:cubicBezTo>
                <a:lnTo>
                  <a:pt x="130052" y="90068"/>
                </a:lnTo>
                <a:lnTo>
                  <a:pt x="163736" y="56355"/>
                </a:lnTo>
                <a:cubicBezTo>
                  <a:pt x="165620" y="54471"/>
                  <a:pt x="166268" y="51703"/>
                  <a:pt x="165444" y="49171"/>
                </a:cubicBezTo>
                <a:cubicBezTo>
                  <a:pt x="164619" y="46639"/>
                  <a:pt x="162470" y="44784"/>
                  <a:pt x="159820" y="44371"/>
                </a:cubicBezTo>
                <a:lnTo>
                  <a:pt x="112769" y="36893"/>
                </a:lnTo>
                <a:lnTo>
                  <a:pt x="91128" y="-556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5709" y="2050217"/>
            <a:ext cx="4673286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完整业务闭环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5709" y="2314031"/>
            <a:ext cx="4663864" cy="376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不仅实现基础借阅，还扩展了预约、评论、收藏、通知、罚款、统计等完整业务链路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2704" y="2879348"/>
            <a:ext cx="5313978" cy="6783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5768" y="2992411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16" name="Shape 14"/>
          <p:cNvSpPr/>
          <p:nvPr/>
        </p:nvSpPr>
        <p:spPr>
          <a:xfrm>
            <a:off x="768831" y="3105475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68456" y="1531"/>
                </a:moveTo>
                <a:cubicBezTo>
                  <a:pt x="72843" y="-501"/>
                  <a:pt x="77908" y="-501"/>
                  <a:pt x="82295" y="1531"/>
                </a:cubicBezTo>
                <a:lnTo>
                  <a:pt x="146659" y="31269"/>
                </a:lnTo>
                <a:cubicBezTo>
                  <a:pt x="149161" y="32417"/>
                  <a:pt x="150751" y="34920"/>
                  <a:pt x="150751" y="37688"/>
                </a:cubicBezTo>
                <a:cubicBezTo>
                  <a:pt x="150751" y="40455"/>
                  <a:pt x="149161" y="42958"/>
                  <a:pt x="146659" y="44106"/>
                </a:cubicBezTo>
                <a:lnTo>
                  <a:pt x="82295" y="73845"/>
                </a:lnTo>
                <a:cubicBezTo>
                  <a:pt x="77908" y="75876"/>
                  <a:pt x="72843" y="75876"/>
                  <a:pt x="68456" y="73845"/>
                </a:cubicBezTo>
                <a:lnTo>
                  <a:pt x="4093" y="44106"/>
                </a:lnTo>
                <a:cubicBezTo>
                  <a:pt x="1590" y="42929"/>
                  <a:pt x="0" y="40426"/>
                  <a:pt x="0" y="37688"/>
                </a:cubicBezTo>
                <a:cubicBezTo>
                  <a:pt x="0" y="34950"/>
                  <a:pt x="1590" y="32417"/>
                  <a:pt x="4093" y="31269"/>
                </a:cubicBezTo>
                <a:lnTo>
                  <a:pt x="68456" y="1531"/>
                </a:lnTo>
                <a:close/>
                <a:moveTo>
                  <a:pt x="14162" y="64305"/>
                </a:moveTo>
                <a:lnTo>
                  <a:pt x="62538" y="86652"/>
                </a:lnTo>
                <a:cubicBezTo>
                  <a:pt x="70694" y="90421"/>
                  <a:pt x="80087" y="90421"/>
                  <a:pt x="88242" y="86652"/>
                </a:cubicBezTo>
                <a:lnTo>
                  <a:pt x="136618" y="64305"/>
                </a:lnTo>
                <a:lnTo>
                  <a:pt x="146659" y="68957"/>
                </a:lnTo>
                <a:cubicBezTo>
                  <a:pt x="149161" y="70105"/>
                  <a:pt x="150751" y="72608"/>
                  <a:pt x="150751" y="75376"/>
                </a:cubicBezTo>
                <a:cubicBezTo>
                  <a:pt x="150751" y="78143"/>
                  <a:pt x="149161" y="80646"/>
                  <a:pt x="146659" y="81794"/>
                </a:cubicBezTo>
                <a:lnTo>
                  <a:pt x="82295" y="111532"/>
                </a:lnTo>
                <a:cubicBezTo>
                  <a:pt x="77908" y="113564"/>
                  <a:pt x="72843" y="113564"/>
                  <a:pt x="68456" y="111532"/>
                </a:cubicBezTo>
                <a:lnTo>
                  <a:pt x="4093" y="81794"/>
                </a:lnTo>
                <a:cubicBezTo>
                  <a:pt x="1590" y="80617"/>
                  <a:pt x="0" y="78114"/>
                  <a:pt x="0" y="75376"/>
                </a:cubicBezTo>
                <a:cubicBezTo>
                  <a:pt x="0" y="72637"/>
                  <a:pt x="1590" y="70105"/>
                  <a:pt x="4093" y="68957"/>
                </a:cubicBezTo>
                <a:lnTo>
                  <a:pt x="14133" y="64305"/>
                </a:lnTo>
                <a:close/>
                <a:moveTo>
                  <a:pt x="4093" y="106645"/>
                </a:moveTo>
                <a:lnTo>
                  <a:pt x="14133" y="101993"/>
                </a:lnTo>
                <a:lnTo>
                  <a:pt x="62509" y="124340"/>
                </a:lnTo>
                <a:cubicBezTo>
                  <a:pt x="70665" y="128109"/>
                  <a:pt x="80057" y="128109"/>
                  <a:pt x="88213" y="124340"/>
                </a:cubicBezTo>
                <a:lnTo>
                  <a:pt x="136589" y="101993"/>
                </a:lnTo>
                <a:lnTo>
                  <a:pt x="146629" y="106645"/>
                </a:lnTo>
                <a:cubicBezTo>
                  <a:pt x="149132" y="107793"/>
                  <a:pt x="150722" y="110296"/>
                  <a:pt x="150722" y="113063"/>
                </a:cubicBezTo>
                <a:cubicBezTo>
                  <a:pt x="150722" y="115831"/>
                  <a:pt x="149132" y="118334"/>
                  <a:pt x="146629" y="119482"/>
                </a:cubicBezTo>
                <a:lnTo>
                  <a:pt x="82265" y="149220"/>
                </a:lnTo>
                <a:cubicBezTo>
                  <a:pt x="77878" y="151252"/>
                  <a:pt x="72814" y="151252"/>
                  <a:pt x="68427" y="149220"/>
                </a:cubicBezTo>
                <a:lnTo>
                  <a:pt x="4093" y="119482"/>
                </a:lnTo>
                <a:cubicBezTo>
                  <a:pt x="1590" y="118304"/>
                  <a:pt x="0" y="115802"/>
                  <a:pt x="0" y="113063"/>
                </a:cubicBezTo>
                <a:cubicBezTo>
                  <a:pt x="0" y="110325"/>
                  <a:pt x="1590" y="107793"/>
                  <a:pt x="4093" y="1066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5709" y="2992411"/>
            <a:ext cx="284542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前后端分离架构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5709" y="3256226"/>
            <a:ext cx="283600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系统层次清晰，模块职责明确，便于扩展和维护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2704" y="3633108"/>
            <a:ext cx="5313978" cy="6783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768" y="3746172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987" y="3859235"/>
            <a:ext cx="188439" cy="150751"/>
          </a:xfrm>
          <a:custGeom>
            <a:avLst/>
            <a:gdLst/>
            <a:ahLst/>
            <a:cxnLst/>
            <a:rect l="l" t="t" r="r" b="b"/>
            <a:pathLst>
              <a:path w="188439" h="150751">
                <a:moveTo>
                  <a:pt x="122456" y="61979"/>
                </a:moveTo>
                <a:cubicBezTo>
                  <a:pt x="126048" y="61007"/>
                  <a:pt x="129817" y="62715"/>
                  <a:pt x="131436" y="66042"/>
                </a:cubicBezTo>
                <a:lnTo>
                  <a:pt x="136913" y="77113"/>
                </a:lnTo>
                <a:cubicBezTo>
                  <a:pt x="139945" y="77525"/>
                  <a:pt x="142919" y="78349"/>
                  <a:pt x="145716" y="79498"/>
                </a:cubicBezTo>
                <a:lnTo>
                  <a:pt x="156022" y="72637"/>
                </a:lnTo>
                <a:cubicBezTo>
                  <a:pt x="159113" y="70576"/>
                  <a:pt x="163206" y="70988"/>
                  <a:pt x="165826" y="73609"/>
                </a:cubicBezTo>
                <a:lnTo>
                  <a:pt x="171479" y="79262"/>
                </a:lnTo>
                <a:cubicBezTo>
                  <a:pt x="174100" y="81883"/>
                  <a:pt x="174512" y="86005"/>
                  <a:pt x="172451" y="89067"/>
                </a:cubicBezTo>
                <a:lnTo>
                  <a:pt x="165591" y="99343"/>
                </a:lnTo>
                <a:cubicBezTo>
                  <a:pt x="166150" y="100727"/>
                  <a:pt x="166651" y="102169"/>
                  <a:pt x="167063" y="103671"/>
                </a:cubicBezTo>
                <a:cubicBezTo>
                  <a:pt x="167475" y="105172"/>
                  <a:pt x="167740" y="106645"/>
                  <a:pt x="167946" y="108146"/>
                </a:cubicBezTo>
                <a:lnTo>
                  <a:pt x="179046" y="113623"/>
                </a:lnTo>
                <a:cubicBezTo>
                  <a:pt x="182374" y="115272"/>
                  <a:pt x="184081" y="119040"/>
                  <a:pt x="183110" y="122603"/>
                </a:cubicBezTo>
                <a:lnTo>
                  <a:pt x="181049" y="130317"/>
                </a:lnTo>
                <a:cubicBezTo>
                  <a:pt x="180077" y="133880"/>
                  <a:pt x="176750" y="136294"/>
                  <a:pt x="173040" y="136059"/>
                </a:cubicBezTo>
                <a:lnTo>
                  <a:pt x="160674" y="135264"/>
                </a:lnTo>
                <a:cubicBezTo>
                  <a:pt x="158819" y="137649"/>
                  <a:pt x="156669" y="139857"/>
                  <a:pt x="154226" y="141741"/>
                </a:cubicBezTo>
                <a:lnTo>
                  <a:pt x="155020" y="154078"/>
                </a:lnTo>
                <a:cubicBezTo>
                  <a:pt x="155256" y="157788"/>
                  <a:pt x="152842" y="161145"/>
                  <a:pt x="149279" y="162087"/>
                </a:cubicBezTo>
                <a:lnTo>
                  <a:pt x="141565" y="164148"/>
                </a:lnTo>
                <a:cubicBezTo>
                  <a:pt x="137973" y="165120"/>
                  <a:pt x="134233" y="163412"/>
                  <a:pt x="132584" y="160085"/>
                </a:cubicBezTo>
                <a:lnTo>
                  <a:pt x="127108" y="149014"/>
                </a:lnTo>
                <a:cubicBezTo>
                  <a:pt x="124075" y="148602"/>
                  <a:pt x="121101" y="147777"/>
                  <a:pt x="118304" y="146629"/>
                </a:cubicBezTo>
                <a:lnTo>
                  <a:pt x="107999" y="153489"/>
                </a:lnTo>
                <a:cubicBezTo>
                  <a:pt x="104907" y="155550"/>
                  <a:pt x="100815" y="155138"/>
                  <a:pt x="98194" y="152518"/>
                </a:cubicBezTo>
                <a:lnTo>
                  <a:pt x="92541" y="146865"/>
                </a:lnTo>
                <a:cubicBezTo>
                  <a:pt x="89921" y="144244"/>
                  <a:pt x="89509" y="140151"/>
                  <a:pt x="91570" y="137060"/>
                </a:cubicBezTo>
                <a:lnTo>
                  <a:pt x="98430" y="126755"/>
                </a:lnTo>
                <a:cubicBezTo>
                  <a:pt x="97870" y="125371"/>
                  <a:pt x="97370" y="123928"/>
                  <a:pt x="96958" y="122426"/>
                </a:cubicBezTo>
                <a:cubicBezTo>
                  <a:pt x="96546" y="120925"/>
                  <a:pt x="96281" y="119423"/>
                  <a:pt x="96074" y="117951"/>
                </a:cubicBezTo>
                <a:lnTo>
                  <a:pt x="84974" y="112474"/>
                </a:lnTo>
                <a:cubicBezTo>
                  <a:pt x="81647" y="110826"/>
                  <a:pt x="79969" y="107057"/>
                  <a:pt x="80911" y="103494"/>
                </a:cubicBezTo>
                <a:lnTo>
                  <a:pt x="82972" y="95780"/>
                </a:lnTo>
                <a:cubicBezTo>
                  <a:pt x="83944" y="92217"/>
                  <a:pt x="87271" y="89803"/>
                  <a:pt x="90981" y="90038"/>
                </a:cubicBezTo>
                <a:lnTo>
                  <a:pt x="103318" y="90833"/>
                </a:lnTo>
                <a:cubicBezTo>
                  <a:pt x="105172" y="88449"/>
                  <a:pt x="107322" y="86240"/>
                  <a:pt x="109766" y="84356"/>
                </a:cubicBezTo>
                <a:lnTo>
                  <a:pt x="108971" y="72048"/>
                </a:lnTo>
                <a:cubicBezTo>
                  <a:pt x="108735" y="68339"/>
                  <a:pt x="111150" y="64982"/>
                  <a:pt x="114712" y="64040"/>
                </a:cubicBezTo>
                <a:lnTo>
                  <a:pt x="122426" y="61979"/>
                </a:lnTo>
                <a:close/>
                <a:moveTo>
                  <a:pt x="132025" y="100108"/>
                </a:moveTo>
                <a:cubicBezTo>
                  <a:pt x="124875" y="100116"/>
                  <a:pt x="119076" y="105928"/>
                  <a:pt x="119085" y="113078"/>
                </a:cubicBezTo>
                <a:cubicBezTo>
                  <a:pt x="119093" y="120228"/>
                  <a:pt x="124904" y="126027"/>
                  <a:pt x="132054" y="126019"/>
                </a:cubicBezTo>
                <a:cubicBezTo>
                  <a:pt x="139205" y="126010"/>
                  <a:pt x="145003" y="120199"/>
                  <a:pt x="144995" y="113049"/>
                </a:cubicBezTo>
                <a:cubicBezTo>
                  <a:pt x="144987" y="105898"/>
                  <a:pt x="139175" y="100100"/>
                  <a:pt x="132025" y="100108"/>
                </a:cubicBezTo>
                <a:close/>
                <a:moveTo>
                  <a:pt x="66219" y="-13397"/>
                </a:moveTo>
                <a:lnTo>
                  <a:pt x="73933" y="-11336"/>
                </a:lnTo>
                <a:cubicBezTo>
                  <a:pt x="77496" y="-10364"/>
                  <a:pt x="79910" y="-7008"/>
                  <a:pt x="79674" y="-3327"/>
                </a:cubicBezTo>
                <a:lnTo>
                  <a:pt x="78879" y="8980"/>
                </a:lnTo>
                <a:cubicBezTo>
                  <a:pt x="81323" y="10865"/>
                  <a:pt x="83473" y="13044"/>
                  <a:pt x="85328" y="15458"/>
                </a:cubicBezTo>
                <a:lnTo>
                  <a:pt x="97694" y="14663"/>
                </a:lnTo>
                <a:cubicBezTo>
                  <a:pt x="101374" y="14427"/>
                  <a:pt x="104731" y="16842"/>
                  <a:pt x="105702" y="20404"/>
                </a:cubicBezTo>
                <a:lnTo>
                  <a:pt x="107764" y="28119"/>
                </a:lnTo>
                <a:cubicBezTo>
                  <a:pt x="108706" y="31681"/>
                  <a:pt x="107027" y="35450"/>
                  <a:pt x="103700" y="37099"/>
                </a:cubicBezTo>
                <a:lnTo>
                  <a:pt x="92600" y="42575"/>
                </a:lnTo>
                <a:cubicBezTo>
                  <a:pt x="92394" y="44077"/>
                  <a:pt x="92100" y="45579"/>
                  <a:pt x="91717" y="47051"/>
                </a:cubicBezTo>
                <a:cubicBezTo>
                  <a:pt x="91334" y="48523"/>
                  <a:pt x="90804" y="49995"/>
                  <a:pt x="90245" y="51379"/>
                </a:cubicBezTo>
                <a:lnTo>
                  <a:pt x="97105" y="61684"/>
                </a:lnTo>
                <a:cubicBezTo>
                  <a:pt x="99166" y="64776"/>
                  <a:pt x="98754" y="68869"/>
                  <a:pt x="96133" y="71489"/>
                </a:cubicBezTo>
                <a:lnTo>
                  <a:pt x="90480" y="77142"/>
                </a:lnTo>
                <a:cubicBezTo>
                  <a:pt x="87860" y="79763"/>
                  <a:pt x="83767" y="80175"/>
                  <a:pt x="80675" y="78114"/>
                </a:cubicBezTo>
                <a:lnTo>
                  <a:pt x="70370" y="71253"/>
                </a:lnTo>
                <a:cubicBezTo>
                  <a:pt x="67573" y="72402"/>
                  <a:pt x="64599" y="73226"/>
                  <a:pt x="61567" y="73638"/>
                </a:cubicBezTo>
                <a:lnTo>
                  <a:pt x="56090" y="84709"/>
                </a:lnTo>
                <a:cubicBezTo>
                  <a:pt x="54441" y="88036"/>
                  <a:pt x="50672" y="89715"/>
                  <a:pt x="47110" y="88772"/>
                </a:cubicBezTo>
                <a:lnTo>
                  <a:pt x="39396" y="86711"/>
                </a:lnTo>
                <a:cubicBezTo>
                  <a:pt x="35803" y="85740"/>
                  <a:pt x="33418" y="82383"/>
                  <a:pt x="33654" y="78703"/>
                </a:cubicBezTo>
                <a:lnTo>
                  <a:pt x="34449" y="66366"/>
                </a:lnTo>
                <a:cubicBezTo>
                  <a:pt x="32005" y="64481"/>
                  <a:pt x="29856" y="62303"/>
                  <a:pt x="28001" y="59888"/>
                </a:cubicBezTo>
                <a:lnTo>
                  <a:pt x="15635" y="60683"/>
                </a:lnTo>
                <a:cubicBezTo>
                  <a:pt x="11954" y="60919"/>
                  <a:pt x="8598" y="58504"/>
                  <a:pt x="7626" y="54942"/>
                </a:cubicBezTo>
                <a:lnTo>
                  <a:pt x="5565" y="47228"/>
                </a:lnTo>
                <a:cubicBezTo>
                  <a:pt x="4623" y="43665"/>
                  <a:pt x="6301" y="39896"/>
                  <a:pt x="9628" y="38247"/>
                </a:cubicBezTo>
                <a:lnTo>
                  <a:pt x="20728" y="32771"/>
                </a:lnTo>
                <a:cubicBezTo>
                  <a:pt x="20934" y="31269"/>
                  <a:pt x="21229" y="29797"/>
                  <a:pt x="21612" y="28295"/>
                </a:cubicBezTo>
                <a:cubicBezTo>
                  <a:pt x="22024" y="26794"/>
                  <a:pt x="22495" y="25351"/>
                  <a:pt x="23084" y="23967"/>
                </a:cubicBezTo>
                <a:lnTo>
                  <a:pt x="16223" y="13691"/>
                </a:lnTo>
                <a:cubicBezTo>
                  <a:pt x="14162" y="10600"/>
                  <a:pt x="14575" y="6507"/>
                  <a:pt x="17195" y="3887"/>
                </a:cubicBezTo>
                <a:lnTo>
                  <a:pt x="22848" y="-1767"/>
                </a:lnTo>
                <a:cubicBezTo>
                  <a:pt x="25469" y="-4387"/>
                  <a:pt x="29561" y="-4799"/>
                  <a:pt x="32653" y="-2738"/>
                </a:cubicBezTo>
                <a:lnTo>
                  <a:pt x="42958" y="4122"/>
                </a:lnTo>
                <a:cubicBezTo>
                  <a:pt x="45755" y="2974"/>
                  <a:pt x="48729" y="2149"/>
                  <a:pt x="51762" y="1737"/>
                </a:cubicBezTo>
                <a:lnTo>
                  <a:pt x="57238" y="-9334"/>
                </a:lnTo>
                <a:cubicBezTo>
                  <a:pt x="58887" y="-12661"/>
                  <a:pt x="62627" y="-14339"/>
                  <a:pt x="66219" y="-13397"/>
                </a:cubicBezTo>
                <a:close/>
                <a:moveTo>
                  <a:pt x="56649" y="24733"/>
                </a:moveTo>
                <a:cubicBezTo>
                  <a:pt x="49499" y="24733"/>
                  <a:pt x="43694" y="30538"/>
                  <a:pt x="43694" y="37688"/>
                </a:cubicBezTo>
                <a:cubicBezTo>
                  <a:pt x="43694" y="44838"/>
                  <a:pt x="49499" y="50643"/>
                  <a:pt x="56649" y="50643"/>
                </a:cubicBezTo>
                <a:cubicBezTo>
                  <a:pt x="63800" y="50643"/>
                  <a:pt x="69605" y="44838"/>
                  <a:pt x="69605" y="37688"/>
                </a:cubicBezTo>
                <a:cubicBezTo>
                  <a:pt x="69605" y="30538"/>
                  <a:pt x="63800" y="24733"/>
                  <a:pt x="56649" y="2473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5709" y="3746172"/>
            <a:ext cx="37782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工程化开发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5709" y="4009986"/>
            <a:ext cx="3768779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引入JWT认证、AOP日志、统一异常处理，体现工程化开发思路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2704" y="4386864"/>
            <a:ext cx="5313978" cy="6783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5768" y="4499928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26" name="Shape 24"/>
          <p:cNvSpPr/>
          <p:nvPr/>
        </p:nvSpPr>
        <p:spPr>
          <a:xfrm>
            <a:off x="768831" y="4612991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8844" y="9422"/>
                </a:moveTo>
                <a:cubicBezTo>
                  <a:pt x="8450" y="9422"/>
                  <a:pt x="0" y="17872"/>
                  <a:pt x="0" y="28266"/>
                </a:cubicBezTo>
                <a:lnTo>
                  <a:pt x="0" y="103641"/>
                </a:lnTo>
                <a:cubicBezTo>
                  <a:pt x="0" y="114035"/>
                  <a:pt x="8450" y="122485"/>
                  <a:pt x="18844" y="122485"/>
                </a:cubicBezTo>
                <a:lnTo>
                  <a:pt x="61243" y="122485"/>
                </a:lnTo>
                <a:lnTo>
                  <a:pt x="56532" y="136618"/>
                </a:lnTo>
                <a:lnTo>
                  <a:pt x="35332" y="136618"/>
                </a:lnTo>
                <a:cubicBezTo>
                  <a:pt x="31416" y="136618"/>
                  <a:pt x="28266" y="139769"/>
                  <a:pt x="28266" y="143685"/>
                </a:cubicBezTo>
                <a:cubicBezTo>
                  <a:pt x="28266" y="147601"/>
                  <a:pt x="31416" y="150751"/>
                  <a:pt x="35332" y="150751"/>
                </a:cubicBezTo>
                <a:lnTo>
                  <a:pt x="115419" y="150751"/>
                </a:lnTo>
                <a:cubicBezTo>
                  <a:pt x="119335" y="150751"/>
                  <a:pt x="122485" y="147601"/>
                  <a:pt x="122485" y="143685"/>
                </a:cubicBezTo>
                <a:cubicBezTo>
                  <a:pt x="122485" y="139769"/>
                  <a:pt x="119335" y="136618"/>
                  <a:pt x="115419" y="136618"/>
                </a:cubicBezTo>
                <a:lnTo>
                  <a:pt x="94219" y="136618"/>
                </a:lnTo>
                <a:lnTo>
                  <a:pt x="89509" y="122485"/>
                </a:lnTo>
                <a:lnTo>
                  <a:pt x="131907" y="122485"/>
                </a:lnTo>
                <a:cubicBezTo>
                  <a:pt x="142301" y="122485"/>
                  <a:pt x="150751" y="114035"/>
                  <a:pt x="150751" y="103641"/>
                </a:cubicBezTo>
                <a:lnTo>
                  <a:pt x="150751" y="28266"/>
                </a:lnTo>
                <a:cubicBezTo>
                  <a:pt x="150751" y="17872"/>
                  <a:pt x="142301" y="9422"/>
                  <a:pt x="131907" y="9422"/>
                </a:cubicBezTo>
                <a:lnTo>
                  <a:pt x="18844" y="9422"/>
                </a:lnTo>
                <a:close/>
                <a:moveTo>
                  <a:pt x="28266" y="28266"/>
                </a:moveTo>
                <a:lnTo>
                  <a:pt x="122485" y="28266"/>
                </a:lnTo>
                <a:cubicBezTo>
                  <a:pt x="127697" y="28266"/>
                  <a:pt x="131907" y="32476"/>
                  <a:pt x="131907" y="37688"/>
                </a:cubicBezTo>
                <a:lnTo>
                  <a:pt x="131907" y="84798"/>
                </a:lnTo>
                <a:cubicBezTo>
                  <a:pt x="131907" y="90009"/>
                  <a:pt x="127697" y="94219"/>
                  <a:pt x="122485" y="94219"/>
                </a:cubicBezTo>
                <a:lnTo>
                  <a:pt x="28266" y="94219"/>
                </a:lnTo>
                <a:cubicBezTo>
                  <a:pt x="23054" y="94219"/>
                  <a:pt x="18844" y="90009"/>
                  <a:pt x="18844" y="84798"/>
                </a:cubicBezTo>
                <a:lnTo>
                  <a:pt x="18844" y="37688"/>
                </a:lnTo>
                <a:cubicBezTo>
                  <a:pt x="18844" y="32476"/>
                  <a:pt x="23054" y="28266"/>
                  <a:pt x="28266" y="2826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45709" y="4499928"/>
            <a:ext cx="2845428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双端界面分离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5709" y="4763742"/>
            <a:ext cx="2836006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管理端与用户端界面分离，更贴近真实业务场景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2704" y="5140620"/>
            <a:ext cx="5313978" cy="6783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5768" y="5253683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2C3E50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831" y="5366747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9422" y="9422"/>
                </a:moveTo>
                <a:cubicBezTo>
                  <a:pt x="14633" y="9422"/>
                  <a:pt x="18844" y="13632"/>
                  <a:pt x="18844" y="18844"/>
                </a:cubicBezTo>
                <a:lnTo>
                  <a:pt x="18844" y="117774"/>
                </a:lnTo>
                <a:cubicBezTo>
                  <a:pt x="18844" y="120365"/>
                  <a:pt x="20964" y="122485"/>
                  <a:pt x="23555" y="122485"/>
                </a:cubicBezTo>
                <a:lnTo>
                  <a:pt x="141329" y="122485"/>
                </a:lnTo>
                <a:cubicBezTo>
                  <a:pt x="146541" y="122485"/>
                  <a:pt x="150751" y="126696"/>
                  <a:pt x="150751" y="131907"/>
                </a:cubicBezTo>
                <a:cubicBezTo>
                  <a:pt x="150751" y="137119"/>
                  <a:pt x="146541" y="141329"/>
                  <a:pt x="141329" y="141329"/>
                </a:cubicBezTo>
                <a:lnTo>
                  <a:pt x="23555" y="141329"/>
                </a:lnTo>
                <a:cubicBezTo>
                  <a:pt x="10541" y="141329"/>
                  <a:pt x="0" y="130788"/>
                  <a:pt x="0" y="117774"/>
                </a:cubicBezTo>
                <a:lnTo>
                  <a:pt x="0" y="18844"/>
                </a:lnTo>
                <a:cubicBezTo>
                  <a:pt x="0" y="13632"/>
                  <a:pt x="4210" y="9422"/>
                  <a:pt x="9422" y="9422"/>
                </a:cubicBezTo>
                <a:close/>
                <a:moveTo>
                  <a:pt x="37688" y="28266"/>
                </a:moveTo>
                <a:cubicBezTo>
                  <a:pt x="37688" y="23054"/>
                  <a:pt x="41898" y="18844"/>
                  <a:pt x="47110" y="18844"/>
                </a:cubicBezTo>
                <a:lnTo>
                  <a:pt x="103641" y="18844"/>
                </a:lnTo>
                <a:cubicBezTo>
                  <a:pt x="108853" y="18844"/>
                  <a:pt x="113063" y="23054"/>
                  <a:pt x="113063" y="28266"/>
                </a:cubicBezTo>
                <a:cubicBezTo>
                  <a:pt x="113063" y="33477"/>
                  <a:pt x="108853" y="37688"/>
                  <a:pt x="103641" y="37688"/>
                </a:cubicBezTo>
                <a:lnTo>
                  <a:pt x="47110" y="37688"/>
                </a:lnTo>
                <a:cubicBezTo>
                  <a:pt x="41898" y="37688"/>
                  <a:pt x="37688" y="33477"/>
                  <a:pt x="37688" y="28266"/>
                </a:cubicBezTo>
                <a:close/>
                <a:moveTo>
                  <a:pt x="47110" y="51821"/>
                </a:moveTo>
                <a:lnTo>
                  <a:pt x="84798" y="51821"/>
                </a:lnTo>
                <a:cubicBezTo>
                  <a:pt x="90009" y="51821"/>
                  <a:pt x="94219" y="56031"/>
                  <a:pt x="94219" y="61243"/>
                </a:cubicBezTo>
                <a:cubicBezTo>
                  <a:pt x="94219" y="66454"/>
                  <a:pt x="90009" y="70665"/>
                  <a:pt x="84798" y="70665"/>
                </a:cubicBezTo>
                <a:lnTo>
                  <a:pt x="47110" y="70665"/>
                </a:lnTo>
                <a:cubicBezTo>
                  <a:pt x="41898" y="70665"/>
                  <a:pt x="37688" y="66454"/>
                  <a:pt x="37688" y="61243"/>
                </a:cubicBezTo>
                <a:cubicBezTo>
                  <a:pt x="37688" y="56031"/>
                  <a:pt x="41898" y="51821"/>
                  <a:pt x="47110" y="51821"/>
                </a:cubicBezTo>
                <a:close/>
                <a:moveTo>
                  <a:pt x="47110" y="84798"/>
                </a:moveTo>
                <a:lnTo>
                  <a:pt x="122485" y="84798"/>
                </a:lnTo>
                <a:cubicBezTo>
                  <a:pt x="127697" y="84798"/>
                  <a:pt x="131907" y="89008"/>
                  <a:pt x="131907" y="94219"/>
                </a:cubicBezTo>
                <a:cubicBezTo>
                  <a:pt x="131907" y="99431"/>
                  <a:pt x="127697" y="103641"/>
                  <a:pt x="122485" y="103641"/>
                </a:cubicBezTo>
                <a:lnTo>
                  <a:pt x="47110" y="103641"/>
                </a:lnTo>
                <a:cubicBezTo>
                  <a:pt x="41898" y="103641"/>
                  <a:pt x="37688" y="99431"/>
                  <a:pt x="37688" y="94219"/>
                </a:cubicBezTo>
                <a:cubicBezTo>
                  <a:pt x="37688" y="89008"/>
                  <a:pt x="41898" y="84798"/>
                  <a:pt x="47110" y="847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145709" y="5253683"/>
            <a:ext cx="263814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数据可视化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5709" y="5517498"/>
            <a:ext cx="2628723" cy="18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9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支持统计图表和Excel导出，提升系统实用性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9856" y="1213547"/>
            <a:ext cx="5630556" cy="5263100"/>
          </a:xfrm>
          <a:prstGeom prst="roundRect">
            <a:avLst>
              <a:gd name="adj" fmla="val 2148"/>
            </a:avLst>
          </a:prstGeom>
          <a:gradFill flip="none" rotWithShape="1">
            <a:gsLst>
              <a:gs pos="0">
                <a:srgbClr val="E67E22">
                  <a:alpha val="5000"/>
                </a:srgbClr>
              </a:gs>
              <a:gs pos="100000">
                <a:srgbClr val="E67E22">
                  <a:alpha val="10000"/>
                </a:srgbClr>
              </a:gs>
            </a:gsLst>
            <a:lin ang="2700000" scaled="1"/>
          </a:gradFill>
          <a:ln w="20320">
            <a:solidFill>
              <a:srgbClr val="E67E22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8144" y="1371836"/>
            <a:ext cx="452253" cy="452253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/>
        </p:spPr>
      </p:sp>
      <p:sp>
        <p:nvSpPr>
          <p:cNvPr id="36" name="Shape 34"/>
          <p:cNvSpPr/>
          <p:nvPr/>
        </p:nvSpPr>
        <p:spPr>
          <a:xfrm>
            <a:off x="6451208" y="1484900"/>
            <a:ext cx="226127" cy="226127"/>
          </a:xfrm>
          <a:custGeom>
            <a:avLst/>
            <a:gdLst/>
            <a:ahLst/>
            <a:cxnLst/>
            <a:rect l="l" t="t" r="r" b="b"/>
            <a:pathLst>
              <a:path w="226127" h="226127">
                <a:moveTo>
                  <a:pt x="113063" y="226127"/>
                </a:moveTo>
                <a:cubicBezTo>
                  <a:pt x="175465" y="226127"/>
                  <a:pt x="226127" y="175465"/>
                  <a:pt x="226127" y="113063"/>
                </a:cubicBezTo>
                <a:cubicBezTo>
                  <a:pt x="226127" y="50662"/>
                  <a:pt x="175465" y="0"/>
                  <a:pt x="113063" y="0"/>
                </a:cubicBezTo>
                <a:cubicBezTo>
                  <a:pt x="50662" y="0"/>
                  <a:pt x="0" y="50662"/>
                  <a:pt x="0" y="113063"/>
                </a:cubicBezTo>
                <a:cubicBezTo>
                  <a:pt x="0" y="175465"/>
                  <a:pt x="50662" y="226127"/>
                  <a:pt x="113063" y="226127"/>
                </a:cubicBezTo>
                <a:close/>
                <a:moveTo>
                  <a:pt x="113063" y="60065"/>
                </a:moveTo>
                <a:cubicBezTo>
                  <a:pt x="118937" y="60065"/>
                  <a:pt x="123663" y="64791"/>
                  <a:pt x="123663" y="70665"/>
                </a:cubicBezTo>
                <a:lnTo>
                  <a:pt x="123663" y="120130"/>
                </a:lnTo>
                <a:cubicBezTo>
                  <a:pt x="123663" y="126004"/>
                  <a:pt x="118937" y="130730"/>
                  <a:pt x="113063" y="130730"/>
                </a:cubicBezTo>
                <a:cubicBezTo>
                  <a:pt x="107189" y="130730"/>
                  <a:pt x="102464" y="126004"/>
                  <a:pt x="102464" y="120130"/>
                </a:cubicBezTo>
                <a:lnTo>
                  <a:pt x="102464" y="70665"/>
                </a:lnTo>
                <a:cubicBezTo>
                  <a:pt x="102464" y="64791"/>
                  <a:pt x="107189" y="60065"/>
                  <a:pt x="113063" y="60065"/>
                </a:cubicBezTo>
                <a:close/>
                <a:moveTo>
                  <a:pt x="101271" y="155462"/>
                </a:moveTo>
                <a:cubicBezTo>
                  <a:pt x="101003" y="151085"/>
                  <a:pt x="103186" y="146921"/>
                  <a:pt x="106938" y="144651"/>
                </a:cubicBezTo>
                <a:cubicBezTo>
                  <a:pt x="110690" y="142381"/>
                  <a:pt x="115392" y="142381"/>
                  <a:pt x="119144" y="144651"/>
                </a:cubicBezTo>
                <a:cubicBezTo>
                  <a:pt x="122897" y="146921"/>
                  <a:pt x="125080" y="151085"/>
                  <a:pt x="124811" y="155462"/>
                </a:cubicBezTo>
                <a:cubicBezTo>
                  <a:pt x="125080" y="159839"/>
                  <a:pt x="122897" y="164004"/>
                  <a:pt x="119144" y="166273"/>
                </a:cubicBezTo>
                <a:cubicBezTo>
                  <a:pt x="115392" y="168543"/>
                  <a:pt x="110690" y="168543"/>
                  <a:pt x="106938" y="166273"/>
                </a:cubicBezTo>
                <a:cubicBezTo>
                  <a:pt x="103186" y="164004"/>
                  <a:pt x="101003" y="159839"/>
                  <a:pt x="101271" y="15546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03461" y="1447212"/>
            <a:ext cx="1017570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8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当前不足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38144" y="1937153"/>
            <a:ext cx="5313978" cy="8479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88895" y="2087904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01959" y="2200968"/>
            <a:ext cx="150751" cy="150751"/>
          </a:xfrm>
          <a:custGeom>
            <a:avLst/>
            <a:gdLst/>
            <a:ahLst/>
            <a:cxnLst/>
            <a:rect l="l" t="t" r="r" b="b"/>
            <a:pathLst>
              <a:path w="150751" h="150751">
                <a:moveTo>
                  <a:pt x="100874" y="2768"/>
                </a:moveTo>
                <a:cubicBezTo>
                  <a:pt x="97193" y="-913"/>
                  <a:pt x="91216" y="-913"/>
                  <a:pt x="87536" y="2768"/>
                </a:cubicBezTo>
                <a:cubicBezTo>
                  <a:pt x="83855" y="6448"/>
                  <a:pt x="83855" y="12425"/>
                  <a:pt x="87536" y="16106"/>
                </a:cubicBezTo>
                <a:lnTo>
                  <a:pt x="90303" y="18844"/>
                </a:lnTo>
                <a:lnTo>
                  <a:pt x="8274" y="100874"/>
                </a:lnTo>
                <a:cubicBezTo>
                  <a:pt x="2974" y="106174"/>
                  <a:pt x="0" y="113358"/>
                  <a:pt x="0" y="120866"/>
                </a:cubicBezTo>
                <a:lnTo>
                  <a:pt x="0" y="122485"/>
                </a:lnTo>
                <a:cubicBezTo>
                  <a:pt x="0" y="138090"/>
                  <a:pt x="12661" y="150751"/>
                  <a:pt x="28266" y="150751"/>
                </a:cubicBezTo>
                <a:lnTo>
                  <a:pt x="29885" y="150751"/>
                </a:lnTo>
                <a:cubicBezTo>
                  <a:pt x="37393" y="150751"/>
                  <a:pt x="44578" y="147777"/>
                  <a:pt x="49877" y="142478"/>
                </a:cubicBezTo>
                <a:lnTo>
                  <a:pt x="131907" y="60448"/>
                </a:lnTo>
                <a:lnTo>
                  <a:pt x="134675" y="63215"/>
                </a:lnTo>
                <a:cubicBezTo>
                  <a:pt x="138355" y="66896"/>
                  <a:pt x="144332" y="66896"/>
                  <a:pt x="148013" y="63215"/>
                </a:cubicBezTo>
                <a:cubicBezTo>
                  <a:pt x="151693" y="59535"/>
                  <a:pt x="151693" y="53558"/>
                  <a:pt x="148013" y="49877"/>
                </a:cubicBezTo>
                <a:lnTo>
                  <a:pt x="100903" y="2768"/>
                </a:lnTo>
                <a:close/>
                <a:moveTo>
                  <a:pt x="60448" y="75376"/>
                </a:moveTo>
                <a:lnTo>
                  <a:pt x="103641" y="32182"/>
                </a:lnTo>
                <a:lnTo>
                  <a:pt x="118569" y="47110"/>
                </a:lnTo>
                <a:lnTo>
                  <a:pt x="90303" y="75376"/>
                </a:lnTo>
                <a:lnTo>
                  <a:pt x="60418" y="75376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1" name="Text 39"/>
          <p:cNvSpPr/>
          <p:nvPr/>
        </p:nvSpPr>
        <p:spPr>
          <a:xfrm>
            <a:off x="6978837" y="2087904"/>
            <a:ext cx="3693403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测试覆盖率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78837" y="2389407"/>
            <a:ext cx="3693403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当前测试覆盖率仍可继续提高，部分边界场景尚未覆盖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38144" y="2898192"/>
            <a:ext cx="5313978" cy="8479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88895" y="3048943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11381" y="3162006"/>
            <a:ext cx="131907" cy="150751"/>
          </a:xfrm>
          <a:custGeom>
            <a:avLst/>
            <a:gdLst/>
            <a:ahLst/>
            <a:cxnLst/>
            <a:rect l="l" t="t" r="r" b="b"/>
            <a:pathLst>
              <a:path w="131907" h="150751">
                <a:moveTo>
                  <a:pt x="99755" y="-2915"/>
                </a:moveTo>
                <a:cubicBezTo>
                  <a:pt x="103259" y="-383"/>
                  <a:pt x="104554" y="4210"/>
                  <a:pt x="102964" y="8215"/>
                </a:cubicBezTo>
                <a:lnTo>
                  <a:pt x="79880" y="65954"/>
                </a:lnTo>
                <a:lnTo>
                  <a:pt x="122485" y="65954"/>
                </a:lnTo>
                <a:cubicBezTo>
                  <a:pt x="126460" y="65954"/>
                  <a:pt x="129993" y="68427"/>
                  <a:pt x="131348" y="72166"/>
                </a:cubicBezTo>
                <a:cubicBezTo>
                  <a:pt x="132702" y="75906"/>
                  <a:pt x="131554" y="80087"/>
                  <a:pt x="128521" y="82619"/>
                </a:cubicBezTo>
                <a:lnTo>
                  <a:pt x="43724" y="153283"/>
                </a:lnTo>
                <a:cubicBezTo>
                  <a:pt x="40397" y="156051"/>
                  <a:pt x="35656" y="156198"/>
                  <a:pt x="32152" y="153666"/>
                </a:cubicBezTo>
                <a:cubicBezTo>
                  <a:pt x="28649" y="151134"/>
                  <a:pt x="27353" y="146541"/>
                  <a:pt x="28943" y="142536"/>
                </a:cubicBezTo>
                <a:lnTo>
                  <a:pt x="52027" y="84798"/>
                </a:lnTo>
                <a:lnTo>
                  <a:pt x="9422" y="84798"/>
                </a:lnTo>
                <a:cubicBezTo>
                  <a:pt x="5447" y="84798"/>
                  <a:pt x="1914" y="82324"/>
                  <a:pt x="559" y="78585"/>
                </a:cubicBezTo>
                <a:cubicBezTo>
                  <a:pt x="-795" y="74846"/>
                  <a:pt x="353" y="70665"/>
                  <a:pt x="3386" y="68132"/>
                </a:cubicBezTo>
                <a:lnTo>
                  <a:pt x="88184" y="-2532"/>
                </a:lnTo>
                <a:cubicBezTo>
                  <a:pt x="91511" y="-5300"/>
                  <a:pt x="96251" y="-5447"/>
                  <a:pt x="99755" y="-2915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46" name="Text 44"/>
          <p:cNvSpPr/>
          <p:nvPr/>
        </p:nvSpPr>
        <p:spPr>
          <a:xfrm>
            <a:off x="6978837" y="3048943"/>
            <a:ext cx="3844155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并发处理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78837" y="3350445"/>
            <a:ext cx="3844155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并发借阅等复杂事务场景还可进一步优化，提升系统性能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38144" y="3859235"/>
            <a:ext cx="5313978" cy="8479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28266" dist="942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488895" y="4009986"/>
            <a:ext cx="376878" cy="376878"/>
          </a:xfrm>
          <a:prstGeom prst="roundRect">
            <a:avLst>
              <a:gd name="adj" fmla="val 50000"/>
            </a:avLst>
          </a:prstGeom>
          <a:solidFill>
            <a:srgbClr val="E67E22">
              <a:alpha val="1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92537" y="4123050"/>
            <a:ext cx="169595" cy="150751"/>
          </a:xfrm>
          <a:custGeom>
            <a:avLst/>
            <a:gdLst/>
            <a:ahLst/>
            <a:cxnLst/>
            <a:rect l="l" t="t" r="r" b="b"/>
            <a:pathLst>
              <a:path w="169595" h="150751">
                <a:moveTo>
                  <a:pt x="141476" y="3033"/>
                </a:moveTo>
                <a:lnTo>
                  <a:pt x="76288" y="46521"/>
                </a:lnTo>
                <a:cubicBezTo>
                  <a:pt x="67720" y="52233"/>
                  <a:pt x="62273" y="61508"/>
                  <a:pt x="61390" y="71636"/>
                </a:cubicBezTo>
                <a:cubicBezTo>
                  <a:pt x="79733" y="75405"/>
                  <a:pt x="94190" y="89862"/>
                  <a:pt x="97988" y="108235"/>
                </a:cubicBezTo>
                <a:cubicBezTo>
                  <a:pt x="108146" y="107351"/>
                  <a:pt x="117392" y="101904"/>
                  <a:pt x="123104" y="93336"/>
                </a:cubicBezTo>
                <a:lnTo>
                  <a:pt x="166562" y="28119"/>
                </a:lnTo>
                <a:cubicBezTo>
                  <a:pt x="168535" y="25145"/>
                  <a:pt x="169595" y="21670"/>
                  <a:pt x="169595" y="18078"/>
                </a:cubicBezTo>
                <a:cubicBezTo>
                  <a:pt x="169595" y="8097"/>
                  <a:pt x="161498" y="0"/>
                  <a:pt x="151517" y="0"/>
                </a:cubicBezTo>
                <a:cubicBezTo>
                  <a:pt x="147954" y="0"/>
                  <a:pt x="144450" y="1060"/>
                  <a:pt x="141476" y="3033"/>
                </a:cubicBezTo>
                <a:close/>
                <a:moveTo>
                  <a:pt x="84798" y="117774"/>
                </a:moveTo>
                <a:cubicBezTo>
                  <a:pt x="84798" y="99549"/>
                  <a:pt x="70046" y="84798"/>
                  <a:pt x="51821" y="84798"/>
                </a:cubicBezTo>
                <a:cubicBezTo>
                  <a:pt x="33595" y="84798"/>
                  <a:pt x="18844" y="99549"/>
                  <a:pt x="18844" y="117774"/>
                </a:cubicBezTo>
                <a:cubicBezTo>
                  <a:pt x="18844" y="118923"/>
                  <a:pt x="18903" y="120071"/>
                  <a:pt x="19021" y="121190"/>
                </a:cubicBezTo>
                <a:cubicBezTo>
                  <a:pt x="19551" y="126342"/>
                  <a:pt x="16017" y="131907"/>
                  <a:pt x="10835" y="131907"/>
                </a:cubicBezTo>
                <a:lnTo>
                  <a:pt x="9422" y="131907"/>
                </a:lnTo>
                <a:cubicBezTo>
                  <a:pt x="4210" y="131907"/>
                  <a:pt x="0" y="136118"/>
                  <a:pt x="0" y="141329"/>
                </a:cubicBezTo>
                <a:cubicBezTo>
                  <a:pt x="0" y="146541"/>
                  <a:pt x="4210" y="150751"/>
                  <a:pt x="9422" y="150751"/>
                </a:cubicBezTo>
                <a:lnTo>
                  <a:pt x="51821" y="150751"/>
                </a:lnTo>
                <a:cubicBezTo>
                  <a:pt x="70046" y="150751"/>
                  <a:pt x="84798" y="136000"/>
                  <a:pt x="84798" y="117774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51" name="Text 49"/>
          <p:cNvSpPr/>
          <p:nvPr/>
        </p:nvSpPr>
        <p:spPr>
          <a:xfrm>
            <a:off x="6978837" y="4009986"/>
            <a:ext cx="3391901" cy="226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界面交互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978837" y="4311489"/>
            <a:ext cx="3391901" cy="244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7" dirty="0">
                <a:solidFill>
                  <a:srgbClr val="2C3E50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前端界面交互细节还可以继续完善，提升用户体验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b980cf915298fa5793fd7b1c91025fdfc52ae95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66" b="76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2C3E50">
                  <a:alpha val="95000"/>
                </a:srgbClr>
              </a:gs>
              <a:gs pos="50000">
                <a:srgbClr val="2C3E50">
                  <a:alpha val="90000"/>
                </a:srgbClr>
              </a:gs>
              <a:gs pos="100000">
                <a:srgbClr val="16A085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894522"/>
            <a:ext cx="76200" cy="45720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89452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71500" y="1504122"/>
            <a:ext cx="1135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 &amp; OUTLOOK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4810" y="2041211"/>
            <a:ext cx="5589270" cy="2455545"/>
          </a:xfrm>
          <a:prstGeom prst="roundRect">
            <a:avLst>
              <a:gd name="adj" fmla="val 4655"/>
            </a:avLst>
          </a:pr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9120" y="2235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6A085"/>
          </a:solidFill>
          <a:ln/>
        </p:spPr>
      </p:sp>
      <p:sp>
        <p:nvSpPr>
          <p:cNvPr id="9" name="Shape 6"/>
          <p:cNvSpPr/>
          <p:nvPr/>
        </p:nvSpPr>
        <p:spPr>
          <a:xfrm>
            <a:off x="693420" y="23498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50620" y="2292669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项目总结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4839" y="288321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2" name="Text 9"/>
          <p:cNvSpPr/>
          <p:nvPr/>
        </p:nvSpPr>
        <p:spPr>
          <a:xfrm>
            <a:off x="931545" y="2845119"/>
            <a:ext cx="36861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完成了智慧图书馆管理系统的</a:t>
            </a:r>
            <a:r>
              <a:rPr lang="en-US" sz="1350" b="1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设计、开发与测试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0551" y="3276126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4" name="Text 11"/>
          <p:cNvSpPr/>
          <p:nvPr/>
        </p:nvSpPr>
        <p:spPr>
          <a:xfrm>
            <a:off x="899041" y="3238026"/>
            <a:ext cx="49720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实现了图书管理、用户管理、借阅业务、通知、罚款和统计分析等</a:t>
            </a:r>
            <a:r>
              <a:rPr lang="en-US" sz="1350" b="1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主要目标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4839" y="39476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1776" y="26082"/>
                </a:moveTo>
                <a:cubicBezTo>
                  <a:pt x="167097" y="29952"/>
                  <a:pt x="168287" y="37393"/>
                  <a:pt x="164418" y="42714"/>
                </a:cubicBezTo>
                <a:lnTo>
                  <a:pt x="69168" y="173682"/>
                </a:lnTo>
                <a:cubicBezTo>
                  <a:pt x="67121" y="176510"/>
                  <a:pt x="63959" y="178259"/>
                  <a:pt x="60461" y="178557"/>
                </a:cubicBezTo>
                <a:cubicBezTo>
                  <a:pt x="56964" y="178854"/>
                  <a:pt x="53578" y="177552"/>
                  <a:pt x="51122" y="175096"/>
                </a:cubicBezTo>
                <a:lnTo>
                  <a:pt x="3497" y="127471"/>
                </a:lnTo>
                <a:cubicBezTo>
                  <a:pt x="-1153" y="122820"/>
                  <a:pt x="-1153" y="115267"/>
                  <a:pt x="3497" y="110617"/>
                </a:cubicBezTo>
                <a:cubicBezTo>
                  <a:pt x="8148" y="105966"/>
                  <a:pt x="15701" y="105966"/>
                  <a:pt x="20352" y="110617"/>
                </a:cubicBezTo>
                <a:lnTo>
                  <a:pt x="58117" y="148382"/>
                </a:lnTo>
                <a:lnTo>
                  <a:pt x="145182" y="28687"/>
                </a:lnTo>
                <a:cubicBezTo>
                  <a:pt x="149051" y="23366"/>
                  <a:pt x="156493" y="22175"/>
                  <a:pt x="161813" y="26045"/>
                </a:cubicBezTo>
                <a:close/>
              </a:path>
            </a:pathLst>
          </a:custGeom>
          <a:solidFill>
            <a:srgbClr val="16A085"/>
          </a:solidFill>
          <a:ln/>
        </p:spPr>
      </p:sp>
      <p:sp>
        <p:nvSpPr>
          <p:cNvPr id="16" name="Text 13"/>
          <p:cNvSpPr/>
          <p:nvPr/>
        </p:nvSpPr>
        <p:spPr>
          <a:xfrm>
            <a:off x="931545" y="3909538"/>
            <a:ext cx="4029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验证了</a:t>
            </a:r>
            <a:r>
              <a:rPr lang="en-US" sz="1350" b="1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前后端分离架构</a:t>
            </a: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在中小型管理系统中的可行性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214110" y="2041211"/>
            <a:ext cx="5589270" cy="2455545"/>
          </a:xfrm>
          <a:prstGeom prst="roundRect">
            <a:avLst>
              <a:gd name="adj" fmla="val 4655"/>
            </a:avLst>
          </a:pr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8420" y="2235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67E22"/>
          </a:solidFill>
          <a:ln/>
        </p:spPr>
      </p:sp>
      <p:sp>
        <p:nvSpPr>
          <p:cNvPr id="19" name="Shape 16"/>
          <p:cNvSpPr/>
          <p:nvPr/>
        </p:nvSpPr>
        <p:spPr>
          <a:xfrm>
            <a:off x="6522720" y="23498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6979920" y="2292669"/>
            <a:ext cx="1285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32232" y="28832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2" name="Text 19"/>
          <p:cNvSpPr/>
          <p:nvPr/>
        </p:nvSpPr>
        <p:spPr>
          <a:xfrm>
            <a:off x="6760845" y="2845119"/>
            <a:ext cx="19716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</a:t>
            </a:r>
            <a:r>
              <a:rPr lang="en-US" sz="135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短信或邮件提醒</a:t>
            </a: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32232" y="327612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4" name="Text 21"/>
          <p:cNvSpPr/>
          <p:nvPr/>
        </p:nvSpPr>
        <p:spPr>
          <a:xfrm>
            <a:off x="6760845" y="3238026"/>
            <a:ext cx="19716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完善更</a:t>
            </a:r>
            <a:r>
              <a:rPr lang="en-US" sz="135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细粒度的权限模型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32232" y="36690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3"/>
          <p:cNvSpPr/>
          <p:nvPr/>
        </p:nvSpPr>
        <p:spPr>
          <a:xfrm>
            <a:off x="6760845" y="3630932"/>
            <a:ext cx="2143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增加</a:t>
            </a:r>
            <a:r>
              <a:rPr lang="en-US" sz="135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移动端适配</a:t>
            </a: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或小程序端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432232" y="40619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8" name="Text 25"/>
          <p:cNvSpPr/>
          <p:nvPr/>
        </p:nvSpPr>
        <p:spPr>
          <a:xfrm>
            <a:off x="6760845" y="4023838"/>
            <a:ext cx="19716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引入</a:t>
            </a:r>
            <a:r>
              <a:rPr lang="en-US" sz="1350" b="1" dirty="0">
                <a:solidFill>
                  <a:srgbClr val="E67E2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缓存与性能优化</a:t>
            </a:r>
            <a:r>
              <a:rPr lang="en-US" sz="1350" dirty="0">
                <a:solidFill>
                  <a:srgbClr val="ECF0F1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91990" y="4732972"/>
            <a:ext cx="3208020" cy="1226820"/>
          </a:xfrm>
          <a:prstGeom prst="roundRect">
            <a:avLst>
              <a:gd name="adj" fmla="val 12422"/>
            </a:avLst>
          </a:prstGeom>
          <a:gradFill flip="none" rotWithShape="1">
            <a:gsLst>
              <a:gs pos="0">
                <a:srgbClr val="16A085">
                  <a:alpha val="20000"/>
                </a:srgbClr>
              </a:gs>
              <a:gs pos="100000">
                <a:srgbClr val="E67E22">
                  <a:alpha val="20000"/>
                </a:srgbClr>
              </a:gs>
            </a:gsLst>
            <a:lin ang="0" scaled="1"/>
          </a:gradFill>
          <a:ln w="10160">
            <a:solidFill>
              <a:srgbClr val="FFFFFF">
                <a:alpha val="3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81563" y="4965381"/>
            <a:ext cx="2428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ECF0F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感谢各位老师聆听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895850" y="5422581"/>
            <a:ext cx="240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16A08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恳请批评指正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A5F4F35135F42C40BF7D97B6DE26988CC29AAE09C3191375064F3AC1AF5FF396" val="[{&quot;GradientColorId&quot;:&quot;&quot;,&quot;IsFree&quot;:true,&quot;IsGradient&quot;:false,&quot;ImagePath&quot;:&quot;&quot;,&quot;GradientColor&quot;:null,&quot;SimpleColor&quot;:&quot;#FFFFFF&quot;},{&quot;GradientColorId&quot;:&quot;&quot;,&quot;IsFree&quot;:true,&quot;IsGradient&quot;:false,&quot;ImagePath&quot;:&quot;&quot;,&quot;GradientColor&quot;:null,&quot;SimpleColor&quot;:&quot;#333333&quot;},{&quot;GradientColorId&quot;:&quot;&quot;,&quot;IsFree&quot;:true,&quot;IsGradient&quot;:false,&quot;ImagePath&quot;:&quot;&quot;,&quot;GradientColor&quot;:null,&quot;SimpleColor&quot;:&quot;#000000&quot;}]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943</Words>
  <Application>Microsoft Office PowerPoint</Application>
  <PresentationFormat>宽屏</PresentationFormat>
  <Paragraphs>426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Liter</vt:lpstr>
      <vt:lpstr>Noto Sans SC</vt:lpstr>
      <vt:lpstr>Poppins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智慧图书馆管理系统的设计与实现</dc:title>
  <dc:subject>智慧图书馆管理系统的设计与实现</dc:subject>
  <dc:creator>Kimi</dc:creator>
  <cp:lastModifiedBy>haijun zeng</cp:lastModifiedBy>
  <cp:revision>15</cp:revision>
  <dcterms:created xsi:type="dcterms:W3CDTF">2026-04-20T15:21:52Z</dcterms:created>
  <dcterms:modified xsi:type="dcterms:W3CDTF">2026-04-21T09:24:27Z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智慧图书馆管理系统的设计与实现","ContentProducer":"001191110108MACG2KBH8F10000","ProduceID":"19dab77e-ef02-801f-8000-00008ab257cc","ReservedCode1":"","ContentPropagator":"001191110108MACG2KBH8F20000","PropagateID":"19dab77e-ef02-801f-8000-00008ab257cc","ReservedCode2":""}</vt:lpwstr>
  </property>
</Properties>
</file>